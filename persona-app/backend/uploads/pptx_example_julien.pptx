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1919" r:id="rId2"/>
    <p:sldId id="1925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16A819-BA20-34BF-52EC-9C9E4100AF4B}" v="3" dt="2026-03-31T15:17:25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FD0EC-EE60-41BF-BC79-CA10DA42F280}" type="datetimeFigureOut">
              <a:t>31-03-26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5FC94-7259-477D-A3C1-D7F76E10C95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16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8D843-30CE-4BDA-9807-1C6F8EFA39E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1657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5617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 &amp; 1 column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1" y="651600"/>
            <a:ext cx="1116234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501651" y="317500"/>
            <a:ext cx="11162349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501651" y="1700213"/>
            <a:ext cx="11165416" cy="467898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553266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head &amp; Breadcrum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94944"/>
            <a:ext cx="10363200" cy="594360"/>
          </a:xfrm>
        </p:spPr>
        <p:txBody>
          <a:bodyPr vert="horz" lIns="0" tIns="45720" rIns="0" bIns="0" rtlCol="0" anchor="b" anchorCtr="0">
            <a:noAutofit/>
          </a:bodyPr>
          <a:lstStyle>
            <a:lvl1pPr>
              <a:defRPr lang="en-US" sz="3600" spc="-75" dirty="0">
                <a:latin typeface="+mj-lt"/>
              </a:defRPr>
            </a:lvl1pPr>
          </a:lstStyle>
          <a:p>
            <a:pPr lvl="0" defTabSz="685800">
              <a:lnSpc>
                <a:spcPct val="85000"/>
              </a:lnSpc>
            </a:pPr>
            <a:r>
              <a:rPr lang="fr-BE"/>
              <a:t>Click to edit Master title style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914721" y="1353312"/>
            <a:ext cx="10362880" cy="475488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200"/>
            </a:lvl1pPr>
          </a:lstStyle>
          <a:p>
            <a:pPr marL="228600" lvl="0" indent="-228600">
              <a:lnSpc>
                <a:spcPct val="130000"/>
              </a:lnSpc>
            </a:pPr>
            <a:r>
              <a:rPr lang="fr-BE"/>
              <a:t>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914971" y="466344"/>
            <a:ext cx="3355848" cy="2032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900" b="1" kern="0" cap="all" spc="250" baseline="0" dirty="0">
                <a:solidFill>
                  <a:schemeClr val="accent5">
                    <a:lumMod val="60000"/>
                    <a:lumOff val="40000"/>
                  </a:schemeClr>
                </a:solidFill>
                <a:ea typeface="Nexa Black" charset="0"/>
                <a:cs typeface="Nexa Black" charset="0"/>
              </a:defRPr>
            </a:lvl1pPr>
          </a:lstStyle>
          <a:p>
            <a:pPr marL="228600" lvl="0" indent="-228600"/>
            <a:r>
              <a:rPr lang="fr-BE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2403420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31/03/2026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3B6EEC-5AF5-420A-A0AE-8A1757C44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3917606" cy="6858000"/>
          </a:xfrm>
          <a:prstGeom prst="rect">
            <a:avLst/>
          </a:prstGeom>
        </p:spPr>
      </p:pic>
      <p:grpSp>
        <p:nvGrpSpPr>
          <p:cNvPr id="5" name="Groupe 4">
            <a:extLst>
              <a:ext uri="{FF2B5EF4-FFF2-40B4-BE49-F238E27FC236}">
                <a16:creationId xmlns:a16="http://schemas.microsoft.com/office/drawing/2014/main" id="{556CEB14-0E59-4F28-B8C5-DF1D854E7751}"/>
              </a:ext>
            </a:extLst>
          </p:cNvPr>
          <p:cNvGrpSpPr/>
          <p:nvPr/>
        </p:nvGrpSpPr>
        <p:grpSpPr>
          <a:xfrm>
            <a:off x="4684042" y="1902646"/>
            <a:ext cx="3348000" cy="2432894"/>
            <a:chOff x="4684042" y="1902646"/>
            <a:chExt cx="3348000" cy="2432894"/>
          </a:xfrm>
        </p:grpSpPr>
        <p:grpSp>
          <p:nvGrpSpPr>
            <p:cNvPr id="50" name="Group 49"/>
            <p:cNvGrpSpPr>
              <a:grpSpLocks noChangeAspect="1"/>
            </p:cNvGrpSpPr>
            <p:nvPr/>
          </p:nvGrpSpPr>
          <p:grpSpPr>
            <a:xfrm>
              <a:off x="4791269" y="1902646"/>
              <a:ext cx="406398" cy="601337"/>
              <a:chOff x="9518651" y="2620010"/>
              <a:chExt cx="195263" cy="288925"/>
            </a:xfrm>
            <a:solidFill>
              <a:schemeClr val="accent2"/>
            </a:solidFill>
          </p:grpSpPr>
          <p:sp>
            <p:nvSpPr>
              <p:cNvPr id="52" name="Freeform 168"/>
              <p:cNvSpPr>
                <a:spLocks/>
              </p:cNvSpPr>
              <p:nvPr/>
            </p:nvSpPr>
            <p:spPr bwMode="auto">
              <a:xfrm>
                <a:off x="9577388" y="2707323"/>
                <a:ext cx="77788" cy="92075"/>
              </a:xfrm>
              <a:custGeom>
                <a:avLst/>
                <a:gdLst>
                  <a:gd name="T0" fmla="*/ 48 w 98"/>
                  <a:gd name="T1" fmla="*/ 0 h 115"/>
                  <a:gd name="T2" fmla="*/ 48 w 98"/>
                  <a:gd name="T3" fmla="*/ 0 h 115"/>
                  <a:gd name="T4" fmla="*/ 39 w 98"/>
                  <a:gd name="T5" fmla="*/ 1 h 115"/>
                  <a:gd name="T6" fmla="*/ 29 w 98"/>
                  <a:gd name="T7" fmla="*/ 4 h 115"/>
                  <a:gd name="T8" fmla="*/ 21 w 98"/>
                  <a:gd name="T9" fmla="*/ 8 h 115"/>
                  <a:gd name="T10" fmla="*/ 13 w 98"/>
                  <a:gd name="T11" fmla="*/ 14 h 115"/>
                  <a:gd name="T12" fmla="*/ 8 w 98"/>
                  <a:gd name="T13" fmla="*/ 21 h 115"/>
                  <a:gd name="T14" fmla="*/ 2 w 98"/>
                  <a:gd name="T15" fmla="*/ 29 h 115"/>
                  <a:gd name="T16" fmla="*/ 0 w 98"/>
                  <a:gd name="T17" fmla="*/ 39 h 115"/>
                  <a:gd name="T18" fmla="*/ 0 w 98"/>
                  <a:gd name="T19" fmla="*/ 49 h 115"/>
                  <a:gd name="T20" fmla="*/ 0 w 98"/>
                  <a:gd name="T21" fmla="*/ 66 h 115"/>
                  <a:gd name="T22" fmla="*/ 0 w 98"/>
                  <a:gd name="T23" fmla="*/ 66 h 115"/>
                  <a:gd name="T24" fmla="*/ 0 w 98"/>
                  <a:gd name="T25" fmla="*/ 75 h 115"/>
                  <a:gd name="T26" fmla="*/ 2 w 98"/>
                  <a:gd name="T27" fmla="*/ 84 h 115"/>
                  <a:gd name="T28" fmla="*/ 8 w 98"/>
                  <a:gd name="T29" fmla="*/ 92 h 115"/>
                  <a:gd name="T30" fmla="*/ 13 w 98"/>
                  <a:gd name="T31" fmla="*/ 100 h 115"/>
                  <a:gd name="T32" fmla="*/ 21 w 98"/>
                  <a:gd name="T33" fmla="*/ 106 h 115"/>
                  <a:gd name="T34" fmla="*/ 29 w 98"/>
                  <a:gd name="T35" fmla="*/ 111 h 115"/>
                  <a:gd name="T36" fmla="*/ 39 w 98"/>
                  <a:gd name="T37" fmla="*/ 114 h 115"/>
                  <a:gd name="T38" fmla="*/ 48 w 98"/>
                  <a:gd name="T39" fmla="*/ 115 h 115"/>
                  <a:gd name="T40" fmla="*/ 48 w 98"/>
                  <a:gd name="T41" fmla="*/ 115 h 115"/>
                  <a:gd name="T42" fmla="*/ 59 w 98"/>
                  <a:gd name="T43" fmla="*/ 114 h 115"/>
                  <a:gd name="T44" fmla="*/ 68 w 98"/>
                  <a:gd name="T45" fmla="*/ 111 h 115"/>
                  <a:gd name="T46" fmla="*/ 76 w 98"/>
                  <a:gd name="T47" fmla="*/ 106 h 115"/>
                  <a:gd name="T48" fmla="*/ 83 w 98"/>
                  <a:gd name="T49" fmla="*/ 100 h 115"/>
                  <a:gd name="T50" fmla="*/ 90 w 98"/>
                  <a:gd name="T51" fmla="*/ 92 h 115"/>
                  <a:gd name="T52" fmla="*/ 94 w 98"/>
                  <a:gd name="T53" fmla="*/ 84 h 115"/>
                  <a:gd name="T54" fmla="*/ 97 w 98"/>
                  <a:gd name="T55" fmla="*/ 75 h 115"/>
                  <a:gd name="T56" fmla="*/ 98 w 98"/>
                  <a:gd name="T57" fmla="*/ 66 h 115"/>
                  <a:gd name="T58" fmla="*/ 98 w 98"/>
                  <a:gd name="T59" fmla="*/ 49 h 115"/>
                  <a:gd name="T60" fmla="*/ 98 w 98"/>
                  <a:gd name="T61" fmla="*/ 49 h 115"/>
                  <a:gd name="T62" fmla="*/ 97 w 98"/>
                  <a:gd name="T63" fmla="*/ 39 h 115"/>
                  <a:gd name="T64" fmla="*/ 94 w 98"/>
                  <a:gd name="T65" fmla="*/ 29 h 115"/>
                  <a:gd name="T66" fmla="*/ 90 w 98"/>
                  <a:gd name="T67" fmla="*/ 21 h 115"/>
                  <a:gd name="T68" fmla="*/ 83 w 98"/>
                  <a:gd name="T69" fmla="*/ 14 h 115"/>
                  <a:gd name="T70" fmla="*/ 76 w 98"/>
                  <a:gd name="T71" fmla="*/ 8 h 115"/>
                  <a:gd name="T72" fmla="*/ 68 w 98"/>
                  <a:gd name="T73" fmla="*/ 4 h 115"/>
                  <a:gd name="T74" fmla="*/ 59 w 98"/>
                  <a:gd name="T75" fmla="*/ 1 h 115"/>
                  <a:gd name="T76" fmla="*/ 48 w 98"/>
                  <a:gd name="T77" fmla="*/ 0 h 115"/>
                  <a:gd name="T78" fmla="*/ 48 w 98"/>
                  <a:gd name="T79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98" h="115">
                    <a:moveTo>
                      <a:pt x="48" y="0"/>
                    </a:moveTo>
                    <a:lnTo>
                      <a:pt x="48" y="0"/>
                    </a:lnTo>
                    <a:lnTo>
                      <a:pt x="39" y="1"/>
                    </a:lnTo>
                    <a:lnTo>
                      <a:pt x="29" y="4"/>
                    </a:lnTo>
                    <a:lnTo>
                      <a:pt x="21" y="8"/>
                    </a:lnTo>
                    <a:lnTo>
                      <a:pt x="13" y="14"/>
                    </a:lnTo>
                    <a:lnTo>
                      <a:pt x="8" y="21"/>
                    </a:lnTo>
                    <a:lnTo>
                      <a:pt x="2" y="29"/>
                    </a:lnTo>
                    <a:lnTo>
                      <a:pt x="0" y="39"/>
                    </a:lnTo>
                    <a:lnTo>
                      <a:pt x="0" y="49"/>
                    </a:lnTo>
                    <a:lnTo>
                      <a:pt x="0" y="66"/>
                    </a:lnTo>
                    <a:lnTo>
                      <a:pt x="0" y="66"/>
                    </a:lnTo>
                    <a:lnTo>
                      <a:pt x="0" y="75"/>
                    </a:lnTo>
                    <a:lnTo>
                      <a:pt x="2" y="84"/>
                    </a:lnTo>
                    <a:lnTo>
                      <a:pt x="8" y="92"/>
                    </a:lnTo>
                    <a:lnTo>
                      <a:pt x="13" y="100"/>
                    </a:lnTo>
                    <a:lnTo>
                      <a:pt x="21" y="106"/>
                    </a:lnTo>
                    <a:lnTo>
                      <a:pt x="29" y="111"/>
                    </a:lnTo>
                    <a:lnTo>
                      <a:pt x="39" y="114"/>
                    </a:lnTo>
                    <a:lnTo>
                      <a:pt x="48" y="115"/>
                    </a:lnTo>
                    <a:lnTo>
                      <a:pt x="48" y="115"/>
                    </a:lnTo>
                    <a:lnTo>
                      <a:pt x="59" y="114"/>
                    </a:lnTo>
                    <a:lnTo>
                      <a:pt x="68" y="111"/>
                    </a:lnTo>
                    <a:lnTo>
                      <a:pt x="76" y="106"/>
                    </a:lnTo>
                    <a:lnTo>
                      <a:pt x="83" y="100"/>
                    </a:lnTo>
                    <a:lnTo>
                      <a:pt x="90" y="92"/>
                    </a:lnTo>
                    <a:lnTo>
                      <a:pt x="94" y="84"/>
                    </a:lnTo>
                    <a:lnTo>
                      <a:pt x="97" y="75"/>
                    </a:lnTo>
                    <a:lnTo>
                      <a:pt x="98" y="66"/>
                    </a:lnTo>
                    <a:lnTo>
                      <a:pt x="98" y="49"/>
                    </a:lnTo>
                    <a:lnTo>
                      <a:pt x="98" y="49"/>
                    </a:lnTo>
                    <a:lnTo>
                      <a:pt x="97" y="39"/>
                    </a:lnTo>
                    <a:lnTo>
                      <a:pt x="94" y="29"/>
                    </a:lnTo>
                    <a:lnTo>
                      <a:pt x="90" y="21"/>
                    </a:lnTo>
                    <a:lnTo>
                      <a:pt x="83" y="14"/>
                    </a:lnTo>
                    <a:lnTo>
                      <a:pt x="76" y="8"/>
                    </a:lnTo>
                    <a:lnTo>
                      <a:pt x="68" y="4"/>
                    </a:lnTo>
                    <a:lnTo>
                      <a:pt x="59" y="1"/>
                    </a:lnTo>
                    <a:lnTo>
                      <a:pt x="48" y="0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BE" sz="1800" b="0" i="0" u="none" strike="noStrike" kern="1200" cap="none" spc="0" normalizeH="0" baseline="0" noProof="0">
                  <a:ln>
                    <a:noFill/>
                  </a:ln>
                  <a:solidFill>
                    <a:srgbClr val="0900B6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3" name="Freeform 169"/>
              <p:cNvSpPr>
                <a:spLocks noEditPoints="1"/>
              </p:cNvSpPr>
              <p:nvPr/>
            </p:nvSpPr>
            <p:spPr bwMode="auto">
              <a:xfrm>
                <a:off x="9518651" y="2620010"/>
                <a:ext cx="195263" cy="288925"/>
              </a:xfrm>
              <a:custGeom>
                <a:avLst/>
                <a:gdLst>
                  <a:gd name="T0" fmla="*/ 29 w 246"/>
                  <a:gd name="T1" fmla="*/ 0 h 363"/>
                  <a:gd name="T2" fmla="*/ 23 w 246"/>
                  <a:gd name="T3" fmla="*/ 0 h 363"/>
                  <a:gd name="T4" fmla="*/ 12 w 246"/>
                  <a:gd name="T5" fmla="*/ 4 h 363"/>
                  <a:gd name="T6" fmla="*/ 5 w 246"/>
                  <a:gd name="T7" fmla="*/ 12 h 363"/>
                  <a:gd name="T8" fmla="*/ 0 w 246"/>
                  <a:gd name="T9" fmla="*/ 23 h 363"/>
                  <a:gd name="T10" fmla="*/ 0 w 246"/>
                  <a:gd name="T11" fmla="*/ 333 h 363"/>
                  <a:gd name="T12" fmla="*/ 0 w 246"/>
                  <a:gd name="T13" fmla="*/ 338 h 363"/>
                  <a:gd name="T14" fmla="*/ 5 w 246"/>
                  <a:gd name="T15" fmla="*/ 349 h 363"/>
                  <a:gd name="T16" fmla="*/ 12 w 246"/>
                  <a:gd name="T17" fmla="*/ 357 h 363"/>
                  <a:gd name="T18" fmla="*/ 23 w 246"/>
                  <a:gd name="T19" fmla="*/ 361 h 363"/>
                  <a:gd name="T20" fmla="*/ 216 w 246"/>
                  <a:gd name="T21" fmla="*/ 363 h 363"/>
                  <a:gd name="T22" fmla="*/ 222 w 246"/>
                  <a:gd name="T23" fmla="*/ 361 h 363"/>
                  <a:gd name="T24" fmla="*/ 232 w 246"/>
                  <a:gd name="T25" fmla="*/ 357 h 363"/>
                  <a:gd name="T26" fmla="*/ 240 w 246"/>
                  <a:gd name="T27" fmla="*/ 349 h 363"/>
                  <a:gd name="T28" fmla="*/ 244 w 246"/>
                  <a:gd name="T29" fmla="*/ 338 h 363"/>
                  <a:gd name="T30" fmla="*/ 246 w 246"/>
                  <a:gd name="T31" fmla="*/ 28 h 363"/>
                  <a:gd name="T32" fmla="*/ 244 w 246"/>
                  <a:gd name="T33" fmla="*/ 23 h 363"/>
                  <a:gd name="T34" fmla="*/ 240 w 246"/>
                  <a:gd name="T35" fmla="*/ 12 h 363"/>
                  <a:gd name="T36" fmla="*/ 232 w 246"/>
                  <a:gd name="T37" fmla="*/ 4 h 363"/>
                  <a:gd name="T38" fmla="*/ 222 w 246"/>
                  <a:gd name="T39" fmla="*/ 0 h 363"/>
                  <a:gd name="T40" fmla="*/ 216 w 246"/>
                  <a:gd name="T41" fmla="*/ 0 h 363"/>
                  <a:gd name="T42" fmla="*/ 122 w 246"/>
                  <a:gd name="T43" fmla="*/ 351 h 363"/>
                  <a:gd name="T44" fmla="*/ 110 w 246"/>
                  <a:gd name="T45" fmla="*/ 345 h 363"/>
                  <a:gd name="T46" fmla="*/ 105 w 246"/>
                  <a:gd name="T47" fmla="*/ 333 h 363"/>
                  <a:gd name="T48" fmla="*/ 106 w 246"/>
                  <a:gd name="T49" fmla="*/ 326 h 363"/>
                  <a:gd name="T50" fmla="*/ 115 w 246"/>
                  <a:gd name="T51" fmla="*/ 317 h 363"/>
                  <a:gd name="T52" fmla="*/ 122 w 246"/>
                  <a:gd name="T53" fmla="*/ 316 h 363"/>
                  <a:gd name="T54" fmla="*/ 136 w 246"/>
                  <a:gd name="T55" fmla="*/ 321 h 363"/>
                  <a:gd name="T56" fmla="*/ 140 w 246"/>
                  <a:gd name="T57" fmla="*/ 333 h 363"/>
                  <a:gd name="T58" fmla="*/ 138 w 246"/>
                  <a:gd name="T59" fmla="*/ 340 h 363"/>
                  <a:gd name="T60" fmla="*/ 129 w 246"/>
                  <a:gd name="T61" fmla="*/ 349 h 363"/>
                  <a:gd name="T62" fmla="*/ 122 w 246"/>
                  <a:gd name="T63" fmla="*/ 351 h 363"/>
                  <a:gd name="T64" fmla="*/ 224 w 246"/>
                  <a:gd name="T65" fmla="*/ 287 h 363"/>
                  <a:gd name="T66" fmla="*/ 222 w 246"/>
                  <a:gd name="T67" fmla="*/ 291 h 363"/>
                  <a:gd name="T68" fmla="*/ 218 w 246"/>
                  <a:gd name="T69" fmla="*/ 293 h 363"/>
                  <a:gd name="T70" fmla="*/ 214 w 246"/>
                  <a:gd name="T71" fmla="*/ 273 h 363"/>
                  <a:gd name="T72" fmla="*/ 212 w 246"/>
                  <a:gd name="T73" fmla="*/ 266 h 363"/>
                  <a:gd name="T74" fmla="*/ 205 w 246"/>
                  <a:gd name="T75" fmla="*/ 252 h 363"/>
                  <a:gd name="T76" fmla="*/ 168 w 246"/>
                  <a:gd name="T77" fmla="*/ 223 h 363"/>
                  <a:gd name="T78" fmla="*/ 158 w 246"/>
                  <a:gd name="T79" fmla="*/ 230 h 363"/>
                  <a:gd name="T80" fmla="*/ 136 w 246"/>
                  <a:gd name="T81" fmla="*/ 239 h 363"/>
                  <a:gd name="T82" fmla="*/ 122 w 246"/>
                  <a:gd name="T83" fmla="*/ 240 h 363"/>
                  <a:gd name="T84" fmla="*/ 98 w 246"/>
                  <a:gd name="T85" fmla="*/ 235 h 363"/>
                  <a:gd name="T86" fmla="*/ 78 w 246"/>
                  <a:gd name="T87" fmla="*/ 223 h 363"/>
                  <a:gd name="T88" fmla="*/ 46 w 246"/>
                  <a:gd name="T89" fmla="*/ 247 h 363"/>
                  <a:gd name="T90" fmla="*/ 36 w 246"/>
                  <a:gd name="T91" fmla="*/ 258 h 363"/>
                  <a:gd name="T92" fmla="*/ 32 w 246"/>
                  <a:gd name="T93" fmla="*/ 273 h 363"/>
                  <a:gd name="T94" fmla="*/ 27 w 246"/>
                  <a:gd name="T95" fmla="*/ 293 h 363"/>
                  <a:gd name="T96" fmla="*/ 25 w 246"/>
                  <a:gd name="T97" fmla="*/ 293 h 363"/>
                  <a:gd name="T98" fmla="*/ 21 w 246"/>
                  <a:gd name="T99" fmla="*/ 289 h 363"/>
                  <a:gd name="T100" fmla="*/ 21 w 246"/>
                  <a:gd name="T101" fmla="*/ 27 h 363"/>
                  <a:gd name="T102" fmla="*/ 21 w 246"/>
                  <a:gd name="T103" fmla="*/ 25 h 363"/>
                  <a:gd name="T104" fmla="*/ 25 w 246"/>
                  <a:gd name="T105" fmla="*/ 21 h 363"/>
                  <a:gd name="T106" fmla="*/ 218 w 246"/>
                  <a:gd name="T107" fmla="*/ 21 h 363"/>
                  <a:gd name="T108" fmla="*/ 220 w 246"/>
                  <a:gd name="T109" fmla="*/ 21 h 363"/>
                  <a:gd name="T110" fmla="*/ 223 w 246"/>
                  <a:gd name="T111" fmla="*/ 25 h 363"/>
                  <a:gd name="T112" fmla="*/ 224 w 246"/>
                  <a:gd name="T113" fmla="*/ 287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46" h="363">
                    <a:moveTo>
                      <a:pt x="216" y="0"/>
                    </a:moveTo>
                    <a:lnTo>
                      <a:pt x="29" y="0"/>
                    </a:lnTo>
                    <a:lnTo>
                      <a:pt x="29" y="0"/>
                    </a:lnTo>
                    <a:lnTo>
                      <a:pt x="23" y="0"/>
                    </a:lnTo>
                    <a:lnTo>
                      <a:pt x="17" y="1"/>
                    </a:lnTo>
                    <a:lnTo>
                      <a:pt x="12" y="4"/>
                    </a:lnTo>
                    <a:lnTo>
                      <a:pt x="8" y="8"/>
                    </a:lnTo>
                    <a:lnTo>
                      <a:pt x="5" y="12"/>
                    </a:lnTo>
                    <a:lnTo>
                      <a:pt x="3" y="17"/>
                    </a:lnTo>
                    <a:lnTo>
                      <a:pt x="0" y="23"/>
                    </a:lnTo>
                    <a:lnTo>
                      <a:pt x="0" y="28"/>
                    </a:lnTo>
                    <a:lnTo>
                      <a:pt x="0" y="333"/>
                    </a:lnTo>
                    <a:lnTo>
                      <a:pt x="0" y="333"/>
                    </a:lnTo>
                    <a:lnTo>
                      <a:pt x="0" y="338"/>
                    </a:lnTo>
                    <a:lnTo>
                      <a:pt x="3" y="344"/>
                    </a:lnTo>
                    <a:lnTo>
                      <a:pt x="5" y="349"/>
                    </a:lnTo>
                    <a:lnTo>
                      <a:pt x="8" y="353"/>
                    </a:lnTo>
                    <a:lnTo>
                      <a:pt x="12" y="357"/>
                    </a:lnTo>
                    <a:lnTo>
                      <a:pt x="17" y="360"/>
                    </a:lnTo>
                    <a:lnTo>
                      <a:pt x="23" y="361"/>
                    </a:lnTo>
                    <a:lnTo>
                      <a:pt x="29" y="363"/>
                    </a:lnTo>
                    <a:lnTo>
                      <a:pt x="216" y="363"/>
                    </a:lnTo>
                    <a:lnTo>
                      <a:pt x="216" y="363"/>
                    </a:lnTo>
                    <a:lnTo>
                      <a:pt x="222" y="361"/>
                    </a:lnTo>
                    <a:lnTo>
                      <a:pt x="227" y="360"/>
                    </a:lnTo>
                    <a:lnTo>
                      <a:pt x="232" y="357"/>
                    </a:lnTo>
                    <a:lnTo>
                      <a:pt x="236" y="353"/>
                    </a:lnTo>
                    <a:lnTo>
                      <a:pt x="240" y="349"/>
                    </a:lnTo>
                    <a:lnTo>
                      <a:pt x="243" y="344"/>
                    </a:lnTo>
                    <a:lnTo>
                      <a:pt x="244" y="338"/>
                    </a:lnTo>
                    <a:lnTo>
                      <a:pt x="246" y="333"/>
                    </a:lnTo>
                    <a:lnTo>
                      <a:pt x="246" y="28"/>
                    </a:lnTo>
                    <a:lnTo>
                      <a:pt x="246" y="28"/>
                    </a:lnTo>
                    <a:lnTo>
                      <a:pt x="244" y="23"/>
                    </a:lnTo>
                    <a:lnTo>
                      <a:pt x="243" y="17"/>
                    </a:lnTo>
                    <a:lnTo>
                      <a:pt x="240" y="12"/>
                    </a:lnTo>
                    <a:lnTo>
                      <a:pt x="236" y="8"/>
                    </a:lnTo>
                    <a:lnTo>
                      <a:pt x="232" y="4"/>
                    </a:lnTo>
                    <a:lnTo>
                      <a:pt x="227" y="1"/>
                    </a:lnTo>
                    <a:lnTo>
                      <a:pt x="222" y="0"/>
                    </a:lnTo>
                    <a:lnTo>
                      <a:pt x="216" y="0"/>
                    </a:lnTo>
                    <a:lnTo>
                      <a:pt x="216" y="0"/>
                    </a:lnTo>
                    <a:close/>
                    <a:moveTo>
                      <a:pt x="122" y="351"/>
                    </a:moveTo>
                    <a:lnTo>
                      <a:pt x="122" y="351"/>
                    </a:lnTo>
                    <a:lnTo>
                      <a:pt x="115" y="349"/>
                    </a:lnTo>
                    <a:lnTo>
                      <a:pt x="110" y="345"/>
                    </a:lnTo>
                    <a:lnTo>
                      <a:pt x="106" y="340"/>
                    </a:lnTo>
                    <a:lnTo>
                      <a:pt x="105" y="333"/>
                    </a:lnTo>
                    <a:lnTo>
                      <a:pt x="105" y="333"/>
                    </a:lnTo>
                    <a:lnTo>
                      <a:pt x="106" y="326"/>
                    </a:lnTo>
                    <a:lnTo>
                      <a:pt x="110" y="321"/>
                    </a:lnTo>
                    <a:lnTo>
                      <a:pt x="115" y="317"/>
                    </a:lnTo>
                    <a:lnTo>
                      <a:pt x="122" y="316"/>
                    </a:lnTo>
                    <a:lnTo>
                      <a:pt x="122" y="316"/>
                    </a:lnTo>
                    <a:lnTo>
                      <a:pt x="129" y="317"/>
                    </a:lnTo>
                    <a:lnTo>
                      <a:pt x="136" y="321"/>
                    </a:lnTo>
                    <a:lnTo>
                      <a:pt x="138" y="326"/>
                    </a:lnTo>
                    <a:lnTo>
                      <a:pt x="140" y="333"/>
                    </a:lnTo>
                    <a:lnTo>
                      <a:pt x="140" y="333"/>
                    </a:lnTo>
                    <a:lnTo>
                      <a:pt x="138" y="340"/>
                    </a:lnTo>
                    <a:lnTo>
                      <a:pt x="136" y="345"/>
                    </a:lnTo>
                    <a:lnTo>
                      <a:pt x="129" y="349"/>
                    </a:lnTo>
                    <a:lnTo>
                      <a:pt x="122" y="351"/>
                    </a:lnTo>
                    <a:lnTo>
                      <a:pt x="122" y="351"/>
                    </a:lnTo>
                    <a:close/>
                    <a:moveTo>
                      <a:pt x="224" y="287"/>
                    </a:moveTo>
                    <a:lnTo>
                      <a:pt x="224" y="287"/>
                    </a:lnTo>
                    <a:lnTo>
                      <a:pt x="223" y="289"/>
                    </a:lnTo>
                    <a:lnTo>
                      <a:pt x="222" y="291"/>
                    </a:lnTo>
                    <a:lnTo>
                      <a:pt x="220" y="293"/>
                    </a:lnTo>
                    <a:lnTo>
                      <a:pt x="218" y="293"/>
                    </a:lnTo>
                    <a:lnTo>
                      <a:pt x="214" y="293"/>
                    </a:lnTo>
                    <a:lnTo>
                      <a:pt x="214" y="273"/>
                    </a:lnTo>
                    <a:lnTo>
                      <a:pt x="214" y="273"/>
                    </a:lnTo>
                    <a:lnTo>
                      <a:pt x="212" y="266"/>
                    </a:lnTo>
                    <a:lnTo>
                      <a:pt x="210" y="258"/>
                    </a:lnTo>
                    <a:lnTo>
                      <a:pt x="205" y="252"/>
                    </a:lnTo>
                    <a:lnTo>
                      <a:pt x="200" y="247"/>
                    </a:lnTo>
                    <a:lnTo>
                      <a:pt x="168" y="223"/>
                    </a:lnTo>
                    <a:lnTo>
                      <a:pt x="168" y="223"/>
                    </a:lnTo>
                    <a:lnTo>
                      <a:pt x="158" y="230"/>
                    </a:lnTo>
                    <a:lnTo>
                      <a:pt x="148" y="235"/>
                    </a:lnTo>
                    <a:lnTo>
                      <a:pt x="136" y="239"/>
                    </a:lnTo>
                    <a:lnTo>
                      <a:pt x="122" y="240"/>
                    </a:lnTo>
                    <a:lnTo>
                      <a:pt x="122" y="240"/>
                    </a:lnTo>
                    <a:lnTo>
                      <a:pt x="110" y="239"/>
                    </a:lnTo>
                    <a:lnTo>
                      <a:pt x="98" y="235"/>
                    </a:lnTo>
                    <a:lnTo>
                      <a:pt x="87" y="230"/>
                    </a:lnTo>
                    <a:lnTo>
                      <a:pt x="78" y="223"/>
                    </a:lnTo>
                    <a:lnTo>
                      <a:pt x="46" y="247"/>
                    </a:lnTo>
                    <a:lnTo>
                      <a:pt x="46" y="247"/>
                    </a:lnTo>
                    <a:lnTo>
                      <a:pt x="40" y="252"/>
                    </a:lnTo>
                    <a:lnTo>
                      <a:pt x="36" y="258"/>
                    </a:lnTo>
                    <a:lnTo>
                      <a:pt x="33" y="266"/>
                    </a:lnTo>
                    <a:lnTo>
                      <a:pt x="32" y="273"/>
                    </a:lnTo>
                    <a:lnTo>
                      <a:pt x="32" y="293"/>
                    </a:lnTo>
                    <a:lnTo>
                      <a:pt x="27" y="293"/>
                    </a:lnTo>
                    <a:lnTo>
                      <a:pt x="27" y="293"/>
                    </a:lnTo>
                    <a:lnTo>
                      <a:pt x="25" y="293"/>
                    </a:lnTo>
                    <a:lnTo>
                      <a:pt x="23" y="291"/>
                    </a:lnTo>
                    <a:lnTo>
                      <a:pt x="21" y="289"/>
                    </a:lnTo>
                    <a:lnTo>
                      <a:pt x="21" y="287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1" y="25"/>
                    </a:lnTo>
                    <a:lnTo>
                      <a:pt x="23" y="23"/>
                    </a:lnTo>
                    <a:lnTo>
                      <a:pt x="25" y="21"/>
                    </a:lnTo>
                    <a:lnTo>
                      <a:pt x="27" y="21"/>
                    </a:lnTo>
                    <a:lnTo>
                      <a:pt x="218" y="21"/>
                    </a:lnTo>
                    <a:lnTo>
                      <a:pt x="218" y="21"/>
                    </a:lnTo>
                    <a:lnTo>
                      <a:pt x="220" y="21"/>
                    </a:lnTo>
                    <a:lnTo>
                      <a:pt x="222" y="23"/>
                    </a:lnTo>
                    <a:lnTo>
                      <a:pt x="223" y="25"/>
                    </a:lnTo>
                    <a:lnTo>
                      <a:pt x="224" y="27"/>
                    </a:lnTo>
                    <a:lnTo>
                      <a:pt x="224" y="28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BE" sz="1800" b="0" i="0" u="none" strike="noStrike" kern="1200" cap="none" spc="0" normalizeH="0" baseline="0" noProof="0">
                  <a:ln>
                    <a:noFill/>
                  </a:ln>
                  <a:solidFill>
                    <a:srgbClr val="0900B6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4684042" y="2207529"/>
              <a:ext cx="3348000" cy="2128011"/>
              <a:chOff x="5441588" y="2767904"/>
              <a:chExt cx="3348000" cy="2128011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5700920" y="2767904"/>
                <a:ext cx="5148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BE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08080">
                        <a:lumMod val="50000"/>
                      </a:srgbClr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Bio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5441588" y="3141589"/>
                <a:ext cx="3348000" cy="1754326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BE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65000"/>
                      </a:srgbClr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Jules travaille comme consultant pour une entreprise bruxelloise. Il souhaite acheter un bien immobilier et est à la recherche d’ informations concernant le processus d’achat, la prime de rénovation, les étapes légales, etc. Il a l’habitude d’utiliser son ordinateur pour la recherche d’informations générales et son smartphone pour des recherches plus  spécifiques. Il aime que les choses aillent vite. </a:t>
                </a:r>
              </a:p>
            </p:txBody>
          </p:sp>
        </p:grpSp>
      </p:grpSp>
      <p:sp>
        <p:nvSpPr>
          <p:cNvPr id="9" name="Rectangle 8"/>
          <p:cNvSpPr/>
          <p:nvPr/>
        </p:nvSpPr>
        <p:spPr>
          <a:xfrm>
            <a:off x="266700" y="5716677"/>
            <a:ext cx="3381375" cy="1044387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fr-FR">
                <a:solidFill>
                  <a:srgbClr val="000000"/>
                </a:solidFill>
                <a:latin typeface="Chronicle Display Black" pitchFamily="50" charset="0"/>
              </a:rPr>
              <a:t>Je ne comprends pas à quelle prime j’ai droit… </a:t>
            </a: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hronicle Display Black" pitchFamily="50" charset="0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-85069" y="5191404"/>
            <a:ext cx="74090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8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hronicle Display Black" pitchFamily="50" charset="0"/>
                <a:ea typeface="+mn-ea"/>
                <a:cs typeface="+mn-cs"/>
              </a:rPr>
              <a:t>“</a:t>
            </a:r>
            <a:endParaRPr kumimoji="0" lang="fr-BE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hronicle Display Black" pitchFamily="50" charset="0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67063" y="326136"/>
            <a:ext cx="33347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8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50000"/>
                  </a:srgbClr>
                </a:solidFill>
                <a:effectLst/>
                <a:uLnTx/>
                <a:uFillTx/>
                <a:latin typeface="Chronicle Display Black" pitchFamily="50" charset="0"/>
                <a:ea typeface="+mn-ea"/>
                <a:cs typeface="+mn-cs"/>
              </a:rPr>
              <a:t>Jules Dupont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945075" y="463079"/>
            <a:ext cx="1116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Détendu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951425" y="197291"/>
            <a:ext cx="1116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Exigeant</a:t>
            </a:r>
          </a:p>
        </p:txBody>
      </p:sp>
      <p:cxnSp>
        <p:nvCxnSpPr>
          <p:cNvPr id="79" name="Straight Connector 47">
            <a:extLst>
              <a:ext uri="{FF2B5EF4-FFF2-40B4-BE49-F238E27FC236}">
                <a16:creationId xmlns:a16="http://schemas.microsoft.com/office/drawing/2014/main" id="{3159BC01-8C79-41B3-BEF1-D223971905A0}"/>
              </a:ext>
            </a:extLst>
          </p:cNvPr>
          <p:cNvCxnSpPr/>
          <p:nvPr/>
        </p:nvCxnSpPr>
        <p:spPr>
          <a:xfrm>
            <a:off x="4467063" y="1823825"/>
            <a:ext cx="736730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3">
            <a:extLst>
              <a:ext uri="{FF2B5EF4-FFF2-40B4-BE49-F238E27FC236}">
                <a16:creationId xmlns:a16="http://schemas.microsoft.com/office/drawing/2014/main" id="{0135C05A-9C56-4272-9B73-81A885084F7B}"/>
              </a:ext>
            </a:extLst>
          </p:cNvPr>
          <p:cNvSpPr txBox="1"/>
          <p:nvPr/>
        </p:nvSpPr>
        <p:spPr>
          <a:xfrm>
            <a:off x="4045069" y="938442"/>
            <a:ext cx="21283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30 ans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Uccle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400" dirty="0">
                <a:solidFill>
                  <a:srgbClr val="FFFFFF">
                    <a:lumMod val="65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Future p</a:t>
            </a:r>
            <a:r>
              <a:rPr kumimoji="0" lang="fr-B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ropriétaire</a:t>
            </a:r>
            <a:endParaRPr kumimoji="0" lang="fr-BE" sz="14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82" name="Straight Connector 84">
            <a:extLst>
              <a:ext uri="{FF2B5EF4-FFF2-40B4-BE49-F238E27FC236}">
                <a16:creationId xmlns:a16="http://schemas.microsoft.com/office/drawing/2014/main" id="{0A2DE969-7B97-492C-876A-58EE48D489B4}"/>
              </a:ext>
            </a:extLst>
          </p:cNvPr>
          <p:cNvCxnSpPr/>
          <p:nvPr/>
        </p:nvCxnSpPr>
        <p:spPr>
          <a:xfrm>
            <a:off x="6275085" y="979267"/>
            <a:ext cx="0" cy="697839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5">
            <a:extLst>
              <a:ext uri="{FF2B5EF4-FFF2-40B4-BE49-F238E27FC236}">
                <a16:creationId xmlns:a16="http://schemas.microsoft.com/office/drawing/2014/main" id="{493DAC69-BF8A-4A81-B6E5-4FF3E4251969}"/>
              </a:ext>
            </a:extLst>
          </p:cNvPr>
          <p:cNvSpPr txBox="1"/>
          <p:nvPr/>
        </p:nvSpPr>
        <p:spPr>
          <a:xfrm>
            <a:off x="6422741" y="938442"/>
            <a:ext cx="40071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À la recherche d’un logement à acheter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Maturité digitale</a:t>
            </a:r>
          </a:p>
        </p:txBody>
      </p:sp>
      <p:sp>
        <p:nvSpPr>
          <p:cNvPr id="88" name="Oval 99">
            <a:extLst>
              <a:ext uri="{FF2B5EF4-FFF2-40B4-BE49-F238E27FC236}">
                <a16:creationId xmlns:a16="http://schemas.microsoft.com/office/drawing/2014/main" id="{9449D680-9071-4D8D-AE4F-08B8D81C4121}"/>
              </a:ext>
            </a:extLst>
          </p:cNvPr>
          <p:cNvSpPr/>
          <p:nvPr/>
        </p:nvSpPr>
        <p:spPr>
          <a:xfrm>
            <a:off x="8471192" y="1451457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9" name="Oval 100">
            <a:extLst>
              <a:ext uri="{FF2B5EF4-FFF2-40B4-BE49-F238E27FC236}">
                <a16:creationId xmlns:a16="http://schemas.microsoft.com/office/drawing/2014/main" id="{EF8FDE7E-3815-412C-A95E-2AB9A0684EBC}"/>
              </a:ext>
            </a:extLst>
          </p:cNvPr>
          <p:cNvSpPr/>
          <p:nvPr/>
        </p:nvSpPr>
        <p:spPr>
          <a:xfrm>
            <a:off x="8765029" y="1451457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0" name="Oval 101">
            <a:extLst>
              <a:ext uri="{FF2B5EF4-FFF2-40B4-BE49-F238E27FC236}">
                <a16:creationId xmlns:a16="http://schemas.microsoft.com/office/drawing/2014/main" id="{8BA49A47-0CA0-4FB9-8782-B5EAE4F9BD67}"/>
              </a:ext>
            </a:extLst>
          </p:cNvPr>
          <p:cNvSpPr/>
          <p:nvPr/>
        </p:nvSpPr>
        <p:spPr>
          <a:xfrm>
            <a:off x="9058866" y="1451457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1" name="Oval 119">
            <a:extLst>
              <a:ext uri="{FF2B5EF4-FFF2-40B4-BE49-F238E27FC236}">
                <a16:creationId xmlns:a16="http://schemas.microsoft.com/office/drawing/2014/main" id="{2B7142EC-D957-4A37-BBC0-C588AA9C3F93}"/>
              </a:ext>
            </a:extLst>
          </p:cNvPr>
          <p:cNvSpPr/>
          <p:nvPr/>
        </p:nvSpPr>
        <p:spPr>
          <a:xfrm>
            <a:off x="8177355" y="1451457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2" name="Oval 122">
            <a:extLst>
              <a:ext uri="{FF2B5EF4-FFF2-40B4-BE49-F238E27FC236}">
                <a16:creationId xmlns:a16="http://schemas.microsoft.com/office/drawing/2014/main" id="{CD8063C0-5888-4FF7-BF4E-EFC1F81825B3}"/>
              </a:ext>
            </a:extLst>
          </p:cNvPr>
          <p:cNvSpPr/>
          <p:nvPr/>
        </p:nvSpPr>
        <p:spPr>
          <a:xfrm>
            <a:off x="9344628" y="1455837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61" name="Group 105">
            <a:extLst>
              <a:ext uri="{FF2B5EF4-FFF2-40B4-BE49-F238E27FC236}">
                <a16:creationId xmlns:a16="http://schemas.microsoft.com/office/drawing/2014/main" id="{541F924C-C871-490B-B2B5-B935FE455EE5}"/>
              </a:ext>
            </a:extLst>
          </p:cNvPr>
          <p:cNvGrpSpPr>
            <a:grpSpLocks noChangeAspect="1"/>
          </p:cNvGrpSpPr>
          <p:nvPr/>
        </p:nvGrpSpPr>
        <p:grpSpPr>
          <a:xfrm>
            <a:off x="10474027" y="999258"/>
            <a:ext cx="522288" cy="522288"/>
            <a:chOff x="9353551" y="823913"/>
            <a:chExt cx="522288" cy="522288"/>
          </a:xfrm>
          <a:solidFill>
            <a:schemeClr val="accent4"/>
          </a:solidFill>
        </p:grpSpPr>
        <p:sp>
          <p:nvSpPr>
            <p:cNvPr id="62" name="Freeform 40">
              <a:extLst>
                <a:ext uri="{FF2B5EF4-FFF2-40B4-BE49-F238E27FC236}">
                  <a16:creationId xmlns:a16="http://schemas.microsoft.com/office/drawing/2014/main" id="{C2BC2CFB-C30D-4F46-BDE9-C7BAF8ECFF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53551" y="823913"/>
              <a:ext cx="522288" cy="522288"/>
            </a:xfrm>
            <a:custGeom>
              <a:avLst/>
              <a:gdLst>
                <a:gd name="T0" fmla="*/ 311 w 656"/>
                <a:gd name="T1" fmla="*/ 657 h 659"/>
                <a:gd name="T2" fmla="*/ 262 w 656"/>
                <a:gd name="T3" fmla="*/ 652 h 659"/>
                <a:gd name="T4" fmla="*/ 200 w 656"/>
                <a:gd name="T5" fmla="*/ 633 h 659"/>
                <a:gd name="T6" fmla="*/ 119 w 656"/>
                <a:gd name="T7" fmla="*/ 583 h 659"/>
                <a:gd name="T8" fmla="*/ 56 w 656"/>
                <a:gd name="T9" fmla="*/ 514 h 659"/>
                <a:gd name="T10" fmla="*/ 14 w 656"/>
                <a:gd name="T11" fmla="*/ 428 h 659"/>
                <a:gd name="T12" fmla="*/ 4 w 656"/>
                <a:gd name="T13" fmla="*/ 379 h 659"/>
                <a:gd name="T14" fmla="*/ 0 w 656"/>
                <a:gd name="T15" fmla="*/ 329 h 659"/>
                <a:gd name="T16" fmla="*/ 1 w 656"/>
                <a:gd name="T17" fmla="*/ 296 h 659"/>
                <a:gd name="T18" fmla="*/ 9 w 656"/>
                <a:gd name="T19" fmla="*/ 248 h 659"/>
                <a:gd name="T20" fmla="*/ 39 w 656"/>
                <a:gd name="T21" fmla="*/ 172 h 659"/>
                <a:gd name="T22" fmla="*/ 96 w 656"/>
                <a:gd name="T23" fmla="*/ 97 h 659"/>
                <a:gd name="T24" fmla="*/ 172 w 656"/>
                <a:gd name="T25" fmla="*/ 41 h 659"/>
                <a:gd name="T26" fmla="*/ 245 w 656"/>
                <a:gd name="T27" fmla="*/ 11 h 659"/>
                <a:gd name="T28" fmla="*/ 295 w 656"/>
                <a:gd name="T29" fmla="*/ 3 h 659"/>
                <a:gd name="T30" fmla="*/ 329 w 656"/>
                <a:gd name="T31" fmla="*/ 0 h 659"/>
                <a:gd name="T32" fmla="*/ 378 w 656"/>
                <a:gd name="T33" fmla="*/ 4 h 659"/>
                <a:gd name="T34" fmla="*/ 425 w 656"/>
                <a:gd name="T35" fmla="*/ 15 h 659"/>
                <a:gd name="T36" fmla="*/ 511 w 656"/>
                <a:gd name="T37" fmla="*/ 57 h 659"/>
                <a:gd name="T38" fmla="*/ 581 w 656"/>
                <a:gd name="T39" fmla="*/ 120 h 659"/>
                <a:gd name="T40" fmla="*/ 631 w 656"/>
                <a:gd name="T41" fmla="*/ 202 h 659"/>
                <a:gd name="T42" fmla="*/ 650 w 656"/>
                <a:gd name="T43" fmla="*/ 264 h 659"/>
                <a:gd name="T44" fmla="*/ 656 w 656"/>
                <a:gd name="T45" fmla="*/ 312 h 659"/>
                <a:gd name="T46" fmla="*/ 656 w 656"/>
                <a:gd name="T47" fmla="*/ 347 h 659"/>
                <a:gd name="T48" fmla="*/ 650 w 656"/>
                <a:gd name="T49" fmla="*/ 395 h 659"/>
                <a:gd name="T50" fmla="*/ 631 w 656"/>
                <a:gd name="T51" fmla="*/ 457 h 659"/>
                <a:gd name="T52" fmla="*/ 581 w 656"/>
                <a:gd name="T53" fmla="*/ 539 h 659"/>
                <a:gd name="T54" fmla="*/ 511 w 656"/>
                <a:gd name="T55" fmla="*/ 602 h 659"/>
                <a:gd name="T56" fmla="*/ 425 w 656"/>
                <a:gd name="T57" fmla="*/ 644 h 659"/>
                <a:gd name="T58" fmla="*/ 378 w 656"/>
                <a:gd name="T59" fmla="*/ 655 h 659"/>
                <a:gd name="T60" fmla="*/ 329 w 656"/>
                <a:gd name="T61" fmla="*/ 659 h 659"/>
                <a:gd name="T62" fmla="*/ 329 w 656"/>
                <a:gd name="T63" fmla="*/ 38 h 659"/>
                <a:gd name="T64" fmla="*/ 241 w 656"/>
                <a:gd name="T65" fmla="*/ 51 h 659"/>
                <a:gd name="T66" fmla="*/ 165 w 656"/>
                <a:gd name="T67" fmla="*/ 88 h 659"/>
                <a:gd name="T68" fmla="*/ 103 w 656"/>
                <a:gd name="T69" fmla="*/ 144 h 659"/>
                <a:gd name="T70" fmla="*/ 60 w 656"/>
                <a:gd name="T71" fmla="*/ 217 h 659"/>
                <a:gd name="T72" fmla="*/ 39 w 656"/>
                <a:gd name="T73" fmla="*/ 300 h 659"/>
                <a:gd name="T74" fmla="*/ 39 w 656"/>
                <a:gd name="T75" fmla="*/ 359 h 659"/>
                <a:gd name="T76" fmla="*/ 60 w 656"/>
                <a:gd name="T77" fmla="*/ 442 h 659"/>
                <a:gd name="T78" fmla="*/ 103 w 656"/>
                <a:gd name="T79" fmla="*/ 515 h 659"/>
                <a:gd name="T80" fmla="*/ 165 w 656"/>
                <a:gd name="T81" fmla="*/ 571 h 659"/>
                <a:gd name="T82" fmla="*/ 241 w 656"/>
                <a:gd name="T83" fmla="*/ 608 h 659"/>
                <a:gd name="T84" fmla="*/ 329 w 656"/>
                <a:gd name="T85" fmla="*/ 621 h 659"/>
                <a:gd name="T86" fmla="*/ 386 w 656"/>
                <a:gd name="T87" fmla="*/ 614 h 659"/>
                <a:gd name="T88" fmla="*/ 467 w 656"/>
                <a:gd name="T89" fmla="*/ 586 h 659"/>
                <a:gd name="T90" fmla="*/ 534 w 656"/>
                <a:gd name="T91" fmla="*/ 535 h 659"/>
                <a:gd name="T92" fmla="*/ 584 w 656"/>
                <a:gd name="T93" fmla="*/ 468 h 659"/>
                <a:gd name="T94" fmla="*/ 613 w 656"/>
                <a:gd name="T95" fmla="*/ 389 h 659"/>
                <a:gd name="T96" fmla="*/ 619 w 656"/>
                <a:gd name="T97" fmla="*/ 329 h 659"/>
                <a:gd name="T98" fmla="*/ 607 w 656"/>
                <a:gd name="T99" fmla="*/ 244 h 659"/>
                <a:gd name="T100" fmla="*/ 569 w 656"/>
                <a:gd name="T101" fmla="*/ 167 h 659"/>
                <a:gd name="T102" fmla="*/ 513 w 656"/>
                <a:gd name="T103" fmla="*/ 105 h 659"/>
                <a:gd name="T104" fmla="*/ 442 w 656"/>
                <a:gd name="T105" fmla="*/ 61 h 659"/>
                <a:gd name="T106" fmla="*/ 358 w 656"/>
                <a:gd name="T107" fmla="*/ 39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6" h="659">
                  <a:moveTo>
                    <a:pt x="329" y="659"/>
                  </a:moveTo>
                  <a:lnTo>
                    <a:pt x="329" y="659"/>
                  </a:lnTo>
                  <a:lnTo>
                    <a:pt x="311" y="657"/>
                  </a:lnTo>
                  <a:lnTo>
                    <a:pt x="295" y="657"/>
                  </a:lnTo>
                  <a:lnTo>
                    <a:pt x="278" y="655"/>
                  </a:lnTo>
                  <a:lnTo>
                    <a:pt x="262" y="652"/>
                  </a:lnTo>
                  <a:lnTo>
                    <a:pt x="245" y="648"/>
                  </a:lnTo>
                  <a:lnTo>
                    <a:pt x="231" y="644"/>
                  </a:lnTo>
                  <a:lnTo>
                    <a:pt x="200" y="633"/>
                  </a:lnTo>
                  <a:lnTo>
                    <a:pt x="172" y="618"/>
                  </a:lnTo>
                  <a:lnTo>
                    <a:pt x="145" y="602"/>
                  </a:lnTo>
                  <a:lnTo>
                    <a:pt x="119" y="583"/>
                  </a:lnTo>
                  <a:lnTo>
                    <a:pt x="96" y="562"/>
                  </a:lnTo>
                  <a:lnTo>
                    <a:pt x="75" y="539"/>
                  </a:lnTo>
                  <a:lnTo>
                    <a:pt x="56" y="514"/>
                  </a:lnTo>
                  <a:lnTo>
                    <a:pt x="39" y="487"/>
                  </a:lnTo>
                  <a:lnTo>
                    <a:pt x="25" y="457"/>
                  </a:lnTo>
                  <a:lnTo>
                    <a:pt x="14" y="428"/>
                  </a:lnTo>
                  <a:lnTo>
                    <a:pt x="9" y="411"/>
                  </a:lnTo>
                  <a:lnTo>
                    <a:pt x="6" y="395"/>
                  </a:lnTo>
                  <a:lnTo>
                    <a:pt x="4" y="379"/>
                  </a:lnTo>
                  <a:lnTo>
                    <a:pt x="1" y="363"/>
                  </a:lnTo>
                  <a:lnTo>
                    <a:pt x="0" y="347"/>
                  </a:lnTo>
                  <a:lnTo>
                    <a:pt x="0" y="329"/>
                  </a:lnTo>
                  <a:lnTo>
                    <a:pt x="0" y="329"/>
                  </a:lnTo>
                  <a:lnTo>
                    <a:pt x="0" y="312"/>
                  </a:lnTo>
                  <a:lnTo>
                    <a:pt x="1" y="296"/>
                  </a:lnTo>
                  <a:lnTo>
                    <a:pt x="4" y="280"/>
                  </a:lnTo>
                  <a:lnTo>
                    <a:pt x="6" y="264"/>
                  </a:lnTo>
                  <a:lnTo>
                    <a:pt x="9" y="248"/>
                  </a:lnTo>
                  <a:lnTo>
                    <a:pt x="14" y="231"/>
                  </a:lnTo>
                  <a:lnTo>
                    <a:pt x="25" y="202"/>
                  </a:lnTo>
                  <a:lnTo>
                    <a:pt x="39" y="172"/>
                  </a:lnTo>
                  <a:lnTo>
                    <a:pt x="56" y="145"/>
                  </a:lnTo>
                  <a:lnTo>
                    <a:pt x="75" y="120"/>
                  </a:lnTo>
                  <a:lnTo>
                    <a:pt x="96" y="97"/>
                  </a:lnTo>
                  <a:lnTo>
                    <a:pt x="119" y="76"/>
                  </a:lnTo>
                  <a:lnTo>
                    <a:pt x="145" y="57"/>
                  </a:lnTo>
                  <a:lnTo>
                    <a:pt x="172" y="41"/>
                  </a:lnTo>
                  <a:lnTo>
                    <a:pt x="200" y="27"/>
                  </a:lnTo>
                  <a:lnTo>
                    <a:pt x="231" y="15"/>
                  </a:lnTo>
                  <a:lnTo>
                    <a:pt x="245" y="11"/>
                  </a:lnTo>
                  <a:lnTo>
                    <a:pt x="262" y="7"/>
                  </a:lnTo>
                  <a:lnTo>
                    <a:pt x="278" y="4"/>
                  </a:lnTo>
                  <a:lnTo>
                    <a:pt x="295" y="3"/>
                  </a:lnTo>
                  <a:lnTo>
                    <a:pt x="311" y="2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5" y="2"/>
                  </a:lnTo>
                  <a:lnTo>
                    <a:pt x="362" y="3"/>
                  </a:lnTo>
                  <a:lnTo>
                    <a:pt x="378" y="4"/>
                  </a:lnTo>
                  <a:lnTo>
                    <a:pt x="395" y="7"/>
                  </a:lnTo>
                  <a:lnTo>
                    <a:pt x="411" y="11"/>
                  </a:lnTo>
                  <a:lnTo>
                    <a:pt x="425" y="15"/>
                  </a:lnTo>
                  <a:lnTo>
                    <a:pt x="456" y="27"/>
                  </a:lnTo>
                  <a:lnTo>
                    <a:pt x="485" y="41"/>
                  </a:lnTo>
                  <a:lnTo>
                    <a:pt x="511" y="57"/>
                  </a:lnTo>
                  <a:lnTo>
                    <a:pt x="537" y="76"/>
                  </a:lnTo>
                  <a:lnTo>
                    <a:pt x="561" y="97"/>
                  </a:lnTo>
                  <a:lnTo>
                    <a:pt x="581" y="120"/>
                  </a:lnTo>
                  <a:lnTo>
                    <a:pt x="600" y="145"/>
                  </a:lnTo>
                  <a:lnTo>
                    <a:pt x="618" y="172"/>
                  </a:lnTo>
                  <a:lnTo>
                    <a:pt x="631" y="202"/>
                  </a:lnTo>
                  <a:lnTo>
                    <a:pt x="642" y="231"/>
                  </a:lnTo>
                  <a:lnTo>
                    <a:pt x="647" y="248"/>
                  </a:lnTo>
                  <a:lnTo>
                    <a:pt x="650" y="264"/>
                  </a:lnTo>
                  <a:lnTo>
                    <a:pt x="652" y="280"/>
                  </a:lnTo>
                  <a:lnTo>
                    <a:pt x="655" y="296"/>
                  </a:lnTo>
                  <a:lnTo>
                    <a:pt x="656" y="312"/>
                  </a:lnTo>
                  <a:lnTo>
                    <a:pt x="656" y="329"/>
                  </a:lnTo>
                  <a:lnTo>
                    <a:pt x="656" y="329"/>
                  </a:lnTo>
                  <a:lnTo>
                    <a:pt x="656" y="347"/>
                  </a:lnTo>
                  <a:lnTo>
                    <a:pt x="655" y="363"/>
                  </a:lnTo>
                  <a:lnTo>
                    <a:pt x="652" y="379"/>
                  </a:lnTo>
                  <a:lnTo>
                    <a:pt x="650" y="395"/>
                  </a:lnTo>
                  <a:lnTo>
                    <a:pt x="647" y="411"/>
                  </a:lnTo>
                  <a:lnTo>
                    <a:pt x="642" y="428"/>
                  </a:lnTo>
                  <a:lnTo>
                    <a:pt x="631" y="457"/>
                  </a:lnTo>
                  <a:lnTo>
                    <a:pt x="618" y="487"/>
                  </a:lnTo>
                  <a:lnTo>
                    <a:pt x="600" y="514"/>
                  </a:lnTo>
                  <a:lnTo>
                    <a:pt x="581" y="539"/>
                  </a:lnTo>
                  <a:lnTo>
                    <a:pt x="561" y="562"/>
                  </a:lnTo>
                  <a:lnTo>
                    <a:pt x="537" y="583"/>
                  </a:lnTo>
                  <a:lnTo>
                    <a:pt x="511" y="602"/>
                  </a:lnTo>
                  <a:lnTo>
                    <a:pt x="485" y="618"/>
                  </a:lnTo>
                  <a:lnTo>
                    <a:pt x="456" y="633"/>
                  </a:lnTo>
                  <a:lnTo>
                    <a:pt x="425" y="644"/>
                  </a:lnTo>
                  <a:lnTo>
                    <a:pt x="411" y="648"/>
                  </a:lnTo>
                  <a:lnTo>
                    <a:pt x="395" y="652"/>
                  </a:lnTo>
                  <a:lnTo>
                    <a:pt x="378" y="655"/>
                  </a:lnTo>
                  <a:lnTo>
                    <a:pt x="362" y="657"/>
                  </a:lnTo>
                  <a:lnTo>
                    <a:pt x="345" y="657"/>
                  </a:lnTo>
                  <a:lnTo>
                    <a:pt x="329" y="659"/>
                  </a:lnTo>
                  <a:lnTo>
                    <a:pt x="329" y="659"/>
                  </a:lnTo>
                  <a:close/>
                  <a:moveTo>
                    <a:pt x="329" y="38"/>
                  </a:moveTo>
                  <a:lnTo>
                    <a:pt x="329" y="38"/>
                  </a:lnTo>
                  <a:lnTo>
                    <a:pt x="298" y="39"/>
                  </a:lnTo>
                  <a:lnTo>
                    <a:pt x="270" y="45"/>
                  </a:lnTo>
                  <a:lnTo>
                    <a:pt x="241" y="51"/>
                  </a:lnTo>
                  <a:lnTo>
                    <a:pt x="215" y="61"/>
                  </a:lnTo>
                  <a:lnTo>
                    <a:pt x="189" y="73"/>
                  </a:lnTo>
                  <a:lnTo>
                    <a:pt x="165" y="88"/>
                  </a:lnTo>
                  <a:lnTo>
                    <a:pt x="143" y="105"/>
                  </a:lnTo>
                  <a:lnTo>
                    <a:pt x="122" y="124"/>
                  </a:lnTo>
                  <a:lnTo>
                    <a:pt x="103" y="144"/>
                  </a:lnTo>
                  <a:lnTo>
                    <a:pt x="87" y="167"/>
                  </a:lnTo>
                  <a:lnTo>
                    <a:pt x="72" y="191"/>
                  </a:lnTo>
                  <a:lnTo>
                    <a:pt x="60" y="217"/>
                  </a:lnTo>
                  <a:lnTo>
                    <a:pt x="51" y="244"/>
                  </a:lnTo>
                  <a:lnTo>
                    <a:pt x="43" y="270"/>
                  </a:lnTo>
                  <a:lnTo>
                    <a:pt x="39" y="300"/>
                  </a:lnTo>
                  <a:lnTo>
                    <a:pt x="37" y="329"/>
                  </a:lnTo>
                  <a:lnTo>
                    <a:pt x="37" y="329"/>
                  </a:lnTo>
                  <a:lnTo>
                    <a:pt x="39" y="359"/>
                  </a:lnTo>
                  <a:lnTo>
                    <a:pt x="43" y="389"/>
                  </a:lnTo>
                  <a:lnTo>
                    <a:pt x="51" y="415"/>
                  </a:lnTo>
                  <a:lnTo>
                    <a:pt x="60" y="442"/>
                  </a:lnTo>
                  <a:lnTo>
                    <a:pt x="72" y="468"/>
                  </a:lnTo>
                  <a:lnTo>
                    <a:pt x="87" y="492"/>
                  </a:lnTo>
                  <a:lnTo>
                    <a:pt x="103" y="515"/>
                  </a:lnTo>
                  <a:lnTo>
                    <a:pt x="122" y="535"/>
                  </a:lnTo>
                  <a:lnTo>
                    <a:pt x="143" y="554"/>
                  </a:lnTo>
                  <a:lnTo>
                    <a:pt x="165" y="571"/>
                  </a:lnTo>
                  <a:lnTo>
                    <a:pt x="189" y="586"/>
                  </a:lnTo>
                  <a:lnTo>
                    <a:pt x="215" y="598"/>
                  </a:lnTo>
                  <a:lnTo>
                    <a:pt x="241" y="608"/>
                  </a:lnTo>
                  <a:lnTo>
                    <a:pt x="270" y="614"/>
                  </a:lnTo>
                  <a:lnTo>
                    <a:pt x="298" y="620"/>
                  </a:lnTo>
                  <a:lnTo>
                    <a:pt x="329" y="621"/>
                  </a:lnTo>
                  <a:lnTo>
                    <a:pt x="329" y="621"/>
                  </a:lnTo>
                  <a:lnTo>
                    <a:pt x="358" y="620"/>
                  </a:lnTo>
                  <a:lnTo>
                    <a:pt x="386" y="614"/>
                  </a:lnTo>
                  <a:lnTo>
                    <a:pt x="415" y="608"/>
                  </a:lnTo>
                  <a:lnTo>
                    <a:pt x="442" y="598"/>
                  </a:lnTo>
                  <a:lnTo>
                    <a:pt x="467" y="586"/>
                  </a:lnTo>
                  <a:lnTo>
                    <a:pt x="491" y="571"/>
                  </a:lnTo>
                  <a:lnTo>
                    <a:pt x="513" y="554"/>
                  </a:lnTo>
                  <a:lnTo>
                    <a:pt x="534" y="535"/>
                  </a:lnTo>
                  <a:lnTo>
                    <a:pt x="553" y="515"/>
                  </a:lnTo>
                  <a:lnTo>
                    <a:pt x="569" y="492"/>
                  </a:lnTo>
                  <a:lnTo>
                    <a:pt x="584" y="468"/>
                  </a:lnTo>
                  <a:lnTo>
                    <a:pt x="596" y="442"/>
                  </a:lnTo>
                  <a:lnTo>
                    <a:pt x="607" y="415"/>
                  </a:lnTo>
                  <a:lnTo>
                    <a:pt x="613" y="389"/>
                  </a:lnTo>
                  <a:lnTo>
                    <a:pt x="618" y="359"/>
                  </a:lnTo>
                  <a:lnTo>
                    <a:pt x="619" y="329"/>
                  </a:lnTo>
                  <a:lnTo>
                    <a:pt x="619" y="329"/>
                  </a:lnTo>
                  <a:lnTo>
                    <a:pt x="618" y="300"/>
                  </a:lnTo>
                  <a:lnTo>
                    <a:pt x="613" y="270"/>
                  </a:lnTo>
                  <a:lnTo>
                    <a:pt x="607" y="244"/>
                  </a:lnTo>
                  <a:lnTo>
                    <a:pt x="596" y="217"/>
                  </a:lnTo>
                  <a:lnTo>
                    <a:pt x="584" y="191"/>
                  </a:lnTo>
                  <a:lnTo>
                    <a:pt x="569" y="167"/>
                  </a:lnTo>
                  <a:lnTo>
                    <a:pt x="553" y="144"/>
                  </a:lnTo>
                  <a:lnTo>
                    <a:pt x="534" y="124"/>
                  </a:lnTo>
                  <a:lnTo>
                    <a:pt x="513" y="105"/>
                  </a:lnTo>
                  <a:lnTo>
                    <a:pt x="491" y="88"/>
                  </a:lnTo>
                  <a:lnTo>
                    <a:pt x="467" y="73"/>
                  </a:lnTo>
                  <a:lnTo>
                    <a:pt x="442" y="61"/>
                  </a:lnTo>
                  <a:lnTo>
                    <a:pt x="415" y="51"/>
                  </a:lnTo>
                  <a:lnTo>
                    <a:pt x="386" y="45"/>
                  </a:lnTo>
                  <a:lnTo>
                    <a:pt x="358" y="39"/>
                  </a:lnTo>
                  <a:lnTo>
                    <a:pt x="329" y="38"/>
                  </a:lnTo>
                  <a:lnTo>
                    <a:pt x="329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900B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3" name="Freeform 178">
              <a:extLst>
                <a:ext uri="{FF2B5EF4-FFF2-40B4-BE49-F238E27FC236}">
                  <a16:creationId xmlns:a16="http://schemas.microsoft.com/office/drawing/2014/main" id="{B0E9CCF9-A9D3-4B1D-BFC2-DF7D1074B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3251" y="1127125"/>
              <a:ext cx="250825" cy="66675"/>
            </a:xfrm>
            <a:custGeom>
              <a:avLst/>
              <a:gdLst>
                <a:gd name="T0" fmla="*/ 314 w 315"/>
                <a:gd name="T1" fmla="*/ 62 h 84"/>
                <a:gd name="T2" fmla="*/ 288 w 315"/>
                <a:gd name="T3" fmla="*/ 3 h 84"/>
                <a:gd name="T4" fmla="*/ 288 w 315"/>
                <a:gd name="T5" fmla="*/ 3 h 84"/>
                <a:gd name="T6" fmla="*/ 286 w 315"/>
                <a:gd name="T7" fmla="*/ 0 h 84"/>
                <a:gd name="T8" fmla="*/ 283 w 315"/>
                <a:gd name="T9" fmla="*/ 0 h 84"/>
                <a:gd name="T10" fmla="*/ 32 w 315"/>
                <a:gd name="T11" fmla="*/ 0 h 84"/>
                <a:gd name="T12" fmla="*/ 32 w 315"/>
                <a:gd name="T13" fmla="*/ 0 h 84"/>
                <a:gd name="T14" fmla="*/ 29 w 315"/>
                <a:gd name="T15" fmla="*/ 0 h 84"/>
                <a:gd name="T16" fmla="*/ 26 w 315"/>
                <a:gd name="T17" fmla="*/ 3 h 84"/>
                <a:gd name="T18" fmla="*/ 1 w 315"/>
                <a:gd name="T19" fmla="*/ 62 h 84"/>
                <a:gd name="T20" fmla="*/ 1 w 315"/>
                <a:gd name="T21" fmla="*/ 62 h 84"/>
                <a:gd name="T22" fmla="*/ 0 w 315"/>
                <a:gd name="T23" fmla="*/ 66 h 84"/>
                <a:gd name="T24" fmla="*/ 0 w 315"/>
                <a:gd name="T25" fmla="*/ 70 h 84"/>
                <a:gd name="T26" fmla="*/ 1 w 315"/>
                <a:gd name="T27" fmla="*/ 74 h 84"/>
                <a:gd name="T28" fmla="*/ 2 w 315"/>
                <a:gd name="T29" fmla="*/ 77 h 84"/>
                <a:gd name="T30" fmla="*/ 2 w 315"/>
                <a:gd name="T31" fmla="*/ 77 h 84"/>
                <a:gd name="T32" fmla="*/ 5 w 315"/>
                <a:gd name="T33" fmla="*/ 79 h 84"/>
                <a:gd name="T34" fmla="*/ 8 w 315"/>
                <a:gd name="T35" fmla="*/ 82 h 84"/>
                <a:gd name="T36" fmla="*/ 12 w 315"/>
                <a:gd name="T37" fmla="*/ 84 h 84"/>
                <a:gd name="T38" fmla="*/ 16 w 315"/>
                <a:gd name="T39" fmla="*/ 84 h 84"/>
                <a:gd name="T40" fmla="*/ 299 w 315"/>
                <a:gd name="T41" fmla="*/ 84 h 84"/>
                <a:gd name="T42" fmla="*/ 299 w 315"/>
                <a:gd name="T43" fmla="*/ 84 h 84"/>
                <a:gd name="T44" fmla="*/ 303 w 315"/>
                <a:gd name="T45" fmla="*/ 84 h 84"/>
                <a:gd name="T46" fmla="*/ 307 w 315"/>
                <a:gd name="T47" fmla="*/ 82 h 84"/>
                <a:gd name="T48" fmla="*/ 310 w 315"/>
                <a:gd name="T49" fmla="*/ 79 h 84"/>
                <a:gd name="T50" fmla="*/ 313 w 315"/>
                <a:gd name="T51" fmla="*/ 77 h 84"/>
                <a:gd name="T52" fmla="*/ 313 w 315"/>
                <a:gd name="T53" fmla="*/ 77 h 84"/>
                <a:gd name="T54" fmla="*/ 314 w 315"/>
                <a:gd name="T55" fmla="*/ 74 h 84"/>
                <a:gd name="T56" fmla="*/ 315 w 315"/>
                <a:gd name="T57" fmla="*/ 70 h 84"/>
                <a:gd name="T58" fmla="*/ 315 w 315"/>
                <a:gd name="T59" fmla="*/ 66 h 84"/>
                <a:gd name="T60" fmla="*/ 314 w 315"/>
                <a:gd name="T61" fmla="*/ 62 h 84"/>
                <a:gd name="T62" fmla="*/ 314 w 315"/>
                <a:gd name="T63" fmla="*/ 6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15" h="84">
                  <a:moveTo>
                    <a:pt x="314" y="62"/>
                  </a:moveTo>
                  <a:lnTo>
                    <a:pt x="288" y="3"/>
                  </a:lnTo>
                  <a:lnTo>
                    <a:pt x="288" y="3"/>
                  </a:lnTo>
                  <a:lnTo>
                    <a:pt x="286" y="0"/>
                  </a:lnTo>
                  <a:lnTo>
                    <a:pt x="283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29" y="0"/>
                  </a:lnTo>
                  <a:lnTo>
                    <a:pt x="26" y="3"/>
                  </a:lnTo>
                  <a:lnTo>
                    <a:pt x="1" y="62"/>
                  </a:lnTo>
                  <a:lnTo>
                    <a:pt x="1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1" y="74"/>
                  </a:lnTo>
                  <a:lnTo>
                    <a:pt x="2" y="77"/>
                  </a:lnTo>
                  <a:lnTo>
                    <a:pt x="2" y="77"/>
                  </a:lnTo>
                  <a:lnTo>
                    <a:pt x="5" y="79"/>
                  </a:lnTo>
                  <a:lnTo>
                    <a:pt x="8" y="82"/>
                  </a:lnTo>
                  <a:lnTo>
                    <a:pt x="12" y="84"/>
                  </a:lnTo>
                  <a:lnTo>
                    <a:pt x="16" y="84"/>
                  </a:lnTo>
                  <a:lnTo>
                    <a:pt x="299" y="84"/>
                  </a:lnTo>
                  <a:lnTo>
                    <a:pt x="299" y="84"/>
                  </a:lnTo>
                  <a:lnTo>
                    <a:pt x="303" y="84"/>
                  </a:lnTo>
                  <a:lnTo>
                    <a:pt x="307" y="82"/>
                  </a:lnTo>
                  <a:lnTo>
                    <a:pt x="310" y="79"/>
                  </a:lnTo>
                  <a:lnTo>
                    <a:pt x="313" y="77"/>
                  </a:lnTo>
                  <a:lnTo>
                    <a:pt x="313" y="77"/>
                  </a:lnTo>
                  <a:lnTo>
                    <a:pt x="314" y="74"/>
                  </a:lnTo>
                  <a:lnTo>
                    <a:pt x="315" y="70"/>
                  </a:lnTo>
                  <a:lnTo>
                    <a:pt x="315" y="66"/>
                  </a:lnTo>
                  <a:lnTo>
                    <a:pt x="314" y="62"/>
                  </a:lnTo>
                  <a:lnTo>
                    <a:pt x="314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900B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4" name="Freeform 179">
              <a:extLst>
                <a:ext uri="{FF2B5EF4-FFF2-40B4-BE49-F238E27FC236}">
                  <a16:creationId xmlns:a16="http://schemas.microsoft.com/office/drawing/2014/main" id="{DE56F2D1-5123-426B-8F2D-06BC36FB98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15476" y="969963"/>
              <a:ext cx="207963" cy="149225"/>
            </a:xfrm>
            <a:custGeom>
              <a:avLst/>
              <a:gdLst>
                <a:gd name="T0" fmla="*/ 6 w 262"/>
                <a:gd name="T1" fmla="*/ 188 h 188"/>
                <a:gd name="T2" fmla="*/ 257 w 262"/>
                <a:gd name="T3" fmla="*/ 188 h 188"/>
                <a:gd name="T4" fmla="*/ 257 w 262"/>
                <a:gd name="T5" fmla="*/ 188 h 188"/>
                <a:gd name="T6" fmla="*/ 260 w 262"/>
                <a:gd name="T7" fmla="*/ 188 h 188"/>
                <a:gd name="T8" fmla="*/ 261 w 262"/>
                <a:gd name="T9" fmla="*/ 187 h 188"/>
                <a:gd name="T10" fmla="*/ 262 w 262"/>
                <a:gd name="T11" fmla="*/ 186 h 188"/>
                <a:gd name="T12" fmla="*/ 262 w 262"/>
                <a:gd name="T13" fmla="*/ 183 h 188"/>
                <a:gd name="T14" fmla="*/ 262 w 262"/>
                <a:gd name="T15" fmla="*/ 26 h 188"/>
                <a:gd name="T16" fmla="*/ 262 w 262"/>
                <a:gd name="T17" fmla="*/ 26 h 188"/>
                <a:gd name="T18" fmla="*/ 262 w 262"/>
                <a:gd name="T19" fmla="*/ 21 h 188"/>
                <a:gd name="T20" fmla="*/ 261 w 262"/>
                <a:gd name="T21" fmla="*/ 15 h 188"/>
                <a:gd name="T22" fmla="*/ 258 w 262"/>
                <a:gd name="T23" fmla="*/ 11 h 188"/>
                <a:gd name="T24" fmla="*/ 254 w 262"/>
                <a:gd name="T25" fmla="*/ 7 h 188"/>
                <a:gd name="T26" fmla="*/ 250 w 262"/>
                <a:gd name="T27" fmla="*/ 4 h 188"/>
                <a:gd name="T28" fmla="*/ 246 w 262"/>
                <a:gd name="T29" fmla="*/ 2 h 188"/>
                <a:gd name="T30" fmla="*/ 241 w 262"/>
                <a:gd name="T31" fmla="*/ 0 h 188"/>
                <a:gd name="T32" fmla="*/ 237 w 262"/>
                <a:gd name="T33" fmla="*/ 0 h 188"/>
                <a:gd name="T34" fmla="*/ 26 w 262"/>
                <a:gd name="T35" fmla="*/ 0 h 188"/>
                <a:gd name="T36" fmla="*/ 26 w 262"/>
                <a:gd name="T37" fmla="*/ 0 h 188"/>
                <a:gd name="T38" fmla="*/ 22 w 262"/>
                <a:gd name="T39" fmla="*/ 0 h 188"/>
                <a:gd name="T40" fmla="*/ 17 w 262"/>
                <a:gd name="T41" fmla="*/ 2 h 188"/>
                <a:gd name="T42" fmla="*/ 13 w 262"/>
                <a:gd name="T43" fmla="*/ 4 h 188"/>
                <a:gd name="T44" fmla="*/ 8 w 262"/>
                <a:gd name="T45" fmla="*/ 7 h 188"/>
                <a:gd name="T46" fmla="*/ 4 w 262"/>
                <a:gd name="T47" fmla="*/ 11 h 188"/>
                <a:gd name="T48" fmla="*/ 3 w 262"/>
                <a:gd name="T49" fmla="*/ 15 h 188"/>
                <a:gd name="T50" fmla="*/ 0 w 262"/>
                <a:gd name="T51" fmla="*/ 21 h 188"/>
                <a:gd name="T52" fmla="*/ 0 w 262"/>
                <a:gd name="T53" fmla="*/ 26 h 188"/>
                <a:gd name="T54" fmla="*/ 0 w 262"/>
                <a:gd name="T55" fmla="*/ 183 h 188"/>
                <a:gd name="T56" fmla="*/ 0 w 262"/>
                <a:gd name="T57" fmla="*/ 183 h 188"/>
                <a:gd name="T58" fmla="*/ 0 w 262"/>
                <a:gd name="T59" fmla="*/ 186 h 188"/>
                <a:gd name="T60" fmla="*/ 2 w 262"/>
                <a:gd name="T61" fmla="*/ 187 h 188"/>
                <a:gd name="T62" fmla="*/ 3 w 262"/>
                <a:gd name="T63" fmla="*/ 188 h 188"/>
                <a:gd name="T64" fmla="*/ 6 w 262"/>
                <a:gd name="T65" fmla="*/ 188 h 188"/>
                <a:gd name="T66" fmla="*/ 6 w 262"/>
                <a:gd name="T67" fmla="*/ 188 h 188"/>
                <a:gd name="T68" fmla="*/ 18 w 262"/>
                <a:gd name="T69" fmla="*/ 25 h 188"/>
                <a:gd name="T70" fmla="*/ 18 w 262"/>
                <a:gd name="T71" fmla="*/ 25 h 188"/>
                <a:gd name="T72" fmla="*/ 18 w 262"/>
                <a:gd name="T73" fmla="*/ 22 h 188"/>
                <a:gd name="T74" fmla="*/ 19 w 262"/>
                <a:gd name="T75" fmla="*/ 21 h 188"/>
                <a:gd name="T76" fmla="*/ 21 w 262"/>
                <a:gd name="T77" fmla="*/ 19 h 188"/>
                <a:gd name="T78" fmla="*/ 23 w 262"/>
                <a:gd name="T79" fmla="*/ 19 h 188"/>
                <a:gd name="T80" fmla="*/ 240 w 262"/>
                <a:gd name="T81" fmla="*/ 19 h 188"/>
                <a:gd name="T82" fmla="*/ 240 w 262"/>
                <a:gd name="T83" fmla="*/ 19 h 188"/>
                <a:gd name="T84" fmla="*/ 241 w 262"/>
                <a:gd name="T85" fmla="*/ 19 h 188"/>
                <a:gd name="T86" fmla="*/ 244 w 262"/>
                <a:gd name="T87" fmla="*/ 21 h 188"/>
                <a:gd name="T88" fmla="*/ 244 w 262"/>
                <a:gd name="T89" fmla="*/ 22 h 188"/>
                <a:gd name="T90" fmla="*/ 245 w 262"/>
                <a:gd name="T91" fmla="*/ 25 h 188"/>
                <a:gd name="T92" fmla="*/ 245 w 262"/>
                <a:gd name="T93" fmla="*/ 166 h 188"/>
                <a:gd name="T94" fmla="*/ 245 w 262"/>
                <a:gd name="T95" fmla="*/ 166 h 188"/>
                <a:gd name="T96" fmla="*/ 244 w 262"/>
                <a:gd name="T97" fmla="*/ 167 h 188"/>
                <a:gd name="T98" fmla="*/ 244 w 262"/>
                <a:gd name="T99" fmla="*/ 170 h 188"/>
                <a:gd name="T100" fmla="*/ 241 w 262"/>
                <a:gd name="T101" fmla="*/ 170 h 188"/>
                <a:gd name="T102" fmla="*/ 240 w 262"/>
                <a:gd name="T103" fmla="*/ 171 h 188"/>
                <a:gd name="T104" fmla="*/ 23 w 262"/>
                <a:gd name="T105" fmla="*/ 171 h 188"/>
                <a:gd name="T106" fmla="*/ 23 w 262"/>
                <a:gd name="T107" fmla="*/ 171 h 188"/>
                <a:gd name="T108" fmla="*/ 21 w 262"/>
                <a:gd name="T109" fmla="*/ 170 h 188"/>
                <a:gd name="T110" fmla="*/ 19 w 262"/>
                <a:gd name="T111" fmla="*/ 170 h 188"/>
                <a:gd name="T112" fmla="*/ 18 w 262"/>
                <a:gd name="T113" fmla="*/ 167 h 188"/>
                <a:gd name="T114" fmla="*/ 18 w 262"/>
                <a:gd name="T115" fmla="*/ 166 h 188"/>
                <a:gd name="T116" fmla="*/ 18 w 262"/>
                <a:gd name="T117" fmla="*/ 2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62" h="188">
                  <a:moveTo>
                    <a:pt x="6" y="188"/>
                  </a:moveTo>
                  <a:lnTo>
                    <a:pt x="257" y="188"/>
                  </a:lnTo>
                  <a:lnTo>
                    <a:pt x="257" y="188"/>
                  </a:lnTo>
                  <a:lnTo>
                    <a:pt x="260" y="188"/>
                  </a:lnTo>
                  <a:lnTo>
                    <a:pt x="261" y="187"/>
                  </a:lnTo>
                  <a:lnTo>
                    <a:pt x="262" y="186"/>
                  </a:lnTo>
                  <a:lnTo>
                    <a:pt x="262" y="183"/>
                  </a:lnTo>
                  <a:lnTo>
                    <a:pt x="262" y="26"/>
                  </a:lnTo>
                  <a:lnTo>
                    <a:pt x="262" y="26"/>
                  </a:lnTo>
                  <a:lnTo>
                    <a:pt x="262" y="21"/>
                  </a:lnTo>
                  <a:lnTo>
                    <a:pt x="261" y="15"/>
                  </a:lnTo>
                  <a:lnTo>
                    <a:pt x="258" y="11"/>
                  </a:lnTo>
                  <a:lnTo>
                    <a:pt x="254" y="7"/>
                  </a:lnTo>
                  <a:lnTo>
                    <a:pt x="250" y="4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37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7" y="2"/>
                  </a:lnTo>
                  <a:lnTo>
                    <a:pt x="13" y="4"/>
                  </a:lnTo>
                  <a:lnTo>
                    <a:pt x="8" y="7"/>
                  </a:lnTo>
                  <a:lnTo>
                    <a:pt x="4" y="11"/>
                  </a:lnTo>
                  <a:lnTo>
                    <a:pt x="3" y="15"/>
                  </a:lnTo>
                  <a:lnTo>
                    <a:pt x="0" y="21"/>
                  </a:lnTo>
                  <a:lnTo>
                    <a:pt x="0" y="26"/>
                  </a:lnTo>
                  <a:lnTo>
                    <a:pt x="0" y="183"/>
                  </a:lnTo>
                  <a:lnTo>
                    <a:pt x="0" y="183"/>
                  </a:lnTo>
                  <a:lnTo>
                    <a:pt x="0" y="186"/>
                  </a:lnTo>
                  <a:lnTo>
                    <a:pt x="2" y="187"/>
                  </a:lnTo>
                  <a:lnTo>
                    <a:pt x="3" y="188"/>
                  </a:lnTo>
                  <a:lnTo>
                    <a:pt x="6" y="188"/>
                  </a:lnTo>
                  <a:lnTo>
                    <a:pt x="6" y="188"/>
                  </a:lnTo>
                  <a:close/>
                  <a:moveTo>
                    <a:pt x="18" y="25"/>
                  </a:moveTo>
                  <a:lnTo>
                    <a:pt x="18" y="25"/>
                  </a:lnTo>
                  <a:lnTo>
                    <a:pt x="18" y="22"/>
                  </a:lnTo>
                  <a:lnTo>
                    <a:pt x="19" y="21"/>
                  </a:lnTo>
                  <a:lnTo>
                    <a:pt x="21" y="19"/>
                  </a:lnTo>
                  <a:lnTo>
                    <a:pt x="23" y="19"/>
                  </a:lnTo>
                  <a:lnTo>
                    <a:pt x="240" y="19"/>
                  </a:lnTo>
                  <a:lnTo>
                    <a:pt x="240" y="19"/>
                  </a:lnTo>
                  <a:lnTo>
                    <a:pt x="241" y="19"/>
                  </a:lnTo>
                  <a:lnTo>
                    <a:pt x="244" y="21"/>
                  </a:lnTo>
                  <a:lnTo>
                    <a:pt x="244" y="22"/>
                  </a:lnTo>
                  <a:lnTo>
                    <a:pt x="245" y="25"/>
                  </a:lnTo>
                  <a:lnTo>
                    <a:pt x="245" y="166"/>
                  </a:lnTo>
                  <a:lnTo>
                    <a:pt x="245" y="166"/>
                  </a:lnTo>
                  <a:lnTo>
                    <a:pt x="244" y="167"/>
                  </a:lnTo>
                  <a:lnTo>
                    <a:pt x="244" y="170"/>
                  </a:lnTo>
                  <a:lnTo>
                    <a:pt x="241" y="170"/>
                  </a:lnTo>
                  <a:lnTo>
                    <a:pt x="240" y="171"/>
                  </a:lnTo>
                  <a:lnTo>
                    <a:pt x="23" y="171"/>
                  </a:lnTo>
                  <a:lnTo>
                    <a:pt x="23" y="171"/>
                  </a:lnTo>
                  <a:lnTo>
                    <a:pt x="21" y="170"/>
                  </a:lnTo>
                  <a:lnTo>
                    <a:pt x="19" y="170"/>
                  </a:lnTo>
                  <a:lnTo>
                    <a:pt x="18" y="167"/>
                  </a:lnTo>
                  <a:lnTo>
                    <a:pt x="18" y="166"/>
                  </a:lnTo>
                  <a:lnTo>
                    <a:pt x="18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900B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70" name="Group 61">
            <a:extLst>
              <a:ext uri="{FF2B5EF4-FFF2-40B4-BE49-F238E27FC236}">
                <a16:creationId xmlns:a16="http://schemas.microsoft.com/office/drawing/2014/main" id="{C1346F6A-DC07-4124-8413-8B305C5D580A}"/>
              </a:ext>
            </a:extLst>
          </p:cNvPr>
          <p:cNvGrpSpPr>
            <a:grpSpLocks noChangeAspect="1"/>
          </p:cNvGrpSpPr>
          <p:nvPr/>
        </p:nvGrpSpPr>
        <p:grpSpPr>
          <a:xfrm>
            <a:off x="11108913" y="990589"/>
            <a:ext cx="522288" cy="522288"/>
            <a:chOff x="6716713" y="822325"/>
            <a:chExt cx="522288" cy="522288"/>
          </a:xfrm>
          <a:solidFill>
            <a:schemeClr val="accent4"/>
          </a:solidFill>
        </p:grpSpPr>
        <p:sp>
          <p:nvSpPr>
            <p:cNvPr id="76" name="Freeform 34">
              <a:extLst>
                <a:ext uri="{FF2B5EF4-FFF2-40B4-BE49-F238E27FC236}">
                  <a16:creationId xmlns:a16="http://schemas.microsoft.com/office/drawing/2014/main" id="{078646C5-75F2-4409-AD76-CDDE4E8138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16713" y="822325"/>
              <a:ext cx="522288" cy="522288"/>
            </a:xfrm>
            <a:custGeom>
              <a:avLst/>
              <a:gdLst>
                <a:gd name="T0" fmla="*/ 312 w 659"/>
                <a:gd name="T1" fmla="*/ 658 h 658"/>
                <a:gd name="T2" fmla="*/ 264 w 659"/>
                <a:gd name="T3" fmla="*/ 652 h 658"/>
                <a:gd name="T4" fmla="*/ 202 w 659"/>
                <a:gd name="T5" fmla="*/ 633 h 658"/>
                <a:gd name="T6" fmla="*/ 120 w 659"/>
                <a:gd name="T7" fmla="*/ 583 h 658"/>
                <a:gd name="T8" fmla="*/ 57 w 659"/>
                <a:gd name="T9" fmla="*/ 513 h 658"/>
                <a:gd name="T10" fmla="*/ 15 w 659"/>
                <a:gd name="T11" fmla="*/ 427 h 658"/>
                <a:gd name="T12" fmla="*/ 5 w 659"/>
                <a:gd name="T13" fmla="*/ 379 h 658"/>
                <a:gd name="T14" fmla="*/ 0 w 659"/>
                <a:gd name="T15" fmla="*/ 329 h 658"/>
                <a:gd name="T16" fmla="*/ 3 w 659"/>
                <a:gd name="T17" fmla="*/ 296 h 658"/>
                <a:gd name="T18" fmla="*/ 11 w 659"/>
                <a:gd name="T19" fmla="*/ 247 h 658"/>
                <a:gd name="T20" fmla="*/ 41 w 659"/>
                <a:gd name="T21" fmla="*/ 173 h 658"/>
                <a:gd name="T22" fmla="*/ 97 w 659"/>
                <a:gd name="T23" fmla="*/ 97 h 658"/>
                <a:gd name="T24" fmla="*/ 172 w 659"/>
                <a:gd name="T25" fmla="*/ 40 h 658"/>
                <a:gd name="T26" fmla="*/ 248 w 659"/>
                <a:gd name="T27" fmla="*/ 11 h 658"/>
                <a:gd name="T28" fmla="*/ 296 w 659"/>
                <a:gd name="T29" fmla="*/ 3 h 658"/>
                <a:gd name="T30" fmla="*/ 330 w 659"/>
                <a:gd name="T31" fmla="*/ 0 h 658"/>
                <a:gd name="T32" fmla="*/ 379 w 659"/>
                <a:gd name="T33" fmla="*/ 4 h 658"/>
                <a:gd name="T34" fmla="*/ 428 w 659"/>
                <a:gd name="T35" fmla="*/ 15 h 658"/>
                <a:gd name="T36" fmla="*/ 514 w 659"/>
                <a:gd name="T37" fmla="*/ 56 h 658"/>
                <a:gd name="T38" fmla="*/ 584 w 659"/>
                <a:gd name="T39" fmla="*/ 121 h 658"/>
                <a:gd name="T40" fmla="*/ 633 w 659"/>
                <a:gd name="T41" fmla="*/ 202 h 658"/>
                <a:gd name="T42" fmla="*/ 652 w 659"/>
                <a:gd name="T43" fmla="*/ 263 h 658"/>
                <a:gd name="T44" fmla="*/ 657 w 659"/>
                <a:gd name="T45" fmla="*/ 313 h 658"/>
                <a:gd name="T46" fmla="*/ 657 w 659"/>
                <a:gd name="T47" fmla="*/ 347 h 658"/>
                <a:gd name="T48" fmla="*/ 652 w 659"/>
                <a:gd name="T49" fmla="*/ 396 h 658"/>
                <a:gd name="T50" fmla="*/ 633 w 659"/>
                <a:gd name="T51" fmla="*/ 457 h 658"/>
                <a:gd name="T52" fmla="*/ 584 w 659"/>
                <a:gd name="T53" fmla="*/ 539 h 658"/>
                <a:gd name="T54" fmla="*/ 514 w 659"/>
                <a:gd name="T55" fmla="*/ 602 h 658"/>
                <a:gd name="T56" fmla="*/ 428 w 659"/>
                <a:gd name="T57" fmla="*/ 644 h 658"/>
                <a:gd name="T58" fmla="*/ 379 w 659"/>
                <a:gd name="T59" fmla="*/ 654 h 658"/>
                <a:gd name="T60" fmla="*/ 330 w 659"/>
                <a:gd name="T61" fmla="*/ 658 h 658"/>
                <a:gd name="T62" fmla="*/ 330 w 659"/>
                <a:gd name="T63" fmla="*/ 38 h 658"/>
                <a:gd name="T64" fmla="*/ 244 w 659"/>
                <a:gd name="T65" fmla="*/ 51 h 658"/>
                <a:gd name="T66" fmla="*/ 167 w 659"/>
                <a:gd name="T67" fmla="*/ 89 h 658"/>
                <a:gd name="T68" fmla="*/ 105 w 659"/>
                <a:gd name="T69" fmla="*/ 144 h 658"/>
                <a:gd name="T70" fmla="*/ 61 w 659"/>
                <a:gd name="T71" fmla="*/ 216 h 658"/>
                <a:gd name="T72" fmla="*/ 39 w 659"/>
                <a:gd name="T73" fmla="*/ 300 h 658"/>
                <a:gd name="T74" fmla="*/ 39 w 659"/>
                <a:gd name="T75" fmla="*/ 359 h 658"/>
                <a:gd name="T76" fmla="*/ 61 w 659"/>
                <a:gd name="T77" fmla="*/ 443 h 658"/>
                <a:gd name="T78" fmla="*/ 105 w 659"/>
                <a:gd name="T79" fmla="*/ 515 h 658"/>
                <a:gd name="T80" fmla="*/ 167 w 659"/>
                <a:gd name="T81" fmla="*/ 571 h 658"/>
                <a:gd name="T82" fmla="*/ 244 w 659"/>
                <a:gd name="T83" fmla="*/ 607 h 658"/>
                <a:gd name="T84" fmla="*/ 330 w 659"/>
                <a:gd name="T85" fmla="*/ 621 h 658"/>
                <a:gd name="T86" fmla="*/ 389 w 659"/>
                <a:gd name="T87" fmla="*/ 615 h 658"/>
                <a:gd name="T88" fmla="*/ 468 w 659"/>
                <a:gd name="T89" fmla="*/ 586 h 658"/>
                <a:gd name="T90" fmla="*/ 535 w 659"/>
                <a:gd name="T91" fmla="*/ 535 h 658"/>
                <a:gd name="T92" fmla="*/ 586 w 659"/>
                <a:gd name="T93" fmla="*/ 468 h 658"/>
                <a:gd name="T94" fmla="*/ 614 w 659"/>
                <a:gd name="T95" fmla="*/ 388 h 658"/>
                <a:gd name="T96" fmla="*/ 621 w 659"/>
                <a:gd name="T97" fmla="*/ 329 h 658"/>
                <a:gd name="T98" fmla="*/ 608 w 659"/>
                <a:gd name="T99" fmla="*/ 243 h 658"/>
                <a:gd name="T100" fmla="*/ 571 w 659"/>
                <a:gd name="T101" fmla="*/ 167 h 658"/>
                <a:gd name="T102" fmla="*/ 515 w 659"/>
                <a:gd name="T103" fmla="*/ 105 h 658"/>
                <a:gd name="T104" fmla="*/ 442 w 659"/>
                <a:gd name="T105" fmla="*/ 62 h 658"/>
                <a:gd name="T106" fmla="*/ 359 w 659"/>
                <a:gd name="T107" fmla="*/ 40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9" h="658">
                  <a:moveTo>
                    <a:pt x="330" y="658"/>
                  </a:moveTo>
                  <a:lnTo>
                    <a:pt x="330" y="658"/>
                  </a:lnTo>
                  <a:lnTo>
                    <a:pt x="312" y="658"/>
                  </a:lnTo>
                  <a:lnTo>
                    <a:pt x="296" y="657"/>
                  </a:lnTo>
                  <a:lnTo>
                    <a:pt x="280" y="654"/>
                  </a:lnTo>
                  <a:lnTo>
                    <a:pt x="264" y="652"/>
                  </a:lnTo>
                  <a:lnTo>
                    <a:pt x="248" y="648"/>
                  </a:lnTo>
                  <a:lnTo>
                    <a:pt x="232" y="644"/>
                  </a:lnTo>
                  <a:lnTo>
                    <a:pt x="202" y="633"/>
                  </a:lnTo>
                  <a:lnTo>
                    <a:pt x="172" y="618"/>
                  </a:lnTo>
                  <a:lnTo>
                    <a:pt x="146" y="602"/>
                  </a:lnTo>
                  <a:lnTo>
                    <a:pt x="120" y="583"/>
                  </a:lnTo>
                  <a:lnTo>
                    <a:pt x="97" y="562"/>
                  </a:lnTo>
                  <a:lnTo>
                    <a:pt x="76" y="539"/>
                  </a:lnTo>
                  <a:lnTo>
                    <a:pt x="57" y="513"/>
                  </a:lnTo>
                  <a:lnTo>
                    <a:pt x="41" y="486"/>
                  </a:lnTo>
                  <a:lnTo>
                    <a:pt x="26" y="457"/>
                  </a:lnTo>
                  <a:lnTo>
                    <a:pt x="15" y="427"/>
                  </a:lnTo>
                  <a:lnTo>
                    <a:pt x="11" y="411"/>
                  </a:lnTo>
                  <a:lnTo>
                    <a:pt x="7" y="396"/>
                  </a:lnTo>
                  <a:lnTo>
                    <a:pt x="5" y="379"/>
                  </a:lnTo>
                  <a:lnTo>
                    <a:pt x="3" y="363"/>
                  </a:lnTo>
                  <a:lnTo>
                    <a:pt x="2" y="347"/>
                  </a:lnTo>
                  <a:lnTo>
                    <a:pt x="0" y="329"/>
                  </a:lnTo>
                  <a:lnTo>
                    <a:pt x="0" y="329"/>
                  </a:lnTo>
                  <a:lnTo>
                    <a:pt x="2" y="313"/>
                  </a:lnTo>
                  <a:lnTo>
                    <a:pt x="3" y="296"/>
                  </a:lnTo>
                  <a:lnTo>
                    <a:pt x="5" y="279"/>
                  </a:lnTo>
                  <a:lnTo>
                    <a:pt x="7" y="263"/>
                  </a:lnTo>
                  <a:lnTo>
                    <a:pt x="11" y="247"/>
                  </a:lnTo>
                  <a:lnTo>
                    <a:pt x="15" y="232"/>
                  </a:lnTo>
                  <a:lnTo>
                    <a:pt x="26" y="202"/>
                  </a:lnTo>
                  <a:lnTo>
                    <a:pt x="41" y="173"/>
                  </a:lnTo>
                  <a:lnTo>
                    <a:pt x="57" y="145"/>
                  </a:lnTo>
                  <a:lnTo>
                    <a:pt x="76" y="121"/>
                  </a:lnTo>
                  <a:lnTo>
                    <a:pt x="97" y="97"/>
                  </a:lnTo>
                  <a:lnTo>
                    <a:pt x="120" y="75"/>
                  </a:lnTo>
                  <a:lnTo>
                    <a:pt x="146" y="56"/>
                  </a:lnTo>
                  <a:lnTo>
                    <a:pt x="172" y="40"/>
                  </a:lnTo>
                  <a:lnTo>
                    <a:pt x="202" y="27"/>
                  </a:lnTo>
                  <a:lnTo>
                    <a:pt x="232" y="15"/>
                  </a:lnTo>
                  <a:lnTo>
                    <a:pt x="248" y="11"/>
                  </a:lnTo>
                  <a:lnTo>
                    <a:pt x="264" y="7"/>
                  </a:lnTo>
                  <a:lnTo>
                    <a:pt x="280" y="4"/>
                  </a:lnTo>
                  <a:lnTo>
                    <a:pt x="296" y="3"/>
                  </a:lnTo>
                  <a:lnTo>
                    <a:pt x="312" y="1"/>
                  </a:lnTo>
                  <a:lnTo>
                    <a:pt x="330" y="0"/>
                  </a:lnTo>
                  <a:lnTo>
                    <a:pt x="330" y="0"/>
                  </a:lnTo>
                  <a:lnTo>
                    <a:pt x="347" y="1"/>
                  </a:lnTo>
                  <a:lnTo>
                    <a:pt x="363" y="3"/>
                  </a:lnTo>
                  <a:lnTo>
                    <a:pt x="379" y="4"/>
                  </a:lnTo>
                  <a:lnTo>
                    <a:pt x="395" y="7"/>
                  </a:lnTo>
                  <a:lnTo>
                    <a:pt x="412" y="11"/>
                  </a:lnTo>
                  <a:lnTo>
                    <a:pt x="428" y="15"/>
                  </a:lnTo>
                  <a:lnTo>
                    <a:pt x="457" y="27"/>
                  </a:lnTo>
                  <a:lnTo>
                    <a:pt x="487" y="40"/>
                  </a:lnTo>
                  <a:lnTo>
                    <a:pt x="514" y="56"/>
                  </a:lnTo>
                  <a:lnTo>
                    <a:pt x="539" y="75"/>
                  </a:lnTo>
                  <a:lnTo>
                    <a:pt x="562" y="97"/>
                  </a:lnTo>
                  <a:lnTo>
                    <a:pt x="584" y="121"/>
                  </a:lnTo>
                  <a:lnTo>
                    <a:pt x="602" y="145"/>
                  </a:lnTo>
                  <a:lnTo>
                    <a:pt x="618" y="173"/>
                  </a:lnTo>
                  <a:lnTo>
                    <a:pt x="633" y="202"/>
                  </a:lnTo>
                  <a:lnTo>
                    <a:pt x="644" y="232"/>
                  </a:lnTo>
                  <a:lnTo>
                    <a:pt x="648" y="247"/>
                  </a:lnTo>
                  <a:lnTo>
                    <a:pt x="652" y="263"/>
                  </a:lnTo>
                  <a:lnTo>
                    <a:pt x="655" y="279"/>
                  </a:lnTo>
                  <a:lnTo>
                    <a:pt x="656" y="296"/>
                  </a:lnTo>
                  <a:lnTo>
                    <a:pt x="657" y="313"/>
                  </a:lnTo>
                  <a:lnTo>
                    <a:pt x="659" y="329"/>
                  </a:lnTo>
                  <a:lnTo>
                    <a:pt x="659" y="329"/>
                  </a:lnTo>
                  <a:lnTo>
                    <a:pt x="657" y="347"/>
                  </a:lnTo>
                  <a:lnTo>
                    <a:pt x="656" y="363"/>
                  </a:lnTo>
                  <a:lnTo>
                    <a:pt x="655" y="379"/>
                  </a:lnTo>
                  <a:lnTo>
                    <a:pt x="652" y="396"/>
                  </a:lnTo>
                  <a:lnTo>
                    <a:pt x="648" y="411"/>
                  </a:lnTo>
                  <a:lnTo>
                    <a:pt x="644" y="427"/>
                  </a:lnTo>
                  <a:lnTo>
                    <a:pt x="633" y="457"/>
                  </a:lnTo>
                  <a:lnTo>
                    <a:pt x="618" y="486"/>
                  </a:lnTo>
                  <a:lnTo>
                    <a:pt x="602" y="513"/>
                  </a:lnTo>
                  <a:lnTo>
                    <a:pt x="584" y="539"/>
                  </a:lnTo>
                  <a:lnTo>
                    <a:pt x="562" y="562"/>
                  </a:lnTo>
                  <a:lnTo>
                    <a:pt x="539" y="583"/>
                  </a:lnTo>
                  <a:lnTo>
                    <a:pt x="514" y="602"/>
                  </a:lnTo>
                  <a:lnTo>
                    <a:pt x="487" y="618"/>
                  </a:lnTo>
                  <a:lnTo>
                    <a:pt x="457" y="633"/>
                  </a:lnTo>
                  <a:lnTo>
                    <a:pt x="428" y="644"/>
                  </a:lnTo>
                  <a:lnTo>
                    <a:pt x="412" y="648"/>
                  </a:lnTo>
                  <a:lnTo>
                    <a:pt x="395" y="652"/>
                  </a:lnTo>
                  <a:lnTo>
                    <a:pt x="379" y="654"/>
                  </a:lnTo>
                  <a:lnTo>
                    <a:pt x="363" y="657"/>
                  </a:lnTo>
                  <a:lnTo>
                    <a:pt x="347" y="658"/>
                  </a:lnTo>
                  <a:lnTo>
                    <a:pt x="330" y="658"/>
                  </a:lnTo>
                  <a:lnTo>
                    <a:pt x="330" y="658"/>
                  </a:lnTo>
                  <a:close/>
                  <a:moveTo>
                    <a:pt x="330" y="38"/>
                  </a:moveTo>
                  <a:lnTo>
                    <a:pt x="330" y="38"/>
                  </a:lnTo>
                  <a:lnTo>
                    <a:pt x="300" y="40"/>
                  </a:lnTo>
                  <a:lnTo>
                    <a:pt x="271" y="44"/>
                  </a:lnTo>
                  <a:lnTo>
                    <a:pt x="244" y="51"/>
                  </a:lnTo>
                  <a:lnTo>
                    <a:pt x="217" y="62"/>
                  </a:lnTo>
                  <a:lnTo>
                    <a:pt x="191" y="74"/>
                  </a:lnTo>
                  <a:lnTo>
                    <a:pt x="167" y="89"/>
                  </a:lnTo>
                  <a:lnTo>
                    <a:pt x="144" y="105"/>
                  </a:lnTo>
                  <a:lnTo>
                    <a:pt x="124" y="124"/>
                  </a:lnTo>
                  <a:lnTo>
                    <a:pt x="105" y="144"/>
                  </a:lnTo>
                  <a:lnTo>
                    <a:pt x="88" y="167"/>
                  </a:lnTo>
                  <a:lnTo>
                    <a:pt x="73" y="191"/>
                  </a:lnTo>
                  <a:lnTo>
                    <a:pt x="61" y="216"/>
                  </a:lnTo>
                  <a:lnTo>
                    <a:pt x="52" y="243"/>
                  </a:lnTo>
                  <a:lnTo>
                    <a:pt x="45" y="271"/>
                  </a:lnTo>
                  <a:lnTo>
                    <a:pt x="39" y="300"/>
                  </a:lnTo>
                  <a:lnTo>
                    <a:pt x="38" y="329"/>
                  </a:lnTo>
                  <a:lnTo>
                    <a:pt x="38" y="329"/>
                  </a:lnTo>
                  <a:lnTo>
                    <a:pt x="39" y="359"/>
                  </a:lnTo>
                  <a:lnTo>
                    <a:pt x="45" y="388"/>
                  </a:lnTo>
                  <a:lnTo>
                    <a:pt x="52" y="416"/>
                  </a:lnTo>
                  <a:lnTo>
                    <a:pt x="61" y="443"/>
                  </a:lnTo>
                  <a:lnTo>
                    <a:pt x="73" y="468"/>
                  </a:lnTo>
                  <a:lnTo>
                    <a:pt x="88" y="492"/>
                  </a:lnTo>
                  <a:lnTo>
                    <a:pt x="105" y="515"/>
                  </a:lnTo>
                  <a:lnTo>
                    <a:pt x="124" y="535"/>
                  </a:lnTo>
                  <a:lnTo>
                    <a:pt x="144" y="553"/>
                  </a:lnTo>
                  <a:lnTo>
                    <a:pt x="167" y="571"/>
                  </a:lnTo>
                  <a:lnTo>
                    <a:pt x="191" y="586"/>
                  </a:lnTo>
                  <a:lnTo>
                    <a:pt x="217" y="598"/>
                  </a:lnTo>
                  <a:lnTo>
                    <a:pt x="244" y="607"/>
                  </a:lnTo>
                  <a:lnTo>
                    <a:pt x="271" y="615"/>
                  </a:lnTo>
                  <a:lnTo>
                    <a:pt x="300" y="619"/>
                  </a:lnTo>
                  <a:lnTo>
                    <a:pt x="330" y="621"/>
                  </a:lnTo>
                  <a:lnTo>
                    <a:pt x="330" y="621"/>
                  </a:lnTo>
                  <a:lnTo>
                    <a:pt x="359" y="619"/>
                  </a:lnTo>
                  <a:lnTo>
                    <a:pt x="389" y="615"/>
                  </a:lnTo>
                  <a:lnTo>
                    <a:pt x="416" y="607"/>
                  </a:lnTo>
                  <a:lnTo>
                    <a:pt x="442" y="598"/>
                  </a:lnTo>
                  <a:lnTo>
                    <a:pt x="468" y="586"/>
                  </a:lnTo>
                  <a:lnTo>
                    <a:pt x="492" y="571"/>
                  </a:lnTo>
                  <a:lnTo>
                    <a:pt x="515" y="553"/>
                  </a:lnTo>
                  <a:lnTo>
                    <a:pt x="535" y="535"/>
                  </a:lnTo>
                  <a:lnTo>
                    <a:pt x="554" y="515"/>
                  </a:lnTo>
                  <a:lnTo>
                    <a:pt x="571" y="492"/>
                  </a:lnTo>
                  <a:lnTo>
                    <a:pt x="586" y="468"/>
                  </a:lnTo>
                  <a:lnTo>
                    <a:pt x="598" y="443"/>
                  </a:lnTo>
                  <a:lnTo>
                    <a:pt x="608" y="416"/>
                  </a:lnTo>
                  <a:lnTo>
                    <a:pt x="614" y="388"/>
                  </a:lnTo>
                  <a:lnTo>
                    <a:pt x="620" y="359"/>
                  </a:lnTo>
                  <a:lnTo>
                    <a:pt x="621" y="329"/>
                  </a:lnTo>
                  <a:lnTo>
                    <a:pt x="621" y="329"/>
                  </a:lnTo>
                  <a:lnTo>
                    <a:pt x="620" y="300"/>
                  </a:lnTo>
                  <a:lnTo>
                    <a:pt x="614" y="271"/>
                  </a:lnTo>
                  <a:lnTo>
                    <a:pt x="608" y="243"/>
                  </a:lnTo>
                  <a:lnTo>
                    <a:pt x="598" y="216"/>
                  </a:lnTo>
                  <a:lnTo>
                    <a:pt x="586" y="191"/>
                  </a:lnTo>
                  <a:lnTo>
                    <a:pt x="571" y="167"/>
                  </a:lnTo>
                  <a:lnTo>
                    <a:pt x="554" y="144"/>
                  </a:lnTo>
                  <a:lnTo>
                    <a:pt x="535" y="124"/>
                  </a:lnTo>
                  <a:lnTo>
                    <a:pt x="515" y="105"/>
                  </a:lnTo>
                  <a:lnTo>
                    <a:pt x="492" y="89"/>
                  </a:lnTo>
                  <a:lnTo>
                    <a:pt x="468" y="74"/>
                  </a:lnTo>
                  <a:lnTo>
                    <a:pt x="442" y="62"/>
                  </a:lnTo>
                  <a:lnTo>
                    <a:pt x="416" y="51"/>
                  </a:lnTo>
                  <a:lnTo>
                    <a:pt x="389" y="44"/>
                  </a:lnTo>
                  <a:lnTo>
                    <a:pt x="359" y="40"/>
                  </a:lnTo>
                  <a:lnTo>
                    <a:pt x="330" y="38"/>
                  </a:lnTo>
                  <a:lnTo>
                    <a:pt x="33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900B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7" name="Freeform 174">
              <a:extLst>
                <a:ext uri="{FF2B5EF4-FFF2-40B4-BE49-F238E27FC236}">
                  <a16:creationId xmlns:a16="http://schemas.microsoft.com/office/drawing/2014/main" id="{6B9C3767-1F22-4742-A7D2-BA599367BF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96101" y="960438"/>
              <a:ext cx="165100" cy="242888"/>
            </a:xfrm>
            <a:custGeom>
              <a:avLst/>
              <a:gdLst>
                <a:gd name="T0" fmla="*/ 182 w 207"/>
                <a:gd name="T1" fmla="*/ 305 h 305"/>
                <a:gd name="T2" fmla="*/ 187 w 207"/>
                <a:gd name="T3" fmla="*/ 303 h 305"/>
                <a:gd name="T4" fmla="*/ 196 w 207"/>
                <a:gd name="T5" fmla="*/ 301 h 305"/>
                <a:gd name="T6" fmla="*/ 203 w 207"/>
                <a:gd name="T7" fmla="*/ 294 h 305"/>
                <a:gd name="T8" fmla="*/ 206 w 207"/>
                <a:gd name="T9" fmla="*/ 284 h 305"/>
                <a:gd name="T10" fmla="*/ 207 w 207"/>
                <a:gd name="T11" fmla="*/ 24 h 305"/>
                <a:gd name="T12" fmla="*/ 206 w 207"/>
                <a:gd name="T13" fmla="*/ 20 h 305"/>
                <a:gd name="T14" fmla="*/ 203 w 207"/>
                <a:gd name="T15" fmla="*/ 10 h 305"/>
                <a:gd name="T16" fmla="*/ 196 w 207"/>
                <a:gd name="T17" fmla="*/ 4 h 305"/>
                <a:gd name="T18" fmla="*/ 187 w 207"/>
                <a:gd name="T19" fmla="*/ 1 h 305"/>
                <a:gd name="T20" fmla="*/ 26 w 207"/>
                <a:gd name="T21" fmla="*/ 0 h 305"/>
                <a:gd name="T22" fmla="*/ 20 w 207"/>
                <a:gd name="T23" fmla="*/ 1 h 305"/>
                <a:gd name="T24" fmla="*/ 11 w 207"/>
                <a:gd name="T25" fmla="*/ 4 h 305"/>
                <a:gd name="T26" fmla="*/ 4 w 207"/>
                <a:gd name="T27" fmla="*/ 10 h 305"/>
                <a:gd name="T28" fmla="*/ 2 w 207"/>
                <a:gd name="T29" fmla="*/ 20 h 305"/>
                <a:gd name="T30" fmla="*/ 0 w 207"/>
                <a:gd name="T31" fmla="*/ 279 h 305"/>
                <a:gd name="T32" fmla="*/ 2 w 207"/>
                <a:gd name="T33" fmla="*/ 284 h 305"/>
                <a:gd name="T34" fmla="*/ 4 w 207"/>
                <a:gd name="T35" fmla="*/ 294 h 305"/>
                <a:gd name="T36" fmla="*/ 11 w 207"/>
                <a:gd name="T37" fmla="*/ 301 h 305"/>
                <a:gd name="T38" fmla="*/ 20 w 207"/>
                <a:gd name="T39" fmla="*/ 303 h 305"/>
                <a:gd name="T40" fmla="*/ 26 w 207"/>
                <a:gd name="T41" fmla="*/ 305 h 305"/>
                <a:gd name="T42" fmla="*/ 104 w 207"/>
                <a:gd name="T43" fmla="*/ 294 h 305"/>
                <a:gd name="T44" fmla="*/ 93 w 207"/>
                <a:gd name="T45" fmla="*/ 290 h 305"/>
                <a:gd name="T46" fmla="*/ 89 w 207"/>
                <a:gd name="T47" fmla="*/ 279 h 305"/>
                <a:gd name="T48" fmla="*/ 90 w 207"/>
                <a:gd name="T49" fmla="*/ 274 h 305"/>
                <a:gd name="T50" fmla="*/ 98 w 207"/>
                <a:gd name="T51" fmla="*/ 266 h 305"/>
                <a:gd name="T52" fmla="*/ 104 w 207"/>
                <a:gd name="T53" fmla="*/ 266 h 305"/>
                <a:gd name="T54" fmla="*/ 114 w 207"/>
                <a:gd name="T55" fmla="*/ 270 h 305"/>
                <a:gd name="T56" fmla="*/ 118 w 207"/>
                <a:gd name="T57" fmla="*/ 279 h 305"/>
                <a:gd name="T58" fmla="*/ 117 w 207"/>
                <a:gd name="T59" fmla="*/ 286 h 305"/>
                <a:gd name="T60" fmla="*/ 109 w 207"/>
                <a:gd name="T61" fmla="*/ 294 h 305"/>
                <a:gd name="T62" fmla="*/ 104 w 207"/>
                <a:gd name="T63" fmla="*/ 294 h 305"/>
                <a:gd name="T64" fmla="*/ 19 w 207"/>
                <a:gd name="T65" fmla="*/ 22 h 305"/>
                <a:gd name="T66" fmla="*/ 23 w 207"/>
                <a:gd name="T67" fmla="*/ 18 h 305"/>
                <a:gd name="T68" fmla="*/ 184 w 207"/>
                <a:gd name="T69" fmla="*/ 18 h 305"/>
                <a:gd name="T70" fmla="*/ 188 w 207"/>
                <a:gd name="T71" fmla="*/ 22 h 305"/>
                <a:gd name="T72" fmla="*/ 188 w 207"/>
                <a:gd name="T73" fmla="*/ 241 h 305"/>
                <a:gd name="T74" fmla="*/ 184 w 207"/>
                <a:gd name="T75" fmla="*/ 245 h 305"/>
                <a:gd name="T76" fmla="*/ 23 w 207"/>
                <a:gd name="T77" fmla="*/ 245 h 305"/>
                <a:gd name="T78" fmla="*/ 19 w 207"/>
                <a:gd name="T79" fmla="*/ 241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07" h="305">
                  <a:moveTo>
                    <a:pt x="26" y="305"/>
                  </a:moveTo>
                  <a:lnTo>
                    <a:pt x="182" y="305"/>
                  </a:lnTo>
                  <a:lnTo>
                    <a:pt x="182" y="305"/>
                  </a:lnTo>
                  <a:lnTo>
                    <a:pt x="187" y="303"/>
                  </a:lnTo>
                  <a:lnTo>
                    <a:pt x="192" y="302"/>
                  </a:lnTo>
                  <a:lnTo>
                    <a:pt x="196" y="301"/>
                  </a:lnTo>
                  <a:lnTo>
                    <a:pt x="199" y="297"/>
                  </a:lnTo>
                  <a:lnTo>
                    <a:pt x="203" y="294"/>
                  </a:lnTo>
                  <a:lnTo>
                    <a:pt x="204" y="290"/>
                  </a:lnTo>
                  <a:lnTo>
                    <a:pt x="206" y="284"/>
                  </a:lnTo>
                  <a:lnTo>
                    <a:pt x="207" y="279"/>
                  </a:lnTo>
                  <a:lnTo>
                    <a:pt x="207" y="24"/>
                  </a:lnTo>
                  <a:lnTo>
                    <a:pt x="207" y="24"/>
                  </a:lnTo>
                  <a:lnTo>
                    <a:pt x="206" y="20"/>
                  </a:lnTo>
                  <a:lnTo>
                    <a:pt x="204" y="14"/>
                  </a:lnTo>
                  <a:lnTo>
                    <a:pt x="203" y="10"/>
                  </a:lnTo>
                  <a:lnTo>
                    <a:pt x="199" y="8"/>
                  </a:lnTo>
                  <a:lnTo>
                    <a:pt x="196" y="4"/>
                  </a:lnTo>
                  <a:lnTo>
                    <a:pt x="192" y="2"/>
                  </a:lnTo>
                  <a:lnTo>
                    <a:pt x="187" y="1"/>
                  </a:lnTo>
                  <a:lnTo>
                    <a:pt x="182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1"/>
                  </a:lnTo>
                  <a:lnTo>
                    <a:pt x="15" y="2"/>
                  </a:lnTo>
                  <a:lnTo>
                    <a:pt x="11" y="4"/>
                  </a:lnTo>
                  <a:lnTo>
                    <a:pt x="8" y="8"/>
                  </a:lnTo>
                  <a:lnTo>
                    <a:pt x="4" y="10"/>
                  </a:lnTo>
                  <a:lnTo>
                    <a:pt x="3" y="14"/>
                  </a:lnTo>
                  <a:lnTo>
                    <a:pt x="2" y="20"/>
                  </a:lnTo>
                  <a:lnTo>
                    <a:pt x="0" y="24"/>
                  </a:lnTo>
                  <a:lnTo>
                    <a:pt x="0" y="279"/>
                  </a:lnTo>
                  <a:lnTo>
                    <a:pt x="0" y="279"/>
                  </a:lnTo>
                  <a:lnTo>
                    <a:pt x="2" y="284"/>
                  </a:lnTo>
                  <a:lnTo>
                    <a:pt x="3" y="290"/>
                  </a:lnTo>
                  <a:lnTo>
                    <a:pt x="4" y="294"/>
                  </a:lnTo>
                  <a:lnTo>
                    <a:pt x="8" y="297"/>
                  </a:lnTo>
                  <a:lnTo>
                    <a:pt x="11" y="301"/>
                  </a:lnTo>
                  <a:lnTo>
                    <a:pt x="15" y="302"/>
                  </a:lnTo>
                  <a:lnTo>
                    <a:pt x="20" y="303"/>
                  </a:lnTo>
                  <a:lnTo>
                    <a:pt x="26" y="305"/>
                  </a:lnTo>
                  <a:lnTo>
                    <a:pt x="26" y="305"/>
                  </a:lnTo>
                  <a:close/>
                  <a:moveTo>
                    <a:pt x="104" y="294"/>
                  </a:moveTo>
                  <a:lnTo>
                    <a:pt x="104" y="294"/>
                  </a:lnTo>
                  <a:lnTo>
                    <a:pt x="98" y="294"/>
                  </a:lnTo>
                  <a:lnTo>
                    <a:pt x="93" y="290"/>
                  </a:lnTo>
                  <a:lnTo>
                    <a:pt x="90" y="286"/>
                  </a:lnTo>
                  <a:lnTo>
                    <a:pt x="89" y="279"/>
                  </a:lnTo>
                  <a:lnTo>
                    <a:pt x="89" y="279"/>
                  </a:lnTo>
                  <a:lnTo>
                    <a:pt x="90" y="274"/>
                  </a:lnTo>
                  <a:lnTo>
                    <a:pt x="93" y="270"/>
                  </a:lnTo>
                  <a:lnTo>
                    <a:pt x="98" y="266"/>
                  </a:lnTo>
                  <a:lnTo>
                    <a:pt x="104" y="266"/>
                  </a:lnTo>
                  <a:lnTo>
                    <a:pt x="104" y="266"/>
                  </a:lnTo>
                  <a:lnTo>
                    <a:pt x="109" y="266"/>
                  </a:lnTo>
                  <a:lnTo>
                    <a:pt x="114" y="270"/>
                  </a:lnTo>
                  <a:lnTo>
                    <a:pt x="117" y="274"/>
                  </a:lnTo>
                  <a:lnTo>
                    <a:pt x="118" y="279"/>
                  </a:lnTo>
                  <a:lnTo>
                    <a:pt x="118" y="279"/>
                  </a:lnTo>
                  <a:lnTo>
                    <a:pt x="117" y="286"/>
                  </a:lnTo>
                  <a:lnTo>
                    <a:pt x="114" y="290"/>
                  </a:lnTo>
                  <a:lnTo>
                    <a:pt x="109" y="294"/>
                  </a:lnTo>
                  <a:lnTo>
                    <a:pt x="104" y="294"/>
                  </a:lnTo>
                  <a:lnTo>
                    <a:pt x="104" y="294"/>
                  </a:lnTo>
                  <a:close/>
                  <a:moveTo>
                    <a:pt x="19" y="22"/>
                  </a:moveTo>
                  <a:lnTo>
                    <a:pt x="19" y="22"/>
                  </a:lnTo>
                  <a:lnTo>
                    <a:pt x="20" y="20"/>
                  </a:lnTo>
                  <a:lnTo>
                    <a:pt x="23" y="18"/>
                  </a:lnTo>
                  <a:lnTo>
                    <a:pt x="184" y="18"/>
                  </a:lnTo>
                  <a:lnTo>
                    <a:pt x="184" y="18"/>
                  </a:lnTo>
                  <a:lnTo>
                    <a:pt x="187" y="20"/>
                  </a:lnTo>
                  <a:lnTo>
                    <a:pt x="188" y="22"/>
                  </a:lnTo>
                  <a:lnTo>
                    <a:pt x="188" y="241"/>
                  </a:lnTo>
                  <a:lnTo>
                    <a:pt x="188" y="241"/>
                  </a:lnTo>
                  <a:lnTo>
                    <a:pt x="187" y="244"/>
                  </a:lnTo>
                  <a:lnTo>
                    <a:pt x="184" y="245"/>
                  </a:lnTo>
                  <a:lnTo>
                    <a:pt x="23" y="245"/>
                  </a:lnTo>
                  <a:lnTo>
                    <a:pt x="23" y="245"/>
                  </a:lnTo>
                  <a:lnTo>
                    <a:pt x="20" y="244"/>
                  </a:lnTo>
                  <a:lnTo>
                    <a:pt x="19" y="241"/>
                  </a:lnTo>
                  <a:lnTo>
                    <a:pt x="19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900B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D54ED20F-55A9-4996-BFC4-4A11B4AC51DB}"/>
              </a:ext>
            </a:extLst>
          </p:cNvPr>
          <p:cNvSpPr txBox="1"/>
          <p:nvPr/>
        </p:nvSpPr>
        <p:spPr>
          <a:xfrm>
            <a:off x="8216381" y="1877768"/>
            <a:ext cx="6975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6000" b="0" i="0" u="none" strike="noStrike" kern="1200" cap="none" spc="0" normalizeH="0" baseline="0" noProof="0">
                <a:ln>
                  <a:noFill/>
                </a:ln>
                <a:solidFill>
                  <a:srgbClr val="3EFAC5"/>
                </a:solidFill>
                <a:effectLst/>
                <a:uLnTx/>
                <a:uFillTx/>
                <a:latin typeface="Chronicle Display Black"/>
                <a:ea typeface="+mn-ea"/>
                <a:cs typeface="+mn-cs"/>
              </a:rPr>
              <a:t>‘‘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39881FF-1F5C-470B-88DF-12708E92AF4C}"/>
              </a:ext>
            </a:extLst>
          </p:cNvPr>
          <p:cNvSpPr txBox="1"/>
          <p:nvPr/>
        </p:nvSpPr>
        <p:spPr>
          <a:xfrm>
            <a:off x="8513869" y="2207529"/>
            <a:ext cx="994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1" i="0" u="none" strike="noStrike" kern="1200" cap="none" spc="0" normalizeH="0" baseline="0" noProof="0">
                <a:ln>
                  <a:noFill/>
                </a:ln>
                <a:solidFill>
                  <a:srgbClr val="808080">
                    <a:lumMod val="50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Insights</a:t>
            </a:r>
          </a:p>
        </p:txBody>
      </p:sp>
      <p:sp>
        <p:nvSpPr>
          <p:cNvPr id="105" name="Rounded Rectangle 82">
            <a:extLst>
              <a:ext uri="{FF2B5EF4-FFF2-40B4-BE49-F238E27FC236}">
                <a16:creationId xmlns:a16="http://schemas.microsoft.com/office/drawing/2014/main" id="{303D9F01-0A31-454E-905F-793B18204753}"/>
              </a:ext>
            </a:extLst>
          </p:cNvPr>
          <p:cNvSpPr/>
          <p:nvPr/>
        </p:nvSpPr>
        <p:spPr>
          <a:xfrm>
            <a:off x="8426305" y="2614304"/>
            <a:ext cx="2861995" cy="950127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0" i="1" u="none" strike="noStrike" kern="1200" cap="none" spc="0" normalizeH="0" baseline="0" noProof="0">
                <a:ln>
                  <a:noFill/>
                </a:ln>
                <a:solidFill>
                  <a:srgbClr val="808080">
                    <a:lumMod val="50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Je voudrais avoir une check-list avec tous les éléments à prendre en compte lors de l’achat d’un bien.</a:t>
            </a:r>
          </a:p>
        </p:txBody>
      </p:sp>
      <p:sp>
        <p:nvSpPr>
          <p:cNvPr id="106" name="Rounded Rectangle 125">
            <a:extLst>
              <a:ext uri="{FF2B5EF4-FFF2-40B4-BE49-F238E27FC236}">
                <a16:creationId xmlns:a16="http://schemas.microsoft.com/office/drawing/2014/main" id="{9FBF5750-34A3-4AD7-96B7-FB854D856ED4}"/>
              </a:ext>
            </a:extLst>
          </p:cNvPr>
          <p:cNvSpPr/>
          <p:nvPr/>
        </p:nvSpPr>
        <p:spPr>
          <a:xfrm>
            <a:off x="8615192" y="3709107"/>
            <a:ext cx="3170850" cy="562402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0" i="1" u="none" strike="noStrike" kern="1200" cap="none" spc="0" normalizeH="0" baseline="0" noProof="0">
                <a:ln>
                  <a:noFill/>
                </a:ln>
                <a:solidFill>
                  <a:srgbClr val="808080">
                    <a:lumMod val="50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Je souhaite recevoir des suggestions lors de l’utilisation de la barre de recherche.</a:t>
            </a:r>
          </a:p>
        </p:txBody>
      </p:sp>
      <p:grpSp>
        <p:nvGrpSpPr>
          <p:cNvPr id="107" name="Groupe 4">
            <a:extLst>
              <a:ext uri="{FF2B5EF4-FFF2-40B4-BE49-F238E27FC236}">
                <a16:creationId xmlns:a16="http://schemas.microsoft.com/office/drawing/2014/main" id="{85B8DCEF-7038-451E-AAE4-CE3842F54B89}"/>
              </a:ext>
            </a:extLst>
          </p:cNvPr>
          <p:cNvGrpSpPr/>
          <p:nvPr/>
        </p:nvGrpSpPr>
        <p:grpSpPr>
          <a:xfrm>
            <a:off x="4684043" y="4282794"/>
            <a:ext cx="3348000" cy="2321479"/>
            <a:chOff x="4684043" y="4282794"/>
            <a:chExt cx="3348000" cy="2321479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79AD36BC-7C38-4F84-9D0D-5E468A98A8E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84043" y="4282794"/>
              <a:ext cx="690705" cy="529682"/>
              <a:chOff x="11242676" y="1820863"/>
              <a:chExt cx="258763" cy="198438"/>
            </a:xfrm>
            <a:solidFill>
              <a:schemeClr val="accent2"/>
            </a:solidFill>
          </p:grpSpPr>
          <p:sp>
            <p:nvSpPr>
              <p:cNvPr id="111" name="Freeform 307">
                <a:extLst>
                  <a:ext uri="{FF2B5EF4-FFF2-40B4-BE49-F238E27FC236}">
                    <a16:creationId xmlns:a16="http://schemas.microsoft.com/office/drawing/2014/main" id="{3B405084-E14B-4723-B643-8732E51576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42676" y="1820863"/>
                <a:ext cx="258763" cy="128588"/>
              </a:xfrm>
              <a:custGeom>
                <a:avLst/>
                <a:gdLst>
                  <a:gd name="T0" fmla="*/ 268 w 326"/>
                  <a:gd name="T1" fmla="*/ 46 h 161"/>
                  <a:gd name="T2" fmla="*/ 254 w 326"/>
                  <a:gd name="T3" fmla="*/ 47 h 161"/>
                  <a:gd name="T4" fmla="*/ 240 w 326"/>
                  <a:gd name="T5" fmla="*/ 53 h 161"/>
                  <a:gd name="T6" fmla="*/ 229 w 326"/>
                  <a:gd name="T7" fmla="*/ 49 h 161"/>
                  <a:gd name="T8" fmla="*/ 224 w 326"/>
                  <a:gd name="T9" fmla="*/ 38 h 161"/>
                  <a:gd name="T10" fmla="*/ 209 w 326"/>
                  <a:gd name="T11" fmla="*/ 20 h 161"/>
                  <a:gd name="T12" fmla="*/ 189 w 326"/>
                  <a:gd name="T13" fmla="*/ 8 h 161"/>
                  <a:gd name="T14" fmla="*/ 168 w 326"/>
                  <a:gd name="T15" fmla="*/ 2 h 161"/>
                  <a:gd name="T16" fmla="*/ 156 w 326"/>
                  <a:gd name="T17" fmla="*/ 0 h 161"/>
                  <a:gd name="T18" fmla="*/ 133 w 326"/>
                  <a:gd name="T19" fmla="*/ 3 h 161"/>
                  <a:gd name="T20" fmla="*/ 114 w 326"/>
                  <a:gd name="T21" fmla="*/ 12 h 161"/>
                  <a:gd name="T22" fmla="*/ 97 w 326"/>
                  <a:gd name="T23" fmla="*/ 26 h 161"/>
                  <a:gd name="T24" fmla="*/ 84 w 326"/>
                  <a:gd name="T25" fmla="*/ 45 h 161"/>
                  <a:gd name="T26" fmla="*/ 74 w 326"/>
                  <a:gd name="T27" fmla="*/ 49 h 161"/>
                  <a:gd name="T28" fmla="*/ 66 w 326"/>
                  <a:gd name="T29" fmla="*/ 46 h 161"/>
                  <a:gd name="T30" fmla="*/ 58 w 326"/>
                  <a:gd name="T31" fmla="*/ 46 h 161"/>
                  <a:gd name="T32" fmla="*/ 35 w 326"/>
                  <a:gd name="T33" fmla="*/ 50 h 161"/>
                  <a:gd name="T34" fmla="*/ 17 w 326"/>
                  <a:gd name="T35" fmla="*/ 62 h 161"/>
                  <a:gd name="T36" fmla="*/ 4 w 326"/>
                  <a:gd name="T37" fmla="*/ 81 h 161"/>
                  <a:gd name="T38" fmla="*/ 0 w 326"/>
                  <a:gd name="T39" fmla="*/ 104 h 161"/>
                  <a:gd name="T40" fmla="*/ 1 w 326"/>
                  <a:gd name="T41" fmla="*/ 114 h 161"/>
                  <a:gd name="T42" fmla="*/ 9 w 326"/>
                  <a:gd name="T43" fmla="*/ 136 h 161"/>
                  <a:gd name="T44" fmla="*/ 25 w 326"/>
                  <a:gd name="T45" fmla="*/ 151 h 161"/>
                  <a:gd name="T46" fmla="*/ 46 w 326"/>
                  <a:gd name="T47" fmla="*/ 160 h 161"/>
                  <a:gd name="T48" fmla="*/ 105 w 326"/>
                  <a:gd name="T49" fmla="*/ 161 h 161"/>
                  <a:gd name="T50" fmla="*/ 105 w 326"/>
                  <a:gd name="T51" fmla="*/ 108 h 161"/>
                  <a:gd name="T52" fmla="*/ 109 w 326"/>
                  <a:gd name="T53" fmla="*/ 98 h 161"/>
                  <a:gd name="T54" fmla="*/ 119 w 326"/>
                  <a:gd name="T55" fmla="*/ 94 h 161"/>
                  <a:gd name="T56" fmla="*/ 125 w 326"/>
                  <a:gd name="T57" fmla="*/ 96 h 161"/>
                  <a:gd name="T58" fmla="*/ 131 w 326"/>
                  <a:gd name="T59" fmla="*/ 102 h 161"/>
                  <a:gd name="T60" fmla="*/ 133 w 326"/>
                  <a:gd name="T61" fmla="*/ 161 h 161"/>
                  <a:gd name="T62" fmla="*/ 149 w 326"/>
                  <a:gd name="T63" fmla="*/ 141 h 161"/>
                  <a:gd name="T64" fmla="*/ 150 w 326"/>
                  <a:gd name="T65" fmla="*/ 136 h 161"/>
                  <a:gd name="T66" fmla="*/ 158 w 326"/>
                  <a:gd name="T67" fmla="*/ 129 h 161"/>
                  <a:gd name="T68" fmla="*/ 162 w 326"/>
                  <a:gd name="T69" fmla="*/ 128 h 161"/>
                  <a:gd name="T70" fmla="*/ 173 w 326"/>
                  <a:gd name="T71" fmla="*/ 132 h 161"/>
                  <a:gd name="T72" fmla="*/ 177 w 326"/>
                  <a:gd name="T73" fmla="*/ 141 h 161"/>
                  <a:gd name="T74" fmla="*/ 193 w 326"/>
                  <a:gd name="T75" fmla="*/ 161 h 161"/>
                  <a:gd name="T76" fmla="*/ 193 w 326"/>
                  <a:gd name="T77" fmla="*/ 108 h 161"/>
                  <a:gd name="T78" fmla="*/ 197 w 326"/>
                  <a:gd name="T79" fmla="*/ 98 h 161"/>
                  <a:gd name="T80" fmla="*/ 207 w 326"/>
                  <a:gd name="T81" fmla="*/ 94 h 161"/>
                  <a:gd name="T82" fmla="*/ 212 w 326"/>
                  <a:gd name="T83" fmla="*/ 96 h 161"/>
                  <a:gd name="T84" fmla="*/ 220 w 326"/>
                  <a:gd name="T85" fmla="*/ 102 h 161"/>
                  <a:gd name="T86" fmla="*/ 221 w 326"/>
                  <a:gd name="T87" fmla="*/ 161 h 161"/>
                  <a:gd name="T88" fmla="*/ 268 w 326"/>
                  <a:gd name="T89" fmla="*/ 161 h 161"/>
                  <a:gd name="T90" fmla="*/ 291 w 326"/>
                  <a:gd name="T91" fmla="*/ 156 h 161"/>
                  <a:gd name="T92" fmla="*/ 309 w 326"/>
                  <a:gd name="T93" fmla="*/ 144 h 161"/>
                  <a:gd name="T94" fmla="*/ 322 w 326"/>
                  <a:gd name="T95" fmla="*/ 125 h 161"/>
                  <a:gd name="T96" fmla="*/ 326 w 326"/>
                  <a:gd name="T97" fmla="*/ 104 h 161"/>
                  <a:gd name="T98" fmla="*/ 325 w 326"/>
                  <a:gd name="T99" fmla="*/ 92 h 161"/>
                  <a:gd name="T100" fmla="*/ 317 w 326"/>
                  <a:gd name="T101" fmla="*/ 72 h 161"/>
                  <a:gd name="T102" fmla="*/ 301 w 326"/>
                  <a:gd name="T103" fmla="*/ 55 h 161"/>
                  <a:gd name="T104" fmla="*/ 280 w 326"/>
                  <a:gd name="T105" fmla="*/ 47 h 161"/>
                  <a:gd name="T106" fmla="*/ 268 w 326"/>
                  <a:gd name="T107" fmla="*/ 46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6" h="161">
                    <a:moveTo>
                      <a:pt x="268" y="46"/>
                    </a:moveTo>
                    <a:lnTo>
                      <a:pt x="268" y="46"/>
                    </a:lnTo>
                    <a:lnTo>
                      <a:pt x="262" y="46"/>
                    </a:lnTo>
                    <a:lnTo>
                      <a:pt x="254" y="47"/>
                    </a:lnTo>
                    <a:lnTo>
                      <a:pt x="247" y="50"/>
                    </a:lnTo>
                    <a:lnTo>
                      <a:pt x="240" y="53"/>
                    </a:lnTo>
                    <a:lnTo>
                      <a:pt x="232" y="57"/>
                    </a:lnTo>
                    <a:lnTo>
                      <a:pt x="229" y="49"/>
                    </a:lnTo>
                    <a:lnTo>
                      <a:pt x="229" y="49"/>
                    </a:lnTo>
                    <a:lnTo>
                      <a:pt x="224" y="38"/>
                    </a:lnTo>
                    <a:lnTo>
                      <a:pt x="217" y="29"/>
                    </a:lnTo>
                    <a:lnTo>
                      <a:pt x="209" y="20"/>
                    </a:lnTo>
                    <a:lnTo>
                      <a:pt x="200" y="14"/>
                    </a:lnTo>
                    <a:lnTo>
                      <a:pt x="189" y="8"/>
                    </a:lnTo>
                    <a:lnTo>
                      <a:pt x="178" y="4"/>
                    </a:lnTo>
                    <a:lnTo>
                      <a:pt x="168" y="2"/>
                    </a:lnTo>
                    <a:lnTo>
                      <a:pt x="156" y="0"/>
                    </a:lnTo>
                    <a:lnTo>
                      <a:pt x="156" y="0"/>
                    </a:lnTo>
                    <a:lnTo>
                      <a:pt x="145" y="2"/>
                    </a:lnTo>
                    <a:lnTo>
                      <a:pt x="133" y="3"/>
                    </a:lnTo>
                    <a:lnTo>
                      <a:pt x="123" y="7"/>
                    </a:lnTo>
                    <a:lnTo>
                      <a:pt x="114" y="12"/>
                    </a:lnTo>
                    <a:lnTo>
                      <a:pt x="105" y="18"/>
                    </a:lnTo>
                    <a:lnTo>
                      <a:pt x="97" y="26"/>
                    </a:lnTo>
                    <a:lnTo>
                      <a:pt x="90" y="34"/>
                    </a:lnTo>
                    <a:lnTo>
                      <a:pt x="84" y="45"/>
                    </a:lnTo>
                    <a:lnTo>
                      <a:pt x="80" y="50"/>
                    </a:lnTo>
                    <a:lnTo>
                      <a:pt x="74" y="49"/>
                    </a:lnTo>
                    <a:lnTo>
                      <a:pt x="74" y="49"/>
                    </a:lnTo>
                    <a:lnTo>
                      <a:pt x="66" y="46"/>
                    </a:lnTo>
                    <a:lnTo>
                      <a:pt x="58" y="46"/>
                    </a:lnTo>
                    <a:lnTo>
                      <a:pt x="58" y="46"/>
                    </a:lnTo>
                    <a:lnTo>
                      <a:pt x="46" y="47"/>
                    </a:lnTo>
                    <a:lnTo>
                      <a:pt x="35" y="50"/>
                    </a:lnTo>
                    <a:lnTo>
                      <a:pt x="25" y="55"/>
                    </a:lnTo>
                    <a:lnTo>
                      <a:pt x="17" y="62"/>
                    </a:lnTo>
                    <a:lnTo>
                      <a:pt x="9" y="72"/>
                    </a:lnTo>
                    <a:lnTo>
                      <a:pt x="4" y="81"/>
                    </a:lnTo>
                    <a:lnTo>
                      <a:pt x="1" y="92"/>
                    </a:lnTo>
                    <a:lnTo>
                      <a:pt x="0" y="104"/>
                    </a:lnTo>
                    <a:lnTo>
                      <a:pt x="0" y="104"/>
                    </a:lnTo>
                    <a:lnTo>
                      <a:pt x="1" y="114"/>
                    </a:lnTo>
                    <a:lnTo>
                      <a:pt x="4" y="125"/>
                    </a:lnTo>
                    <a:lnTo>
                      <a:pt x="9" y="136"/>
                    </a:lnTo>
                    <a:lnTo>
                      <a:pt x="17" y="144"/>
                    </a:lnTo>
                    <a:lnTo>
                      <a:pt x="25" y="151"/>
                    </a:lnTo>
                    <a:lnTo>
                      <a:pt x="35" y="156"/>
                    </a:lnTo>
                    <a:lnTo>
                      <a:pt x="46" y="160"/>
                    </a:lnTo>
                    <a:lnTo>
                      <a:pt x="58" y="161"/>
                    </a:lnTo>
                    <a:lnTo>
                      <a:pt x="105" y="161"/>
                    </a:lnTo>
                    <a:lnTo>
                      <a:pt x="105" y="108"/>
                    </a:lnTo>
                    <a:lnTo>
                      <a:pt x="105" y="108"/>
                    </a:lnTo>
                    <a:lnTo>
                      <a:pt x="106" y="102"/>
                    </a:lnTo>
                    <a:lnTo>
                      <a:pt x="109" y="98"/>
                    </a:lnTo>
                    <a:lnTo>
                      <a:pt x="114" y="96"/>
                    </a:lnTo>
                    <a:lnTo>
                      <a:pt x="119" y="94"/>
                    </a:lnTo>
                    <a:lnTo>
                      <a:pt x="119" y="94"/>
                    </a:lnTo>
                    <a:lnTo>
                      <a:pt x="125" y="96"/>
                    </a:lnTo>
                    <a:lnTo>
                      <a:pt x="129" y="98"/>
                    </a:lnTo>
                    <a:lnTo>
                      <a:pt x="131" y="102"/>
                    </a:lnTo>
                    <a:lnTo>
                      <a:pt x="133" y="108"/>
                    </a:lnTo>
                    <a:lnTo>
                      <a:pt x="133" y="161"/>
                    </a:lnTo>
                    <a:lnTo>
                      <a:pt x="149" y="161"/>
                    </a:lnTo>
                    <a:lnTo>
                      <a:pt x="149" y="141"/>
                    </a:lnTo>
                    <a:lnTo>
                      <a:pt x="149" y="141"/>
                    </a:lnTo>
                    <a:lnTo>
                      <a:pt x="150" y="136"/>
                    </a:lnTo>
                    <a:lnTo>
                      <a:pt x="153" y="132"/>
                    </a:lnTo>
                    <a:lnTo>
                      <a:pt x="158" y="129"/>
                    </a:lnTo>
                    <a:lnTo>
                      <a:pt x="162" y="128"/>
                    </a:lnTo>
                    <a:lnTo>
                      <a:pt x="162" y="128"/>
                    </a:lnTo>
                    <a:lnTo>
                      <a:pt x="168" y="129"/>
                    </a:lnTo>
                    <a:lnTo>
                      <a:pt x="173" y="132"/>
                    </a:lnTo>
                    <a:lnTo>
                      <a:pt x="176" y="136"/>
                    </a:lnTo>
                    <a:lnTo>
                      <a:pt x="177" y="141"/>
                    </a:lnTo>
                    <a:lnTo>
                      <a:pt x="177" y="161"/>
                    </a:lnTo>
                    <a:lnTo>
                      <a:pt x="193" y="161"/>
                    </a:lnTo>
                    <a:lnTo>
                      <a:pt x="193" y="108"/>
                    </a:lnTo>
                    <a:lnTo>
                      <a:pt x="193" y="108"/>
                    </a:lnTo>
                    <a:lnTo>
                      <a:pt x="195" y="102"/>
                    </a:lnTo>
                    <a:lnTo>
                      <a:pt x="197" y="98"/>
                    </a:lnTo>
                    <a:lnTo>
                      <a:pt x="201" y="96"/>
                    </a:lnTo>
                    <a:lnTo>
                      <a:pt x="207" y="94"/>
                    </a:lnTo>
                    <a:lnTo>
                      <a:pt x="207" y="94"/>
                    </a:lnTo>
                    <a:lnTo>
                      <a:pt x="212" y="96"/>
                    </a:lnTo>
                    <a:lnTo>
                      <a:pt x="217" y="98"/>
                    </a:lnTo>
                    <a:lnTo>
                      <a:pt x="220" y="102"/>
                    </a:lnTo>
                    <a:lnTo>
                      <a:pt x="221" y="108"/>
                    </a:lnTo>
                    <a:lnTo>
                      <a:pt x="221" y="161"/>
                    </a:lnTo>
                    <a:lnTo>
                      <a:pt x="268" y="161"/>
                    </a:lnTo>
                    <a:lnTo>
                      <a:pt x="268" y="161"/>
                    </a:lnTo>
                    <a:lnTo>
                      <a:pt x="280" y="160"/>
                    </a:lnTo>
                    <a:lnTo>
                      <a:pt x="291" y="156"/>
                    </a:lnTo>
                    <a:lnTo>
                      <a:pt x="301" y="151"/>
                    </a:lnTo>
                    <a:lnTo>
                      <a:pt x="309" y="144"/>
                    </a:lnTo>
                    <a:lnTo>
                      <a:pt x="317" y="136"/>
                    </a:lnTo>
                    <a:lnTo>
                      <a:pt x="322" y="125"/>
                    </a:lnTo>
                    <a:lnTo>
                      <a:pt x="325" y="114"/>
                    </a:lnTo>
                    <a:lnTo>
                      <a:pt x="326" y="104"/>
                    </a:lnTo>
                    <a:lnTo>
                      <a:pt x="326" y="104"/>
                    </a:lnTo>
                    <a:lnTo>
                      <a:pt x="325" y="92"/>
                    </a:lnTo>
                    <a:lnTo>
                      <a:pt x="322" y="81"/>
                    </a:lnTo>
                    <a:lnTo>
                      <a:pt x="317" y="72"/>
                    </a:lnTo>
                    <a:lnTo>
                      <a:pt x="309" y="62"/>
                    </a:lnTo>
                    <a:lnTo>
                      <a:pt x="301" y="55"/>
                    </a:lnTo>
                    <a:lnTo>
                      <a:pt x="291" y="50"/>
                    </a:lnTo>
                    <a:lnTo>
                      <a:pt x="280" y="47"/>
                    </a:lnTo>
                    <a:lnTo>
                      <a:pt x="268" y="46"/>
                    </a:lnTo>
                    <a:lnTo>
                      <a:pt x="268" y="46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BE" sz="1600" b="0" i="0" u="none" strike="noStrike" kern="1200" cap="none" spc="0" normalizeH="0" baseline="0" noProof="0">
                  <a:ln>
                    <a:noFill/>
                  </a:ln>
                  <a:solidFill>
                    <a:srgbClr val="0900B6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12" name="Freeform 308">
                <a:extLst>
                  <a:ext uri="{FF2B5EF4-FFF2-40B4-BE49-F238E27FC236}">
                    <a16:creationId xmlns:a16="http://schemas.microsoft.com/office/drawing/2014/main" id="{AEBA8566-07CB-4C92-A0CE-C4157627F9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1263" y="1960563"/>
                <a:ext cx="0" cy="50800"/>
              </a:xfrm>
              <a:custGeom>
                <a:avLst/>
                <a:gdLst>
                  <a:gd name="T0" fmla="*/ 0 h 65"/>
                  <a:gd name="T1" fmla="*/ 65 h 65"/>
                  <a:gd name="T2" fmla="*/ 0 h 65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5">
                    <a:moveTo>
                      <a:pt x="0" y="0"/>
                    </a:moveTo>
                    <a:lnTo>
                      <a:pt x="0" y="6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BE" sz="1600" b="0" i="0" u="none" strike="noStrike" kern="1200" cap="none" spc="0" normalizeH="0" baseline="0" noProof="0">
                  <a:ln>
                    <a:noFill/>
                  </a:ln>
                  <a:solidFill>
                    <a:srgbClr val="0900B6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13" name="Line 309">
                <a:extLst>
                  <a:ext uri="{FF2B5EF4-FFF2-40B4-BE49-F238E27FC236}">
                    <a16:creationId xmlns:a16="http://schemas.microsoft.com/office/drawing/2014/main" id="{264DB703-6881-4FDB-A20D-8E1349E4B6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71263" y="1960563"/>
                <a:ext cx="0" cy="50800"/>
              </a:xfrm>
              <a:prstGeom prst="line">
                <a:avLst/>
              </a:prstGeom>
              <a:grpFill/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BE" sz="1600" b="0" i="0" u="none" strike="noStrike" kern="1200" cap="none" spc="0" normalizeH="0" baseline="0" noProof="0">
                  <a:ln>
                    <a:noFill/>
                  </a:ln>
                  <a:solidFill>
                    <a:srgbClr val="0900B6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14" name="Freeform 310">
                <a:extLst>
                  <a:ext uri="{FF2B5EF4-FFF2-40B4-BE49-F238E27FC236}">
                    <a16:creationId xmlns:a16="http://schemas.microsoft.com/office/drawing/2014/main" id="{F51229FA-2051-4FA4-9206-2DF4E69003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63326" y="1960563"/>
                <a:ext cx="15875" cy="58738"/>
              </a:xfrm>
              <a:custGeom>
                <a:avLst/>
                <a:gdLst>
                  <a:gd name="T0" fmla="*/ 0 w 19"/>
                  <a:gd name="T1" fmla="*/ 65 h 74"/>
                  <a:gd name="T2" fmla="*/ 0 w 19"/>
                  <a:gd name="T3" fmla="*/ 0 h 74"/>
                  <a:gd name="T4" fmla="*/ 19 w 19"/>
                  <a:gd name="T5" fmla="*/ 0 h 74"/>
                  <a:gd name="T6" fmla="*/ 19 w 19"/>
                  <a:gd name="T7" fmla="*/ 65 h 74"/>
                  <a:gd name="T8" fmla="*/ 19 w 19"/>
                  <a:gd name="T9" fmla="*/ 65 h 74"/>
                  <a:gd name="T10" fmla="*/ 19 w 19"/>
                  <a:gd name="T11" fmla="*/ 69 h 74"/>
                  <a:gd name="T12" fmla="*/ 16 w 19"/>
                  <a:gd name="T13" fmla="*/ 71 h 74"/>
                  <a:gd name="T14" fmla="*/ 13 w 19"/>
                  <a:gd name="T15" fmla="*/ 73 h 74"/>
                  <a:gd name="T16" fmla="*/ 9 w 19"/>
                  <a:gd name="T17" fmla="*/ 74 h 74"/>
                  <a:gd name="T18" fmla="*/ 9 w 19"/>
                  <a:gd name="T19" fmla="*/ 74 h 74"/>
                  <a:gd name="T20" fmla="*/ 7 w 19"/>
                  <a:gd name="T21" fmla="*/ 73 h 74"/>
                  <a:gd name="T22" fmla="*/ 4 w 19"/>
                  <a:gd name="T23" fmla="*/ 71 h 74"/>
                  <a:gd name="T24" fmla="*/ 1 w 19"/>
                  <a:gd name="T25" fmla="*/ 69 h 74"/>
                  <a:gd name="T26" fmla="*/ 0 w 19"/>
                  <a:gd name="T27" fmla="*/ 65 h 74"/>
                  <a:gd name="T28" fmla="*/ 0 w 19"/>
                  <a:gd name="T29" fmla="*/ 65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9" h="74">
                    <a:moveTo>
                      <a:pt x="0" y="65"/>
                    </a:moveTo>
                    <a:lnTo>
                      <a:pt x="0" y="0"/>
                    </a:lnTo>
                    <a:lnTo>
                      <a:pt x="19" y="0"/>
                    </a:lnTo>
                    <a:lnTo>
                      <a:pt x="19" y="65"/>
                    </a:lnTo>
                    <a:lnTo>
                      <a:pt x="19" y="65"/>
                    </a:lnTo>
                    <a:lnTo>
                      <a:pt x="19" y="69"/>
                    </a:lnTo>
                    <a:lnTo>
                      <a:pt x="16" y="71"/>
                    </a:lnTo>
                    <a:lnTo>
                      <a:pt x="13" y="73"/>
                    </a:lnTo>
                    <a:lnTo>
                      <a:pt x="9" y="74"/>
                    </a:lnTo>
                    <a:lnTo>
                      <a:pt x="9" y="74"/>
                    </a:lnTo>
                    <a:lnTo>
                      <a:pt x="7" y="73"/>
                    </a:lnTo>
                    <a:lnTo>
                      <a:pt x="4" y="71"/>
                    </a:lnTo>
                    <a:lnTo>
                      <a:pt x="1" y="69"/>
                    </a:lnTo>
                    <a:lnTo>
                      <a:pt x="0" y="65"/>
                    </a:lnTo>
                    <a:lnTo>
                      <a:pt x="0" y="65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BE" sz="1600" b="0" i="0" u="none" strike="noStrike" kern="1200" cap="none" spc="0" normalizeH="0" baseline="0" noProof="0">
                  <a:ln>
                    <a:noFill/>
                  </a:ln>
                  <a:solidFill>
                    <a:srgbClr val="0900B6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15" name="Freeform 311">
                <a:extLst>
                  <a:ext uri="{FF2B5EF4-FFF2-40B4-BE49-F238E27FC236}">
                    <a16:creationId xmlns:a16="http://schemas.microsoft.com/office/drawing/2014/main" id="{AF99A1A3-1EAC-43D9-BFC6-33709E6F8C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28401" y="1960563"/>
                <a:ext cx="15875" cy="38100"/>
              </a:xfrm>
              <a:custGeom>
                <a:avLst/>
                <a:gdLst>
                  <a:gd name="T0" fmla="*/ 0 w 18"/>
                  <a:gd name="T1" fmla="*/ 38 h 47"/>
                  <a:gd name="T2" fmla="*/ 0 w 18"/>
                  <a:gd name="T3" fmla="*/ 0 h 47"/>
                  <a:gd name="T4" fmla="*/ 18 w 18"/>
                  <a:gd name="T5" fmla="*/ 0 h 47"/>
                  <a:gd name="T6" fmla="*/ 18 w 18"/>
                  <a:gd name="T7" fmla="*/ 38 h 47"/>
                  <a:gd name="T8" fmla="*/ 18 w 18"/>
                  <a:gd name="T9" fmla="*/ 38 h 47"/>
                  <a:gd name="T10" fmla="*/ 17 w 18"/>
                  <a:gd name="T11" fmla="*/ 42 h 47"/>
                  <a:gd name="T12" fmla="*/ 14 w 18"/>
                  <a:gd name="T13" fmla="*/ 45 h 47"/>
                  <a:gd name="T14" fmla="*/ 12 w 18"/>
                  <a:gd name="T15" fmla="*/ 46 h 47"/>
                  <a:gd name="T16" fmla="*/ 9 w 18"/>
                  <a:gd name="T17" fmla="*/ 47 h 47"/>
                  <a:gd name="T18" fmla="*/ 9 w 18"/>
                  <a:gd name="T19" fmla="*/ 47 h 47"/>
                  <a:gd name="T20" fmla="*/ 5 w 18"/>
                  <a:gd name="T21" fmla="*/ 46 h 47"/>
                  <a:gd name="T22" fmla="*/ 2 w 18"/>
                  <a:gd name="T23" fmla="*/ 45 h 47"/>
                  <a:gd name="T24" fmla="*/ 0 w 18"/>
                  <a:gd name="T25" fmla="*/ 42 h 47"/>
                  <a:gd name="T26" fmla="*/ 0 w 18"/>
                  <a:gd name="T27" fmla="*/ 38 h 47"/>
                  <a:gd name="T28" fmla="*/ 0 w 18"/>
                  <a:gd name="T29" fmla="*/ 38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8" h="47">
                    <a:moveTo>
                      <a:pt x="0" y="38"/>
                    </a:moveTo>
                    <a:lnTo>
                      <a:pt x="0" y="0"/>
                    </a:lnTo>
                    <a:lnTo>
                      <a:pt x="18" y="0"/>
                    </a:lnTo>
                    <a:lnTo>
                      <a:pt x="18" y="38"/>
                    </a:lnTo>
                    <a:lnTo>
                      <a:pt x="18" y="38"/>
                    </a:lnTo>
                    <a:lnTo>
                      <a:pt x="17" y="42"/>
                    </a:lnTo>
                    <a:lnTo>
                      <a:pt x="14" y="45"/>
                    </a:lnTo>
                    <a:lnTo>
                      <a:pt x="12" y="46"/>
                    </a:lnTo>
                    <a:lnTo>
                      <a:pt x="9" y="47"/>
                    </a:lnTo>
                    <a:lnTo>
                      <a:pt x="9" y="47"/>
                    </a:lnTo>
                    <a:lnTo>
                      <a:pt x="5" y="46"/>
                    </a:lnTo>
                    <a:lnTo>
                      <a:pt x="2" y="45"/>
                    </a:lnTo>
                    <a:lnTo>
                      <a:pt x="0" y="42"/>
                    </a:lnTo>
                    <a:lnTo>
                      <a:pt x="0" y="38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BE" sz="1600" b="0" i="0" u="none" strike="noStrike" kern="1200" cap="none" spc="0" normalizeH="0" baseline="0" noProof="0">
                  <a:ln>
                    <a:noFill/>
                  </a:ln>
                  <a:solidFill>
                    <a:srgbClr val="0900B6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16" name="Freeform 312">
                <a:extLst>
                  <a:ext uri="{FF2B5EF4-FFF2-40B4-BE49-F238E27FC236}">
                    <a16:creationId xmlns:a16="http://schemas.microsoft.com/office/drawing/2014/main" id="{2FABA2B3-4671-4756-9236-B60E2CEF51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99838" y="1960563"/>
                <a:ext cx="15875" cy="38100"/>
              </a:xfrm>
              <a:custGeom>
                <a:avLst/>
                <a:gdLst>
                  <a:gd name="T0" fmla="*/ 0 w 18"/>
                  <a:gd name="T1" fmla="*/ 38 h 47"/>
                  <a:gd name="T2" fmla="*/ 0 w 18"/>
                  <a:gd name="T3" fmla="*/ 0 h 47"/>
                  <a:gd name="T4" fmla="*/ 18 w 18"/>
                  <a:gd name="T5" fmla="*/ 0 h 47"/>
                  <a:gd name="T6" fmla="*/ 18 w 18"/>
                  <a:gd name="T7" fmla="*/ 38 h 47"/>
                  <a:gd name="T8" fmla="*/ 18 w 18"/>
                  <a:gd name="T9" fmla="*/ 38 h 47"/>
                  <a:gd name="T10" fmla="*/ 17 w 18"/>
                  <a:gd name="T11" fmla="*/ 42 h 47"/>
                  <a:gd name="T12" fmla="*/ 16 w 18"/>
                  <a:gd name="T13" fmla="*/ 45 h 47"/>
                  <a:gd name="T14" fmla="*/ 13 w 18"/>
                  <a:gd name="T15" fmla="*/ 46 h 47"/>
                  <a:gd name="T16" fmla="*/ 9 w 18"/>
                  <a:gd name="T17" fmla="*/ 47 h 47"/>
                  <a:gd name="T18" fmla="*/ 9 w 18"/>
                  <a:gd name="T19" fmla="*/ 47 h 47"/>
                  <a:gd name="T20" fmla="*/ 5 w 18"/>
                  <a:gd name="T21" fmla="*/ 46 h 47"/>
                  <a:gd name="T22" fmla="*/ 2 w 18"/>
                  <a:gd name="T23" fmla="*/ 45 h 47"/>
                  <a:gd name="T24" fmla="*/ 0 w 18"/>
                  <a:gd name="T25" fmla="*/ 42 h 47"/>
                  <a:gd name="T26" fmla="*/ 0 w 18"/>
                  <a:gd name="T27" fmla="*/ 38 h 47"/>
                  <a:gd name="T28" fmla="*/ 0 w 18"/>
                  <a:gd name="T29" fmla="*/ 38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8" h="47">
                    <a:moveTo>
                      <a:pt x="0" y="38"/>
                    </a:moveTo>
                    <a:lnTo>
                      <a:pt x="0" y="0"/>
                    </a:lnTo>
                    <a:lnTo>
                      <a:pt x="18" y="0"/>
                    </a:lnTo>
                    <a:lnTo>
                      <a:pt x="18" y="38"/>
                    </a:lnTo>
                    <a:lnTo>
                      <a:pt x="18" y="38"/>
                    </a:lnTo>
                    <a:lnTo>
                      <a:pt x="17" y="42"/>
                    </a:lnTo>
                    <a:lnTo>
                      <a:pt x="16" y="45"/>
                    </a:lnTo>
                    <a:lnTo>
                      <a:pt x="13" y="46"/>
                    </a:lnTo>
                    <a:lnTo>
                      <a:pt x="9" y="47"/>
                    </a:lnTo>
                    <a:lnTo>
                      <a:pt x="9" y="47"/>
                    </a:lnTo>
                    <a:lnTo>
                      <a:pt x="5" y="46"/>
                    </a:lnTo>
                    <a:lnTo>
                      <a:pt x="2" y="45"/>
                    </a:lnTo>
                    <a:lnTo>
                      <a:pt x="0" y="42"/>
                    </a:lnTo>
                    <a:lnTo>
                      <a:pt x="0" y="38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BE" sz="1600" b="0" i="0" u="none" strike="noStrike" kern="1200" cap="none" spc="0" normalizeH="0" baseline="0" noProof="0">
                  <a:ln>
                    <a:noFill/>
                  </a:ln>
                  <a:solidFill>
                    <a:srgbClr val="0900B6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A616272-3082-4B8C-A549-35F3F0FEDEFC}"/>
                </a:ext>
              </a:extLst>
            </p:cNvPr>
            <p:cNvSpPr txBox="1"/>
            <p:nvPr/>
          </p:nvSpPr>
          <p:spPr>
            <a:xfrm>
              <a:off x="4684043" y="4849947"/>
              <a:ext cx="3348000" cy="1754326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0" algn="just">
                <a:defRPr/>
              </a:pPr>
              <a:r>
                <a:rPr lang="fr-BE" sz="1200">
                  <a:solidFill>
                    <a:srgbClr val="FFFFFF">
                      <a:lumMod val="65000"/>
                    </a:srgb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Bien qu'il trouve la plupart des informations dont il a besoin après une longue recherche, il lui manque une vue d'ensemble des activités requises à chaque étape du processus d'achat.</a:t>
              </a:r>
              <a:r>
                <a:rPr lang="fr-FR" sz="1200">
                  <a:solidFill>
                    <a:srgbClr val="FFFFFF">
                      <a:lumMod val="65000"/>
                    </a:srgb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Il est frustré de devoir parcourir tout le site web pour comprendre à quelle prime il a droit. Il est également inquiet car il n’a aucune vue d’ensemble sur le coût total de l’achat d’une maison (en plus du prix d’achat).</a:t>
              </a:r>
              <a:endParaRPr lang="fr-BE" sz="1200">
                <a:solidFill>
                  <a:srgbClr val="FFFFFF">
                    <a:lumMod val="65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17" name="Groupe 2">
            <a:extLst>
              <a:ext uri="{FF2B5EF4-FFF2-40B4-BE49-F238E27FC236}">
                <a16:creationId xmlns:a16="http://schemas.microsoft.com/office/drawing/2014/main" id="{97E43152-595D-4373-AA1D-025BF3F6ADD4}"/>
              </a:ext>
            </a:extLst>
          </p:cNvPr>
          <p:cNvGrpSpPr/>
          <p:nvPr/>
        </p:nvGrpSpPr>
        <p:grpSpPr>
          <a:xfrm>
            <a:off x="8758840" y="4342838"/>
            <a:ext cx="668148" cy="668148"/>
            <a:chOff x="8758840" y="4342838"/>
            <a:chExt cx="668148" cy="668148"/>
          </a:xfrm>
          <a:solidFill>
            <a:schemeClr val="accent4"/>
          </a:solidFill>
        </p:grpSpPr>
        <p:sp>
          <p:nvSpPr>
            <p:cNvPr id="118" name="Freeform 79">
              <a:extLst>
                <a:ext uri="{FF2B5EF4-FFF2-40B4-BE49-F238E27FC236}">
                  <a16:creationId xmlns:a16="http://schemas.microsoft.com/office/drawing/2014/main" id="{39311975-F285-4579-BC8D-9ED2528E48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91147" y="4475145"/>
              <a:ext cx="406844" cy="406844"/>
            </a:xfrm>
            <a:custGeom>
              <a:avLst/>
              <a:gdLst>
                <a:gd name="T0" fmla="*/ 6 w 246"/>
                <a:gd name="T1" fmla="*/ 246 h 246"/>
                <a:gd name="T2" fmla="*/ 184 w 246"/>
                <a:gd name="T3" fmla="*/ 187 h 246"/>
                <a:gd name="T4" fmla="*/ 186 w 246"/>
                <a:gd name="T5" fmla="*/ 185 h 246"/>
                <a:gd name="T6" fmla="*/ 246 w 246"/>
                <a:gd name="T7" fmla="*/ 8 h 246"/>
                <a:gd name="T8" fmla="*/ 246 w 246"/>
                <a:gd name="T9" fmla="*/ 4 h 246"/>
                <a:gd name="T10" fmla="*/ 245 w 246"/>
                <a:gd name="T11" fmla="*/ 1 h 246"/>
                <a:gd name="T12" fmla="*/ 239 w 246"/>
                <a:gd name="T13" fmla="*/ 0 h 246"/>
                <a:gd name="T14" fmla="*/ 64 w 246"/>
                <a:gd name="T15" fmla="*/ 59 h 246"/>
                <a:gd name="T16" fmla="*/ 60 w 246"/>
                <a:gd name="T17" fmla="*/ 62 h 246"/>
                <a:gd name="T18" fmla="*/ 0 w 246"/>
                <a:gd name="T19" fmla="*/ 238 h 246"/>
                <a:gd name="T20" fmla="*/ 2 w 246"/>
                <a:gd name="T21" fmla="*/ 244 h 246"/>
                <a:gd name="T22" fmla="*/ 5 w 246"/>
                <a:gd name="T23" fmla="*/ 246 h 246"/>
                <a:gd name="T24" fmla="*/ 6 w 246"/>
                <a:gd name="T25" fmla="*/ 246 h 246"/>
                <a:gd name="T26" fmla="*/ 124 w 246"/>
                <a:gd name="T27" fmla="*/ 94 h 246"/>
                <a:gd name="T28" fmla="*/ 135 w 246"/>
                <a:gd name="T29" fmla="*/ 95 h 246"/>
                <a:gd name="T30" fmla="*/ 144 w 246"/>
                <a:gd name="T31" fmla="*/ 102 h 246"/>
                <a:gd name="T32" fmla="*/ 151 w 246"/>
                <a:gd name="T33" fmla="*/ 111 h 246"/>
                <a:gd name="T34" fmla="*/ 154 w 246"/>
                <a:gd name="T35" fmla="*/ 122 h 246"/>
                <a:gd name="T36" fmla="*/ 152 w 246"/>
                <a:gd name="T37" fmla="*/ 129 h 246"/>
                <a:gd name="T38" fmla="*/ 148 w 246"/>
                <a:gd name="T39" fmla="*/ 140 h 246"/>
                <a:gd name="T40" fmla="*/ 140 w 246"/>
                <a:gd name="T41" fmla="*/ 148 h 246"/>
                <a:gd name="T42" fmla="*/ 129 w 246"/>
                <a:gd name="T43" fmla="*/ 152 h 246"/>
                <a:gd name="T44" fmla="*/ 124 w 246"/>
                <a:gd name="T45" fmla="*/ 152 h 246"/>
                <a:gd name="T46" fmla="*/ 112 w 246"/>
                <a:gd name="T47" fmla="*/ 150 h 246"/>
                <a:gd name="T48" fmla="*/ 103 w 246"/>
                <a:gd name="T49" fmla="*/ 144 h 246"/>
                <a:gd name="T50" fmla="*/ 97 w 246"/>
                <a:gd name="T51" fmla="*/ 134 h 246"/>
                <a:gd name="T52" fmla="*/ 94 w 246"/>
                <a:gd name="T53" fmla="*/ 122 h 246"/>
                <a:gd name="T54" fmla="*/ 94 w 246"/>
                <a:gd name="T55" fmla="*/ 117 h 246"/>
                <a:gd name="T56" fmla="*/ 100 w 246"/>
                <a:gd name="T57" fmla="*/ 106 h 246"/>
                <a:gd name="T58" fmla="*/ 107 w 246"/>
                <a:gd name="T59" fmla="*/ 98 h 246"/>
                <a:gd name="T60" fmla="*/ 117 w 246"/>
                <a:gd name="T61" fmla="*/ 94 h 246"/>
                <a:gd name="T62" fmla="*/ 124 w 246"/>
                <a:gd name="T63" fmla="*/ 9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46" h="246">
                  <a:moveTo>
                    <a:pt x="6" y="246"/>
                  </a:moveTo>
                  <a:lnTo>
                    <a:pt x="6" y="246"/>
                  </a:lnTo>
                  <a:lnTo>
                    <a:pt x="9" y="246"/>
                  </a:lnTo>
                  <a:lnTo>
                    <a:pt x="184" y="187"/>
                  </a:lnTo>
                  <a:lnTo>
                    <a:pt x="184" y="187"/>
                  </a:lnTo>
                  <a:lnTo>
                    <a:pt x="186" y="185"/>
                  </a:lnTo>
                  <a:lnTo>
                    <a:pt x="188" y="184"/>
                  </a:lnTo>
                  <a:lnTo>
                    <a:pt x="246" y="8"/>
                  </a:lnTo>
                  <a:lnTo>
                    <a:pt x="246" y="8"/>
                  </a:lnTo>
                  <a:lnTo>
                    <a:pt x="246" y="4"/>
                  </a:lnTo>
                  <a:lnTo>
                    <a:pt x="245" y="1"/>
                  </a:lnTo>
                  <a:lnTo>
                    <a:pt x="245" y="1"/>
                  </a:lnTo>
                  <a:lnTo>
                    <a:pt x="242" y="0"/>
                  </a:lnTo>
                  <a:lnTo>
                    <a:pt x="239" y="0"/>
                  </a:lnTo>
                  <a:lnTo>
                    <a:pt x="64" y="59"/>
                  </a:lnTo>
                  <a:lnTo>
                    <a:pt x="64" y="59"/>
                  </a:lnTo>
                  <a:lnTo>
                    <a:pt x="61" y="60"/>
                  </a:lnTo>
                  <a:lnTo>
                    <a:pt x="60" y="62"/>
                  </a:lnTo>
                  <a:lnTo>
                    <a:pt x="0" y="238"/>
                  </a:lnTo>
                  <a:lnTo>
                    <a:pt x="0" y="238"/>
                  </a:lnTo>
                  <a:lnTo>
                    <a:pt x="0" y="242"/>
                  </a:lnTo>
                  <a:lnTo>
                    <a:pt x="2" y="244"/>
                  </a:lnTo>
                  <a:lnTo>
                    <a:pt x="2" y="244"/>
                  </a:lnTo>
                  <a:lnTo>
                    <a:pt x="5" y="246"/>
                  </a:lnTo>
                  <a:lnTo>
                    <a:pt x="6" y="246"/>
                  </a:lnTo>
                  <a:lnTo>
                    <a:pt x="6" y="246"/>
                  </a:lnTo>
                  <a:close/>
                  <a:moveTo>
                    <a:pt x="124" y="94"/>
                  </a:moveTo>
                  <a:lnTo>
                    <a:pt x="124" y="94"/>
                  </a:lnTo>
                  <a:lnTo>
                    <a:pt x="129" y="94"/>
                  </a:lnTo>
                  <a:lnTo>
                    <a:pt x="135" y="95"/>
                  </a:lnTo>
                  <a:lnTo>
                    <a:pt x="140" y="98"/>
                  </a:lnTo>
                  <a:lnTo>
                    <a:pt x="144" y="102"/>
                  </a:lnTo>
                  <a:lnTo>
                    <a:pt x="148" y="106"/>
                  </a:lnTo>
                  <a:lnTo>
                    <a:pt x="151" y="111"/>
                  </a:lnTo>
                  <a:lnTo>
                    <a:pt x="152" y="117"/>
                  </a:lnTo>
                  <a:lnTo>
                    <a:pt x="154" y="122"/>
                  </a:lnTo>
                  <a:lnTo>
                    <a:pt x="154" y="122"/>
                  </a:lnTo>
                  <a:lnTo>
                    <a:pt x="152" y="129"/>
                  </a:lnTo>
                  <a:lnTo>
                    <a:pt x="151" y="134"/>
                  </a:lnTo>
                  <a:lnTo>
                    <a:pt x="148" y="140"/>
                  </a:lnTo>
                  <a:lnTo>
                    <a:pt x="144" y="144"/>
                  </a:lnTo>
                  <a:lnTo>
                    <a:pt x="140" y="148"/>
                  </a:lnTo>
                  <a:lnTo>
                    <a:pt x="135" y="150"/>
                  </a:lnTo>
                  <a:lnTo>
                    <a:pt x="129" y="152"/>
                  </a:lnTo>
                  <a:lnTo>
                    <a:pt x="124" y="152"/>
                  </a:lnTo>
                  <a:lnTo>
                    <a:pt x="124" y="152"/>
                  </a:lnTo>
                  <a:lnTo>
                    <a:pt x="117" y="152"/>
                  </a:lnTo>
                  <a:lnTo>
                    <a:pt x="112" y="150"/>
                  </a:lnTo>
                  <a:lnTo>
                    <a:pt x="107" y="148"/>
                  </a:lnTo>
                  <a:lnTo>
                    <a:pt x="103" y="144"/>
                  </a:lnTo>
                  <a:lnTo>
                    <a:pt x="100" y="140"/>
                  </a:lnTo>
                  <a:lnTo>
                    <a:pt x="97" y="134"/>
                  </a:lnTo>
                  <a:lnTo>
                    <a:pt x="94" y="129"/>
                  </a:lnTo>
                  <a:lnTo>
                    <a:pt x="94" y="122"/>
                  </a:lnTo>
                  <a:lnTo>
                    <a:pt x="94" y="122"/>
                  </a:lnTo>
                  <a:lnTo>
                    <a:pt x="94" y="117"/>
                  </a:lnTo>
                  <a:lnTo>
                    <a:pt x="97" y="111"/>
                  </a:lnTo>
                  <a:lnTo>
                    <a:pt x="100" y="106"/>
                  </a:lnTo>
                  <a:lnTo>
                    <a:pt x="103" y="102"/>
                  </a:lnTo>
                  <a:lnTo>
                    <a:pt x="107" y="98"/>
                  </a:lnTo>
                  <a:lnTo>
                    <a:pt x="112" y="95"/>
                  </a:lnTo>
                  <a:lnTo>
                    <a:pt x="117" y="94"/>
                  </a:lnTo>
                  <a:lnTo>
                    <a:pt x="124" y="94"/>
                  </a:lnTo>
                  <a:lnTo>
                    <a:pt x="124" y="9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900B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9" name="Freeform 80">
              <a:extLst>
                <a:ext uri="{FF2B5EF4-FFF2-40B4-BE49-F238E27FC236}">
                  <a16:creationId xmlns:a16="http://schemas.microsoft.com/office/drawing/2014/main" id="{FBB80D70-C748-4920-BDDB-82C060887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9682" y="4342838"/>
              <a:ext cx="29770" cy="99230"/>
            </a:xfrm>
            <a:custGeom>
              <a:avLst/>
              <a:gdLst>
                <a:gd name="T0" fmla="*/ 9 w 17"/>
                <a:gd name="T1" fmla="*/ 0 h 59"/>
                <a:gd name="T2" fmla="*/ 9 w 17"/>
                <a:gd name="T3" fmla="*/ 0 h 59"/>
                <a:gd name="T4" fmla="*/ 5 w 17"/>
                <a:gd name="T5" fmla="*/ 0 h 59"/>
                <a:gd name="T6" fmla="*/ 2 w 17"/>
                <a:gd name="T7" fmla="*/ 2 h 59"/>
                <a:gd name="T8" fmla="*/ 0 w 17"/>
                <a:gd name="T9" fmla="*/ 5 h 59"/>
                <a:gd name="T10" fmla="*/ 0 w 17"/>
                <a:gd name="T11" fmla="*/ 9 h 59"/>
                <a:gd name="T12" fmla="*/ 0 w 17"/>
                <a:gd name="T13" fmla="*/ 49 h 59"/>
                <a:gd name="T14" fmla="*/ 0 w 17"/>
                <a:gd name="T15" fmla="*/ 49 h 59"/>
                <a:gd name="T16" fmla="*/ 0 w 17"/>
                <a:gd name="T17" fmla="*/ 53 h 59"/>
                <a:gd name="T18" fmla="*/ 2 w 17"/>
                <a:gd name="T19" fmla="*/ 56 h 59"/>
                <a:gd name="T20" fmla="*/ 5 w 17"/>
                <a:gd name="T21" fmla="*/ 58 h 59"/>
                <a:gd name="T22" fmla="*/ 9 w 17"/>
                <a:gd name="T23" fmla="*/ 59 h 59"/>
                <a:gd name="T24" fmla="*/ 9 w 17"/>
                <a:gd name="T25" fmla="*/ 59 h 59"/>
                <a:gd name="T26" fmla="*/ 12 w 17"/>
                <a:gd name="T27" fmla="*/ 58 h 59"/>
                <a:gd name="T28" fmla="*/ 14 w 17"/>
                <a:gd name="T29" fmla="*/ 56 h 59"/>
                <a:gd name="T30" fmla="*/ 17 w 17"/>
                <a:gd name="T31" fmla="*/ 53 h 59"/>
                <a:gd name="T32" fmla="*/ 17 w 17"/>
                <a:gd name="T33" fmla="*/ 49 h 59"/>
                <a:gd name="T34" fmla="*/ 17 w 17"/>
                <a:gd name="T35" fmla="*/ 9 h 59"/>
                <a:gd name="T36" fmla="*/ 17 w 17"/>
                <a:gd name="T37" fmla="*/ 9 h 59"/>
                <a:gd name="T38" fmla="*/ 17 w 17"/>
                <a:gd name="T39" fmla="*/ 5 h 59"/>
                <a:gd name="T40" fmla="*/ 14 w 17"/>
                <a:gd name="T41" fmla="*/ 2 h 59"/>
                <a:gd name="T42" fmla="*/ 12 w 17"/>
                <a:gd name="T43" fmla="*/ 0 h 59"/>
                <a:gd name="T44" fmla="*/ 9 w 17"/>
                <a:gd name="T45" fmla="*/ 0 h 59"/>
                <a:gd name="T46" fmla="*/ 9 w 17"/>
                <a:gd name="T4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" h="59">
                  <a:moveTo>
                    <a:pt x="9" y="0"/>
                  </a:moveTo>
                  <a:lnTo>
                    <a:pt x="9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0" y="9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53"/>
                  </a:lnTo>
                  <a:lnTo>
                    <a:pt x="2" y="56"/>
                  </a:lnTo>
                  <a:lnTo>
                    <a:pt x="5" y="58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2" y="58"/>
                  </a:lnTo>
                  <a:lnTo>
                    <a:pt x="14" y="56"/>
                  </a:lnTo>
                  <a:lnTo>
                    <a:pt x="17" y="53"/>
                  </a:lnTo>
                  <a:lnTo>
                    <a:pt x="17" y="49"/>
                  </a:lnTo>
                  <a:lnTo>
                    <a:pt x="17" y="9"/>
                  </a:lnTo>
                  <a:lnTo>
                    <a:pt x="17" y="9"/>
                  </a:lnTo>
                  <a:lnTo>
                    <a:pt x="17" y="5"/>
                  </a:lnTo>
                  <a:lnTo>
                    <a:pt x="14" y="2"/>
                  </a:lnTo>
                  <a:lnTo>
                    <a:pt x="12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900B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20" name="Freeform 81">
              <a:extLst>
                <a:ext uri="{FF2B5EF4-FFF2-40B4-BE49-F238E27FC236}">
                  <a16:creationId xmlns:a16="http://schemas.microsoft.com/office/drawing/2014/main" id="{8DCF5C07-970B-4E7A-A2BB-78B361A7F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1065" y="4663680"/>
              <a:ext cx="95923" cy="29770"/>
            </a:xfrm>
            <a:custGeom>
              <a:avLst/>
              <a:gdLst>
                <a:gd name="T0" fmla="*/ 51 w 59"/>
                <a:gd name="T1" fmla="*/ 0 h 18"/>
                <a:gd name="T2" fmla="*/ 10 w 59"/>
                <a:gd name="T3" fmla="*/ 0 h 18"/>
                <a:gd name="T4" fmla="*/ 10 w 59"/>
                <a:gd name="T5" fmla="*/ 0 h 18"/>
                <a:gd name="T6" fmla="*/ 7 w 59"/>
                <a:gd name="T7" fmla="*/ 0 h 18"/>
                <a:gd name="T8" fmla="*/ 3 w 59"/>
                <a:gd name="T9" fmla="*/ 3 h 18"/>
                <a:gd name="T10" fmla="*/ 2 w 59"/>
                <a:gd name="T11" fmla="*/ 5 h 18"/>
                <a:gd name="T12" fmla="*/ 0 w 59"/>
                <a:gd name="T13" fmla="*/ 8 h 18"/>
                <a:gd name="T14" fmla="*/ 0 w 59"/>
                <a:gd name="T15" fmla="*/ 8 h 18"/>
                <a:gd name="T16" fmla="*/ 2 w 59"/>
                <a:gd name="T17" fmla="*/ 12 h 18"/>
                <a:gd name="T18" fmla="*/ 3 w 59"/>
                <a:gd name="T19" fmla="*/ 15 h 18"/>
                <a:gd name="T20" fmla="*/ 7 w 59"/>
                <a:gd name="T21" fmla="*/ 18 h 18"/>
                <a:gd name="T22" fmla="*/ 10 w 59"/>
                <a:gd name="T23" fmla="*/ 18 h 18"/>
                <a:gd name="T24" fmla="*/ 51 w 59"/>
                <a:gd name="T25" fmla="*/ 18 h 18"/>
                <a:gd name="T26" fmla="*/ 51 w 59"/>
                <a:gd name="T27" fmla="*/ 18 h 18"/>
                <a:gd name="T28" fmla="*/ 54 w 59"/>
                <a:gd name="T29" fmla="*/ 18 h 18"/>
                <a:gd name="T30" fmla="*/ 57 w 59"/>
                <a:gd name="T31" fmla="*/ 15 h 18"/>
                <a:gd name="T32" fmla="*/ 59 w 59"/>
                <a:gd name="T33" fmla="*/ 12 h 18"/>
                <a:gd name="T34" fmla="*/ 59 w 59"/>
                <a:gd name="T35" fmla="*/ 8 h 18"/>
                <a:gd name="T36" fmla="*/ 59 w 59"/>
                <a:gd name="T37" fmla="*/ 8 h 18"/>
                <a:gd name="T38" fmla="*/ 59 w 59"/>
                <a:gd name="T39" fmla="*/ 5 h 18"/>
                <a:gd name="T40" fmla="*/ 57 w 59"/>
                <a:gd name="T41" fmla="*/ 3 h 18"/>
                <a:gd name="T42" fmla="*/ 54 w 59"/>
                <a:gd name="T43" fmla="*/ 0 h 18"/>
                <a:gd name="T44" fmla="*/ 51 w 59"/>
                <a:gd name="T45" fmla="*/ 0 h 18"/>
                <a:gd name="T46" fmla="*/ 51 w 59"/>
                <a:gd name="T4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18">
                  <a:moveTo>
                    <a:pt x="51" y="0"/>
                  </a:moveTo>
                  <a:lnTo>
                    <a:pt x="10" y="0"/>
                  </a:lnTo>
                  <a:lnTo>
                    <a:pt x="10" y="0"/>
                  </a:lnTo>
                  <a:lnTo>
                    <a:pt x="7" y="0"/>
                  </a:lnTo>
                  <a:lnTo>
                    <a:pt x="3" y="3"/>
                  </a:lnTo>
                  <a:lnTo>
                    <a:pt x="2" y="5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12"/>
                  </a:lnTo>
                  <a:lnTo>
                    <a:pt x="3" y="15"/>
                  </a:lnTo>
                  <a:lnTo>
                    <a:pt x="7" y="18"/>
                  </a:lnTo>
                  <a:lnTo>
                    <a:pt x="10" y="18"/>
                  </a:lnTo>
                  <a:lnTo>
                    <a:pt x="51" y="18"/>
                  </a:lnTo>
                  <a:lnTo>
                    <a:pt x="51" y="18"/>
                  </a:lnTo>
                  <a:lnTo>
                    <a:pt x="54" y="18"/>
                  </a:lnTo>
                  <a:lnTo>
                    <a:pt x="57" y="15"/>
                  </a:lnTo>
                  <a:lnTo>
                    <a:pt x="59" y="12"/>
                  </a:lnTo>
                  <a:lnTo>
                    <a:pt x="59" y="8"/>
                  </a:lnTo>
                  <a:lnTo>
                    <a:pt x="59" y="8"/>
                  </a:lnTo>
                  <a:lnTo>
                    <a:pt x="59" y="5"/>
                  </a:lnTo>
                  <a:lnTo>
                    <a:pt x="57" y="3"/>
                  </a:lnTo>
                  <a:lnTo>
                    <a:pt x="54" y="0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900B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21" name="Freeform 82">
              <a:extLst>
                <a:ext uri="{FF2B5EF4-FFF2-40B4-BE49-F238E27FC236}">
                  <a16:creationId xmlns:a16="http://schemas.microsoft.com/office/drawing/2014/main" id="{D8E2B1D9-E02B-4745-A37B-59E042CCA46F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9682" y="4915063"/>
              <a:ext cx="29770" cy="95923"/>
            </a:xfrm>
            <a:custGeom>
              <a:avLst/>
              <a:gdLst>
                <a:gd name="T0" fmla="*/ 9 w 17"/>
                <a:gd name="T1" fmla="*/ 0 h 59"/>
                <a:gd name="T2" fmla="*/ 9 w 17"/>
                <a:gd name="T3" fmla="*/ 0 h 59"/>
                <a:gd name="T4" fmla="*/ 5 w 17"/>
                <a:gd name="T5" fmla="*/ 1 h 59"/>
                <a:gd name="T6" fmla="*/ 2 w 17"/>
                <a:gd name="T7" fmla="*/ 3 h 59"/>
                <a:gd name="T8" fmla="*/ 0 w 17"/>
                <a:gd name="T9" fmla="*/ 5 h 59"/>
                <a:gd name="T10" fmla="*/ 0 w 17"/>
                <a:gd name="T11" fmla="*/ 9 h 59"/>
                <a:gd name="T12" fmla="*/ 0 w 17"/>
                <a:gd name="T13" fmla="*/ 49 h 59"/>
                <a:gd name="T14" fmla="*/ 0 w 17"/>
                <a:gd name="T15" fmla="*/ 49 h 59"/>
                <a:gd name="T16" fmla="*/ 0 w 17"/>
                <a:gd name="T17" fmla="*/ 54 h 59"/>
                <a:gd name="T18" fmla="*/ 2 w 17"/>
                <a:gd name="T19" fmla="*/ 56 h 59"/>
                <a:gd name="T20" fmla="*/ 5 w 17"/>
                <a:gd name="T21" fmla="*/ 59 h 59"/>
                <a:gd name="T22" fmla="*/ 9 w 17"/>
                <a:gd name="T23" fmla="*/ 59 h 59"/>
                <a:gd name="T24" fmla="*/ 9 w 17"/>
                <a:gd name="T25" fmla="*/ 59 h 59"/>
                <a:gd name="T26" fmla="*/ 12 w 17"/>
                <a:gd name="T27" fmla="*/ 59 h 59"/>
                <a:gd name="T28" fmla="*/ 14 w 17"/>
                <a:gd name="T29" fmla="*/ 56 h 59"/>
                <a:gd name="T30" fmla="*/ 17 w 17"/>
                <a:gd name="T31" fmla="*/ 54 h 59"/>
                <a:gd name="T32" fmla="*/ 17 w 17"/>
                <a:gd name="T33" fmla="*/ 49 h 59"/>
                <a:gd name="T34" fmla="*/ 17 w 17"/>
                <a:gd name="T35" fmla="*/ 9 h 59"/>
                <a:gd name="T36" fmla="*/ 17 w 17"/>
                <a:gd name="T37" fmla="*/ 9 h 59"/>
                <a:gd name="T38" fmla="*/ 17 w 17"/>
                <a:gd name="T39" fmla="*/ 5 h 59"/>
                <a:gd name="T40" fmla="*/ 14 w 17"/>
                <a:gd name="T41" fmla="*/ 3 h 59"/>
                <a:gd name="T42" fmla="*/ 12 w 17"/>
                <a:gd name="T43" fmla="*/ 1 h 59"/>
                <a:gd name="T44" fmla="*/ 9 w 17"/>
                <a:gd name="T45" fmla="*/ 0 h 59"/>
                <a:gd name="T46" fmla="*/ 9 w 17"/>
                <a:gd name="T4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" h="59">
                  <a:moveTo>
                    <a:pt x="9" y="0"/>
                  </a:moveTo>
                  <a:lnTo>
                    <a:pt x="9" y="0"/>
                  </a:lnTo>
                  <a:lnTo>
                    <a:pt x="5" y="1"/>
                  </a:lnTo>
                  <a:lnTo>
                    <a:pt x="2" y="3"/>
                  </a:lnTo>
                  <a:lnTo>
                    <a:pt x="0" y="5"/>
                  </a:lnTo>
                  <a:lnTo>
                    <a:pt x="0" y="9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54"/>
                  </a:lnTo>
                  <a:lnTo>
                    <a:pt x="2" y="56"/>
                  </a:lnTo>
                  <a:lnTo>
                    <a:pt x="5" y="59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2" y="59"/>
                  </a:lnTo>
                  <a:lnTo>
                    <a:pt x="14" y="56"/>
                  </a:lnTo>
                  <a:lnTo>
                    <a:pt x="17" y="54"/>
                  </a:lnTo>
                  <a:lnTo>
                    <a:pt x="17" y="49"/>
                  </a:lnTo>
                  <a:lnTo>
                    <a:pt x="17" y="9"/>
                  </a:lnTo>
                  <a:lnTo>
                    <a:pt x="17" y="9"/>
                  </a:lnTo>
                  <a:lnTo>
                    <a:pt x="17" y="5"/>
                  </a:lnTo>
                  <a:lnTo>
                    <a:pt x="14" y="3"/>
                  </a:lnTo>
                  <a:lnTo>
                    <a:pt x="12" y="1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900B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22" name="Freeform 83">
              <a:extLst>
                <a:ext uri="{FF2B5EF4-FFF2-40B4-BE49-F238E27FC236}">
                  <a16:creationId xmlns:a16="http://schemas.microsoft.com/office/drawing/2014/main" id="{021113C4-0691-45CD-9FE6-563854387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58840" y="4663680"/>
              <a:ext cx="99230" cy="29770"/>
            </a:xfrm>
            <a:custGeom>
              <a:avLst/>
              <a:gdLst>
                <a:gd name="T0" fmla="*/ 50 w 59"/>
                <a:gd name="T1" fmla="*/ 0 h 18"/>
                <a:gd name="T2" fmla="*/ 10 w 59"/>
                <a:gd name="T3" fmla="*/ 0 h 18"/>
                <a:gd name="T4" fmla="*/ 10 w 59"/>
                <a:gd name="T5" fmla="*/ 0 h 18"/>
                <a:gd name="T6" fmla="*/ 6 w 59"/>
                <a:gd name="T7" fmla="*/ 0 h 18"/>
                <a:gd name="T8" fmla="*/ 3 w 59"/>
                <a:gd name="T9" fmla="*/ 3 h 18"/>
                <a:gd name="T10" fmla="*/ 2 w 59"/>
                <a:gd name="T11" fmla="*/ 5 h 18"/>
                <a:gd name="T12" fmla="*/ 0 w 59"/>
                <a:gd name="T13" fmla="*/ 8 h 18"/>
                <a:gd name="T14" fmla="*/ 0 w 59"/>
                <a:gd name="T15" fmla="*/ 8 h 18"/>
                <a:gd name="T16" fmla="*/ 2 w 59"/>
                <a:gd name="T17" fmla="*/ 12 h 18"/>
                <a:gd name="T18" fmla="*/ 3 w 59"/>
                <a:gd name="T19" fmla="*/ 15 h 18"/>
                <a:gd name="T20" fmla="*/ 6 w 59"/>
                <a:gd name="T21" fmla="*/ 18 h 18"/>
                <a:gd name="T22" fmla="*/ 10 w 59"/>
                <a:gd name="T23" fmla="*/ 18 h 18"/>
                <a:gd name="T24" fmla="*/ 50 w 59"/>
                <a:gd name="T25" fmla="*/ 18 h 18"/>
                <a:gd name="T26" fmla="*/ 50 w 59"/>
                <a:gd name="T27" fmla="*/ 18 h 18"/>
                <a:gd name="T28" fmla="*/ 54 w 59"/>
                <a:gd name="T29" fmla="*/ 18 h 18"/>
                <a:gd name="T30" fmla="*/ 57 w 59"/>
                <a:gd name="T31" fmla="*/ 15 h 18"/>
                <a:gd name="T32" fmla="*/ 58 w 59"/>
                <a:gd name="T33" fmla="*/ 12 h 18"/>
                <a:gd name="T34" fmla="*/ 59 w 59"/>
                <a:gd name="T35" fmla="*/ 8 h 18"/>
                <a:gd name="T36" fmla="*/ 59 w 59"/>
                <a:gd name="T37" fmla="*/ 8 h 18"/>
                <a:gd name="T38" fmla="*/ 58 w 59"/>
                <a:gd name="T39" fmla="*/ 5 h 18"/>
                <a:gd name="T40" fmla="*/ 57 w 59"/>
                <a:gd name="T41" fmla="*/ 3 h 18"/>
                <a:gd name="T42" fmla="*/ 54 w 59"/>
                <a:gd name="T43" fmla="*/ 0 h 18"/>
                <a:gd name="T44" fmla="*/ 50 w 59"/>
                <a:gd name="T45" fmla="*/ 0 h 18"/>
                <a:gd name="T46" fmla="*/ 50 w 59"/>
                <a:gd name="T4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18">
                  <a:moveTo>
                    <a:pt x="50" y="0"/>
                  </a:moveTo>
                  <a:lnTo>
                    <a:pt x="10" y="0"/>
                  </a:lnTo>
                  <a:lnTo>
                    <a:pt x="10" y="0"/>
                  </a:lnTo>
                  <a:lnTo>
                    <a:pt x="6" y="0"/>
                  </a:lnTo>
                  <a:lnTo>
                    <a:pt x="3" y="3"/>
                  </a:lnTo>
                  <a:lnTo>
                    <a:pt x="2" y="5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12"/>
                  </a:lnTo>
                  <a:lnTo>
                    <a:pt x="3" y="15"/>
                  </a:lnTo>
                  <a:lnTo>
                    <a:pt x="6" y="18"/>
                  </a:lnTo>
                  <a:lnTo>
                    <a:pt x="10" y="18"/>
                  </a:lnTo>
                  <a:lnTo>
                    <a:pt x="50" y="18"/>
                  </a:lnTo>
                  <a:lnTo>
                    <a:pt x="50" y="18"/>
                  </a:lnTo>
                  <a:lnTo>
                    <a:pt x="54" y="18"/>
                  </a:lnTo>
                  <a:lnTo>
                    <a:pt x="57" y="15"/>
                  </a:lnTo>
                  <a:lnTo>
                    <a:pt x="58" y="12"/>
                  </a:lnTo>
                  <a:lnTo>
                    <a:pt x="59" y="8"/>
                  </a:lnTo>
                  <a:lnTo>
                    <a:pt x="59" y="8"/>
                  </a:lnTo>
                  <a:lnTo>
                    <a:pt x="58" y="5"/>
                  </a:lnTo>
                  <a:lnTo>
                    <a:pt x="57" y="3"/>
                  </a:lnTo>
                  <a:lnTo>
                    <a:pt x="54" y="0"/>
                  </a:lnTo>
                  <a:lnTo>
                    <a:pt x="50" y="0"/>
                  </a:lnTo>
                  <a:lnTo>
                    <a:pt x="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900B6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47468A53-94C2-41AC-96F2-580F48CE5C45}"/>
              </a:ext>
            </a:extLst>
          </p:cNvPr>
          <p:cNvSpPr txBox="1"/>
          <p:nvPr/>
        </p:nvSpPr>
        <p:spPr>
          <a:xfrm>
            <a:off x="4953146" y="4479449"/>
            <a:ext cx="29024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1" i="0" u="none" strike="noStrike" kern="1200" cap="none" spc="0" normalizeH="0" baseline="0" noProof="0">
                <a:ln>
                  <a:noFill/>
                </a:ln>
                <a:solidFill>
                  <a:srgbClr val="808080">
                    <a:lumMod val="50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Inquiétudes &amp; frustrations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069B722-8ADB-414F-89F8-816C2D720955}"/>
              </a:ext>
            </a:extLst>
          </p:cNvPr>
          <p:cNvSpPr txBox="1"/>
          <p:nvPr/>
        </p:nvSpPr>
        <p:spPr>
          <a:xfrm>
            <a:off x="8651596" y="4849947"/>
            <a:ext cx="3348000" cy="175432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lvl="0" algn="just">
              <a:defRPr/>
            </a:pPr>
            <a:r>
              <a:rPr lang="fr-FR" sz="1200">
                <a:solidFill>
                  <a:srgbClr val="FFFFFF">
                    <a:lumMod val="65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Il souhaiterait obtenir des conseils pratiques sur le processus d'achat de A à Z. Il aimerait avoir une check-list des primes qui lui sont applicables. Il souhaiterait également utiliser un simulateur pour calculer le coût total d’une maison, y compris les frais de notaire, les éventuelles rénovations, etc. Il trouve que ce  serait intéressant de pouvoir faire les demandes de prime via un formulaire en ligne.</a:t>
            </a:r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79A6310-EF9B-4FC8-B9D0-1019AC94B71E}"/>
              </a:ext>
            </a:extLst>
          </p:cNvPr>
          <p:cNvSpPr txBox="1"/>
          <p:nvPr/>
        </p:nvSpPr>
        <p:spPr>
          <a:xfrm>
            <a:off x="8933479" y="4484976"/>
            <a:ext cx="1179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1" i="0" u="none" strike="noStrike" kern="1200" cap="none" spc="0" normalizeH="0" baseline="0" noProof="0">
                <a:ln>
                  <a:noFill/>
                </a:ln>
                <a:solidFill>
                  <a:srgbClr val="808080">
                    <a:lumMod val="50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Besoins</a:t>
            </a:r>
          </a:p>
        </p:txBody>
      </p:sp>
    </p:spTree>
    <p:extLst>
      <p:ext uri="{BB962C8B-B14F-4D97-AF65-F5344CB8AC3E}">
        <p14:creationId xmlns:p14="http://schemas.microsoft.com/office/powerpoint/2010/main" val="12156299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ight Arrow 161"/>
          <p:cNvSpPr>
            <a:spLocks noChangeArrowheads="1"/>
          </p:cNvSpPr>
          <p:nvPr/>
        </p:nvSpPr>
        <p:spPr bwMode="auto">
          <a:xfrm>
            <a:off x="1552574" y="4801931"/>
            <a:ext cx="9374390" cy="82882"/>
          </a:xfrm>
          <a:prstGeom prst="rightArrow">
            <a:avLst>
              <a:gd name="adj1" fmla="val 50000"/>
              <a:gd name="adj2" fmla="val 49990"/>
            </a:avLst>
          </a:prstGeom>
          <a:solidFill>
            <a:schemeClr val="bg1">
              <a:lumMod val="85000"/>
            </a:schemeClr>
          </a:solidFill>
          <a:ln w="12700" algn="ctr">
            <a:noFill/>
            <a:round/>
            <a:headEnd/>
            <a:tailEnd/>
          </a:ln>
        </p:spPr>
        <p:txBody>
          <a:bodyPr lIns="72000" tIns="72000" rIns="72000" bIns="72000" anchor="ctr" anchorCtr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BE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Next Pro Light"/>
              <a:cs typeface="Arial" pitchFamily="34" charset="0"/>
            </a:endParaRPr>
          </a:p>
        </p:txBody>
      </p:sp>
      <p:sp>
        <p:nvSpPr>
          <p:cNvPr id="270" name="Right Arrow 161"/>
          <p:cNvSpPr>
            <a:spLocks noChangeArrowheads="1"/>
          </p:cNvSpPr>
          <p:nvPr/>
        </p:nvSpPr>
        <p:spPr bwMode="auto">
          <a:xfrm>
            <a:off x="1552574" y="4297114"/>
            <a:ext cx="9374390" cy="72000"/>
          </a:xfrm>
          <a:prstGeom prst="rightArrow">
            <a:avLst>
              <a:gd name="adj1" fmla="val 50000"/>
              <a:gd name="adj2" fmla="val 49990"/>
            </a:avLst>
          </a:prstGeom>
          <a:pattFill prst="pct20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12700" algn="ctr">
            <a:noFill/>
            <a:round/>
            <a:headEnd/>
            <a:tailEnd/>
          </a:ln>
        </p:spPr>
        <p:txBody>
          <a:bodyPr lIns="72000" tIns="72000" rIns="72000" bIns="72000" anchor="ctr" anchorCtr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BE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Next Pro Light"/>
              <a:cs typeface="Arial" pitchFamily="34" charset="0"/>
            </a:endParaRPr>
          </a:p>
        </p:txBody>
      </p:sp>
      <p:sp>
        <p:nvSpPr>
          <p:cNvPr id="273" name="Right Arrow 161"/>
          <p:cNvSpPr>
            <a:spLocks noChangeArrowheads="1"/>
          </p:cNvSpPr>
          <p:nvPr/>
        </p:nvSpPr>
        <p:spPr bwMode="auto">
          <a:xfrm>
            <a:off x="1552574" y="5303284"/>
            <a:ext cx="9374390" cy="72000"/>
          </a:xfrm>
          <a:prstGeom prst="rightArrow">
            <a:avLst>
              <a:gd name="adj1" fmla="val 50000"/>
              <a:gd name="adj2" fmla="val 49990"/>
            </a:avLst>
          </a:prstGeom>
          <a:pattFill prst="pct20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12700" algn="ctr">
            <a:noFill/>
            <a:round/>
            <a:headEnd/>
            <a:tailEnd/>
          </a:ln>
        </p:spPr>
        <p:txBody>
          <a:bodyPr lIns="72000" tIns="72000" rIns="72000" bIns="72000" anchor="ctr" anchorCtr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BE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Next Pro Light"/>
              <a:cs typeface="Arial" pitchFamily="34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601CA9-B399-43D6-AE0D-39CC6B76E444}"/>
              </a:ext>
            </a:extLst>
          </p:cNvPr>
          <p:cNvSpPr/>
          <p:nvPr/>
        </p:nvSpPr>
        <p:spPr>
          <a:xfrm>
            <a:off x="1812022" y="4102211"/>
            <a:ext cx="9882231" cy="1392709"/>
          </a:xfrm>
          <a:custGeom>
            <a:avLst/>
            <a:gdLst>
              <a:gd name="connsiteX0" fmla="*/ 0 w 9882231"/>
              <a:gd name="connsiteY0" fmla="*/ 1023462 h 1392709"/>
              <a:gd name="connsiteX1" fmla="*/ 1157681 w 9882231"/>
              <a:gd name="connsiteY1" fmla="*/ 780182 h 1392709"/>
              <a:gd name="connsiteX2" fmla="*/ 2416029 w 9882231"/>
              <a:gd name="connsiteY2" fmla="*/ 595624 h 1392709"/>
              <a:gd name="connsiteX3" fmla="*/ 2818701 w 9882231"/>
              <a:gd name="connsiteY3" fmla="*/ 1392578 h 1392709"/>
              <a:gd name="connsiteX4" fmla="*/ 3556932 w 9882231"/>
              <a:gd name="connsiteY4" fmla="*/ 528512 h 1392709"/>
              <a:gd name="connsiteX5" fmla="*/ 4412609 w 9882231"/>
              <a:gd name="connsiteY5" fmla="*/ 922795 h 1392709"/>
              <a:gd name="connsiteX6" fmla="*/ 5066950 w 9882231"/>
              <a:gd name="connsiteY6" fmla="*/ 444622 h 1392709"/>
              <a:gd name="connsiteX7" fmla="*/ 5897461 w 9882231"/>
              <a:gd name="connsiteY7" fmla="*/ 1115741 h 1392709"/>
              <a:gd name="connsiteX8" fmla="*/ 7248088 w 9882231"/>
              <a:gd name="connsiteY8" fmla="*/ 6 h 1392709"/>
              <a:gd name="connsiteX9" fmla="*/ 8942664 w 9882231"/>
              <a:gd name="connsiteY9" fmla="*/ 1098963 h 1392709"/>
              <a:gd name="connsiteX10" fmla="*/ 9882231 w 9882231"/>
              <a:gd name="connsiteY10" fmla="*/ 1300299 h 1392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82231" h="1392709">
                <a:moveTo>
                  <a:pt x="0" y="1023462"/>
                </a:moveTo>
                <a:cubicBezTo>
                  <a:pt x="377505" y="937475"/>
                  <a:pt x="755010" y="851488"/>
                  <a:pt x="1157681" y="780182"/>
                </a:cubicBezTo>
                <a:cubicBezTo>
                  <a:pt x="1560352" y="708876"/>
                  <a:pt x="2139192" y="493558"/>
                  <a:pt x="2416029" y="595624"/>
                </a:cubicBezTo>
                <a:cubicBezTo>
                  <a:pt x="2692866" y="697690"/>
                  <a:pt x="2628551" y="1403763"/>
                  <a:pt x="2818701" y="1392578"/>
                </a:cubicBezTo>
                <a:cubicBezTo>
                  <a:pt x="3008851" y="1381393"/>
                  <a:pt x="3291281" y="606809"/>
                  <a:pt x="3556932" y="528512"/>
                </a:cubicBezTo>
                <a:cubicBezTo>
                  <a:pt x="3822583" y="450215"/>
                  <a:pt x="4160939" y="936777"/>
                  <a:pt x="4412609" y="922795"/>
                </a:cubicBezTo>
                <a:cubicBezTo>
                  <a:pt x="4664279" y="908813"/>
                  <a:pt x="4819475" y="412464"/>
                  <a:pt x="5066950" y="444622"/>
                </a:cubicBezTo>
                <a:cubicBezTo>
                  <a:pt x="5314425" y="476780"/>
                  <a:pt x="5533938" y="1189844"/>
                  <a:pt x="5897461" y="1115741"/>
                </a:cubicBezTo>
                <a:cubicBezTo>
                  <a:pt x="6260984" y="1041638"/>
                  <a:pt x="6740554" y="2802"/>
                  <a:pt x="7248088" y="6"/>
                </a:cubicBezTo>
                <a:cubicBezTo>
                  <a:pt x="7755622" y="-2790"/>
                  <a:pt x="8503640" y="882247"/>
                  <a:pt x="8942664" y="1098963"/>
                </a:cubicBezTo>
                <a:cubicBezTo>
                  <a:pt x="9381688" y="1315679"/>
                  <a:pt x="9685090" y="1279327"/>
                  <a:pt x="9882231" y="1300299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20" name="Rectangle 119"/>
          <p:cNvSpPr/>
          <p:nvPr/>
        </p:nvSpPr>
        <p:spPr>
          <a:xfrm>
            <a:off x="3999091" y="3246228"/>
            <a:ext cx="2376000" cy="3331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914971" y="466344"/>
            <a:ext cx="3947632" cy="192979"/>
          </a:xfrm>
        </p:spPr>
        <p:txBody>
          <a:bodyPr/>
          <a:lstStyle/>
          <a:p>
            <a:r>
              <a:rPr lang="fr-BE" dirty="0"/>
              <a:t>PARCOURS USAGER ACTUEL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7517" y="694944"/>
            <a:ext cx="9277757" cy="594360"/>
          </a:xfrm>
        </p:spPr>
        <p:txBody>
          <a:bodyPr anchor="ctr"/>
          <a:lstStyle/>
          <a:p>
            <a:r>
              <a:rPr lang="fr-BE" sz="2400" dirty="0"/>
              <a:t>Jules Dupont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8649" y="1458879"/>
            <a:ext cx="850669" cy="2762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</a:rPr>
              <a:t>ETAPES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539968" y="1458879"/>
            <a:ext cx="2376000" cy="2762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lvl="0">
              <a:defRPr/>
            </a:pPr>
            <a:r>
              <a:rPr lang="fr-BE" sz="900" b="1" dirty="0">
                <a:solidFill>
                  <a:srgbClr val="000000"/>
                </a:solidFill>
              </a:rPr>
              <a:t>Je cherche l’information 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986508" y="1458878"/>
            <a:ext cx="2376000" cy="2762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lvl="0">
              <a:defRPr/>
            </a:pPr>
            <a:r>
              <a:rPr lang="fr-BE" sz="900" b="1" dirty="0">
                <a:solidFill>
                  <a:srgbClr val="000000"/>
                </a:solidFill>
              </a:rPr>
              <a:t>J’arrive sur le site web et je cherche l’information dont j’ai besoin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37500" y="1458878"/>
            <a:ext cx="2376000" cy="2762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lvl="0">
              <a:defRPr/>
            </a:pPr>
            <a:r>
              <a:rPr lang="fr-BE" sz="900" b="1" dirty="0">
                <a:solidFill>
                  <a:srgbClr val="000000"/>
                </a:solidFill>
              </a:rPr>
              <a:t>Je ne trouve pas ce que je cherche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28649" y="1802413"/>
            <a:ext cx="850669" cy="13881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</a:rPr>
              <a:t>ACTIONS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552574" y="1802414"/>
            <a:ext cx="2376000" cy="13881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</a:endParaRPr>
          </a:p>
        </p:txBody>
      </p:sp>
      <p:sp>
        <p:nvSpPr>
          <p:cNvPr id="217" name="Rectangle 216"/>
          <p:cNvSpPr/>
          <p:nvPr/>
        </p:nvSpPr>
        <p:spPr>
          <a:xfrm>
            <a:off x="3994096" y="1802413"/>
            <a:ext cx="2376000" cy="13881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</a:endParaRPr>
          </a:p>
        </p:txBody>
      </p:sp>
      <p:sp>
        <p:nvSpPr>
          <p:cNvPr id="224" name="Rectangle 223"/>
          <p:cNvSpPr/>
          <p:nvPr/>
        </p:nvSpPr>
        <p:spPr>
          <a:xfrm>
            <a:off x="6437500" y="1802413"/>
            <a:ext cx="2376000" cy="13881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6437500" y="3246228"/>
            <a:ext cx="2376000" cy="3331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628649" y="3246229"/>
            <a:ext cx="850669" cy="33315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</a:rPr>
              <a:t>CANAUX</a:t>
            </a:r>
          </a:p>
        </p:txBody>
      </p:sp>
      <p:sp>
        <p:nvSpPr>
          <p:cNvPr id="271" name="Right Arrow 161"/>
          <p:cNvSpPr>
            <a:spLocks noChangeArrowheads="1"/>
          </p:cNvSpPr>
          <p:nvPr/>
        </p:nvSpPr>
        <p:spPr bwMode="auto">
          <a:xfrm>
            <a:off x="1552574" y="3792297"/>
            <a:ext cx="9374390" cy="72000"/>
          </a:xfrm>
          <a:prstGeom prst="rightArrow">
            <a:avLst>
              <a:gd name="adj1" fmla="val 50000"/>
              <a:gd name="adj2" fmla="val 49990"/>
            </a:avLst>
          </a:prstGeom>
          <a:pattFill prst="pct20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12700" algn="ctr">
            <a:noFill/>
            <a:round/>
            <a:headEnd/>
            <a:tailEnd/>
          </a:ln>
        </p:spPr>
        <p:txBody>
          <a:bodyPr lIns="72000" tIns="72000" rIns="72000" bIns="72000" anchor="ctr" anchorCtr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BE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Next Pro Light"/>
              <a:cs typeface="Arial" pitchFamily="34" charset="0"/>
            </a:endParaRPr>
          </a:p>
        </p:txBody>
      </p:sp>
      <p:sp>
        <p:nvSpPr>
          <p:cNvPr id="272" name="Right Arrow 161"/>
          <p:cNvSpPr>
            <a:spLocks noChangeArrowheads="1"/>
          </p:cNvSpPr>
          <p:nvPr/>
        </p:nvSpPr>
        <p:spPr bwMode="auto">
          <a:xfrm>
            <a:off x="1552574" y="5808101"/>
            <a:ext cx="9374390" cy="72000"/>
          </a:xfrm>
          <a:prstGeom prst="rightArrow">
            <a:avLst>
              <a:gd name="adj1" fmla="val 50000"/>
              <a:gd name="adj2" fmla="val 49990"/>
            </a:avLst>
          </a:prstGeom>
          <a:pattFill prst="pct20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12700" algn="ctr">
            <a:noFill/>
            <a:round/>
            <a:headEnd/>
            <a:tailEnd/>
          </a:ln>
        </p:spPr>
        <p:txBody>
          <a:bodyPr lIns="72000" tIns="72000" rIns="72000" bIns="72000" anchor="ctr" anchorCtr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BE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utiger Next Pro Light"/>
              <a:cs typeface="Arial" pitchFamily="34" charset="0"/>
            </a:endParaRPr>
          </a:p>
        </p:txBody>
      </p:sp>
      <p:sp>
        <p:nvSpPr>
          <p:cNvPr id="274" name="Freeform 273"/>
          <p:cNvSpPr>
            <a:spLocks noChangeAspect="1" noEditPoints="1"/>
          </p:cNvSpPr>
          <p:nvPr/>
        </p:nvSpPr>
        <p:spPr bwMode="auto">
          <a:xfrm>
            <a:off x="1556427" y="3772039"/>
            <a:ext cx="118099" cy="118483"/>
          </a:xfrm>
          <a:custGeom>
            <a:avLst/>
            <a:gdLst>
              <a:gd name="T0" fmla="*/ 216 w 615"/>
              <a:gd name="T1" fmla="*/ 15 h 617"/>
              <a:gd name="T2" fmla="*/ 90 w 615"/>
              <a:gd name="T3" fmla="*/ 91 h 617"/>
              <a:gd name="T4" fmla="*/ 13 w 615"/>
              <a:gd name="T5" fmla="*/ 216 h 617"/>
              <a:gd name="T6" fmla="*/ 1 w 615"/>
              <a:gd name="T7" fmla="*/ 340 h 617"/>
              <a:gd name="T8" fmla="*/ 52 w 615"/>
              <a:gd name="T9" fmla="*/ 481 h 617"/>
              <a:gd name="T10" fmla="*/ 161 w 615"/>
              <a:gd name="T11" fmla="*/ 579 h 617"/>
              <a:gd name="T12" fmla="*/ 307 w 615"/>
              <a:gd name="T13" fmla="*/ 617 h 617"/>
              <a:gd name="T14" fmla="*/ 427 w 615"/>
              <a:gd name="T15" fmla="*/ 592 h 617"/>
              <a:gd name="T16" fmla="*/ 545 w 615"/>
              <a:gd name="T17" fmla="*/ 504 h 617"/>
              <a:gd name="T18" fmla="*/ 608 w 615"/>
              <a:gd name="T19" fmla="*/ 371 h 617"/>
              <a:gd name="T20" fmla="*/ 608 w 615"/>
              <a:gd name="T21" fmla="*/ 246 h 617"/>
              <a:gd name="T22" fmla="*/ 545 w 615"/>
              <a:gd name="T23" fmla="*/ 113 h 617"/>
              <a:gd name="T24" fmla="*/ 427 w 615"/>
              <a:gd name="T25" fmla="*/ 24 h 617"/>
              <a:gd name="T26" fmla="*/ 307 w 615"/>
              <a:gd name="T27" fmla="*/ 0 h 617"/>
              <a:gd name="T28" fmla="*/ 216 w 615"/>
              <a:gd name="T29" fmla="*/ 188 h 617"/>
              <a:gd name="T30" fmla="*/ 237 w 615"/>
              <a:gd name="T31" fmla="*/ 228 h 617"/>
              <a:gd name="T32" fmla="*/ 228 w 615"/>
              <a:gd name="T33" fmla="*/ 239 h 617"/>
              <a:gd name="T34" fmla="*/ 217 w 615"/>
              <a:gd name="T35" fmla="*/ 228 h 617"/>
              <a:gd name="T36" fmla="*/ 209 w 615"/>
              <a:gd name="T37" fmla="*/ 208 h 617"/>
              <a:gd name="T38" fmla="*/ 188 w 615"/>
              <a:gd name="T39" fmla="*/ 199 h 617"/>
              <a:gd name="T40" fmla="*/ 164 w 615"/>
              <a:gd name="T41" fmla="*/ 212 h 617"/>
              <a:gd name="T42" fmla="*/ 157 w 615"/>
              <a:gd name="T43" fmla="*/ 232 h 617"/>
              <a:gd name="T44" fmla="*/ 145 w 615"/>
              <a:gd name="T45" fmla="*/ 238 h 617"/>
              <a:gd name="T46" fmla="*/ 139 w 615"/>
              <a:gd name="T47" fmla="*/ 219 h 617"/>
              <a:gd name="T48" fmla="*/ 169 w 615"/>
              <a:gd name="T49" fmla="*/ 183 h 617"/>
              <a:gd name="T50" fmla="*/ 307 w 615"/>
              <a:gd name="T51" fmla="*/ 497 h 617"/>
              <a:gd name="T52" fmla="*/ 227 w 615"/>
              <a:gd name="T53" fmla="*/ 477 h 617"/>
              <a:gd name="T54" fmla="*/ 168 w 615"/>
              <a:gd name="T55" fmla="*/ 423 h 617"/>
              <a:gd name="T56" fmla="*/ 139 w 615"/>
              <a:gd name="T57" fmla="*/ 345 h 617"/>
              <a:gd name="T58" fmla="*/ 145 w 615"/>
              <a:gd name="T59" fmla="*/ 320 h 617"/>
              <a:gd name="T60" fmla="*/ 157 w 615"/>
              <a:gd name="T61" fmla="*/ 324 h 617"/>
              <a:gd name="T62" fmla="*/ 165 w 615"/>
              <a:gd name="T63" fmla="*/ 372 h 617"/>
              <a:gd name="T64" fmla="*/ 201 w 615"/>
              <a:gd name="T65" fmla="*/ 434 h 617"/>
              <a:gd name="T66" fmla="*/ 263 w 615"/>
              <a:gd name="T67" fmla="*/ 470 h 617"/>
              <a:gd name="T68" fmla="*/ 322 w 615"/>
              <a:gd name="T69" fmla="*/ 477 h 617"/>
              <a:gd name="T70" fmla="*/ 391 w 615"/>
              <a:gd name="T71" fmla="*/ 451 h 617"/>
              <a:gd name="T72" fmla="*/ 438 w 615"/>
              <a:gd name="T73" fmla="*/ 399 h 617"/>
              <a:gd name="T74" fmla="*/ 456 w 615"/>
              <a:gd name="T75" fmla="*/ 328 h 617"/>
              <a:gd name="T76" fmla="*/ 466 w 615"/>
              <a:gd name="T77" fmla="*/ 318 h 617"/>
              <a:gd name="T78" fmla="*/ 475 w 615"/>
              <a:gd name="T79" fmla="*/ 328 h 617"/>
              <a:gd name="T80" fmla="*/ 463 w 615"/>
              <a:gd name="T81" fmla="*/ 394 h 617"/>
              <a:gd name="T82" fmla="*/ 415 w 615"/>
              <a:gd name="T83" fmla="*/ 458 h 617"/>
              <a:gd name="T84" fmla="*/ 341 w 615"/>
              <a:gd name="T85" fmla="*/ 493 h 617"/>
              <a:gd name="T86" fmla="*/ 466 w 615"/>
              <a:gd name="T87" fmla="*/ 239 h 617"/>
              <a:gd name="T88" fmla="*/ 456 w 615"/>
              <a:gd name="T89" fmla="*/ 228 h 617"/>
              <a:gd name="T90" fmla="*/ 443 w 615"/>
              <a:gd name="T91" fmla="*/ 204 h 617"/>
              <a:gd name="T92" fmla="*/ 420 w 615"/>
              <a:gd name="T93" fmla="*/ 200 h 617"/>
              <a:gd name="T94" fmla="*/ 399 w 615"/>
              <a:gd name="T95" fmla="*/ 218 h 617"/>
              <a:gd name="T96" fmla="*/ 393 w 615"/>
              <a:gd name="T97" fmla="*/ 236 h 617"/>
              <a:gd name="T98" fmla="*/ 380 w 615"/>
              <a:gd name="T99" fmla="*/ 236 h 617"/>
              <a:gd name="T100" fmla="*/ 380 w 615"/>
              <a:gd name="T101" fmla="*/ 210 h 617"/>
              <a:gd name="T102" fmla="*/ 416 w 615"/>
              <a:gd name="T103" fmla="*/ 180 h 617"/>
              <a:gd name="T104" fmla="*/ 454 w 615"/>
              <a:gd name="T105" fmla="*/ 188 h 617"/>
              <a:gd name="T106" fmla="*/ 475 w 615"/>
              <a:gd name="T107" fmla="*/ 228 h 617"/>
              <a:gd name="T108" fmla="*/ 466 w 615"/>
              <a:gd name="T109" fmla="*/ 239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615" h="617">
                <a:moveTo>
                  <a:pt x="307" y="0"/>
                </a:moveTo>
                <a:lnTo>
                  <a:pt x="307" y="0"/>
                </a:lnTo>
                <a:lnTo>
                  <a:pt x="275" y="3"/>
                </a:lnTo>
                <a:lnTo>
                  <a:pt x="245" y="7"/>
                </a:lnTo>
                <a:lnTo>
                  <a:pt x="216" y="15"/>
                </a:lnTo>
                <a:lnTo>
                  <a:pt x="188" y="24"/>
                </a:lnTo>
                <a:lnTo>
                  <a:pt x="161" y="38"/>
                </a:lnTo>
                <a:lnTo>
                  <a:pt x="135" y="54"/>
                </a:lnTo>
                <a:lnTo>
                  <a:pt x="111" y="71"/>
                </a:lnTo>
                <a:lnTo>
                  <a:pt x="90" y="91"/>
                </a:lnTo>
                <a:lnTo>
                  <a:pt x="70" y="113"/>
                </a:lnTo>
                <a:lnTo>
                  <a:pt x="52" y="137"/>
                </a:lnTo>
                <a:lnTo>
                  <a:pt x="36" y="161"/>
                </a:lnTo>
                <a:lnTo>
                  <a:pt x="24" y="188"/>
                </a:lnTo>
                <a:lnTo>
                  <a:pt x="13" y="216"/>
                </a:lnTo>
                <a:lnTo>
                  <a:pt x="5" y="246"/>
                </a:lnTo>
                <a:lnTo>
                  <a:pt x="1" y="277"/>
                </a:lnTo>
                <a:lnTo>
                  <a:pt x="0" y="309"/>
                </a:lnTo>
                <a:lnTo>
                  <a:pt x="0" y="309"/>
                </a:lnTo>
                <a:lnTo>
                  <a:pt x="1" y="340"/>
                </a:lnTo>
                <a:lnTo>
                  <a:pt x="5" y="371"/>
                </a:lnTo>
                <a:lnTo>
                  <a:pt x="13" y="400"/>
                </a:lnTo>
                <a:lnTo>
                  <a:pt x="24" y="428"/>
                </a:lnTo>
                <a:lnTo>
                  <a:pt x="36" y="455"/>
                </a:lnTo>
                <a:lnTo>
                  <a:pt x="52" y="481"/>
                </a:lnTo>
                <a:lnTo>
                  <a:pt x="70" y="504"/>
                </a:lnTo>
                <a:lnTo>
                  <a:pt x="90" y="527"/>
                </a:lnTo>
                <a:lnTo>
                  <a:pt x="111" y="545"/>
                </a:lnTo>
                <a:lnTo>
                  <a:pt x="135" y="564"/>
                </a:lnTo>
                <a:lnTo>
                  <a:pt x="161" y="579"/>
                </a:lnTo>
                <a:lnTo>
                  <a:pt x="188" y="592"/>
                </a:lnTo>
                <a:lnTo>
                  <a:pt x="216" y="602"/>
                </a:lnTo>
                <a:lnTo>
                  <a:pt x="245" y="610"/>
                </a:lnTo>
                <a:lnTo>
                  <a:pt x="275" y="615"/>
                </a:lnTo>
                <a:lnTo>
                  <a:pt x="307" y="617"/>
                </a:lnTo>
                <a:lnTo>
                  <a:pt x="307" y="617"/>
                </a:lnTo>
                <a:lnTo>
                  <a:pt x="338" y="615"/>
                </a:lnTo>
                <a:lnTo>
                  <a:pt x="369" y="610"/>
                </a:lnTo>
                <a:lnTo>
                  <a:pt x="399" y="602"/>
                </a:lnTo>
                <a:lnTo>
                  <a:pt x="427" y="592"/>
                </a:lnTo>
                <a:lnTo>
                  <a:pt x="454" y="579"/>
                </a:lnTo>
                <a:lnTo>
                  <a:pt x="479" y="564"/>
                </a:lnTo>
                <a:lnTo>
                  <a:pt x="502" y="545"/>
                </a:lnTo>
                <a:lnTo>
                  <a:pt x="525" y="527"/>
                </a:lnTo>
                <a:lnTo>
                  <a:pt x="545" y="504"/>
                </a:lnTo>
                <a:lnTo>
                  <a:pt x="562" y="481"/>
                </a:lnTo>
                <a:lnTo>
                  <a:pt x="577" y="455"/>
                </a:lnTo>
                <a:lnTo>
                  <a:pt x="591" y="428"/>
                </a:lnTo>
                <a:lnTo>
                  <a:pt x="601" y="400"/>
                </a:lnTo>
                <a:lnTo>
                  <a:pt x="608" y="371"/>
                </a:lnTo>
                <a:lnTo>
                  <a:pt x="613" y="340"/>
                </a:lnTo>
                <a:lnTo>
                  <a:pt x="615" y="309"/>
                </a:lnTo>
                <a:lnTo>
                  <a:pt x="615" y="309"/>
                </a:lnTo>
                <a:lnTo>
                  <a:pt x="613" y="277"/>
                </a:lnTo>
                <a:lnTo>
                  <a:pt x="608" y="246"/>
                </a:lnTo>
                <a:lnTo>
                  <a:pt x="601" y="216"/>
                </a:lnTo>
                <a:lnTo>
                  <a:pt x="591" y="188"/>
                </a:lnTo>
                <a:lnTo>
                  <a:pt x="577" y="161"/>
                </a:lnTo>
                <a:lnTo>
                  <a:pt x="562" y="137"/>
                </a:lnTo>
                <a:lnTo>
                  <a:pt x="545" y="113"/>
                </a:lnTo>
                <a:lnTo>
                  <a:pt x="525" y="91"/>
                </a:lnTo>
                <a:lnTo>
                  <a:pt x="502" y="71"/>
                </a:lnTo>
                <a:lnTo>
                  <a:pt x="479" y="54"/>
                </a:lnTo>
                <a:lnTo>
                  <a:pt x="454" y="38"/>
                </a:lnTo>
                <a:lnTo>
                  <a:pt x="427" y="24"/>
                </a:lnTo>
                <a:lnTo>
                  <a:pt x="399" y="15"/>
                </a:lnTo>
                <a:lnTo>
                  <a:pt x="369" y="7"/>
                </a:lnTo>
                <a:lnTo>
                  <a:pt x="338" y="3"/>
                </a:lnTo>
                <a:lnTo>
                  <a:pt x="307" y="0"/>
                </a:lnTo>
                <a:lnTo>
                  <a:pt x="307" y="0"/>
                </a:lnTo>
                <a:close/>
                <a:moveTo>
                  <a:pt x="188" y="179"/>
                </a:moveTo>
                <a:lnTo>
                  <a:pt x="188" y="179"/>
                </a:lnTo>
                <a:lnTo>
                  <a:pt x="197" y="180"/>
                </a:lnTo>
                <a:lnTo>
                  <a:pt x="207" y="183"/>
                </a:lnTo>
                <a:lnTo>
                  <a:pt x="216" y="188"/>
                </a:lnTo>
                <a:lnTo>
                  <a:pt x="223" y="193"/>
                </a:lnTo>
                <a:lnTo>
                  <a:pt x="229" y="202"/>
                </a:lnTo>
                <a:lnTo>
                  <a:pt x="233" y="210"/>
                </a:lnTo>
                <a:lnTo>
                  <a:pt x="236" y="219"/>
                </a:lnTo>
                <a:lnTo>
                  <a:pt x="237" y="228"/>
                </a:lnTo>
                <a:lnTo>
                  <a:pt x="237" y="228"/>
                </a:lnTo>
                <a:lnTo>
                  <a:pt x="236" y="232"/>
                </a:lnTo>
                <a:lnTo>
                  <a:pt x="235" y="236"/>
                </a:lnTo>
                <a:lnTo>
                  <a:pt x="232" y="238"/>
                </a:lnTo>
                <a:lnTo>
                  <a:pt x="228" y="239"/>
                </a:lnTo>
                <a:lnTo>
                  <a:pt x="228" y="239"/>
                </a:lnTo>
                <a:lnTo>
                  <a:pt x="224" y="238"/>
                </a:lnTo>
                <a:lnTo>
                  <a:pt x="220" y="236"/>
                </a:lnTo>
                <a:lnTo>
                  <a:pt x="219" y="232"/>
                </a:lnTo>
                <a:lnTo>
                  <a:pt x="217" y="228"/>
                </a:lnTo>
                <a:lnTo>
                  <a:pt x="217" y="228"/>
                </a:lnTo>
                <a:lnTo>
                  <a:pt x="217" y="223"/>
                </a:lnTo>
                <a:lnTo>
                  <a:pt x="215" y="218"/>
                </a:lnTo>
                <a:lnTo>
                  <a:pt x="212" y="212"/>
                </a:lnTo>
                <a:lnTo>
                  <a:pt x="209" y="208"/>
                </a:lnTo>
                <a:lnTo>
                  <a:pt x="204" y="204"/>
                </a:lnTo>
                <a:lnTo>
                  <a:pt x="200" y="202"/>
                </a:lnTo>
                <a:lnTo>
                  <a:pt x="194" y="200"/>
                </a:lnTo>
                <a:lnTo>
                  <a:pt x="188" y="199"/>
                </a:lnTo>
                <a:lnTo>
                  <a:pt x="188" y="199"/>
                </a:lnTo>
                <a:lnTo>
                  <a:pt x="182" y="200"/>
                </a:lnTo>
                <a:lnTo>
                  <a:pt x="176" y="202"/>
                </a:lnTo>
                <a:lnTo>
                  <a:pt x="172" y="204"/>
                </a:lnTo>
                <a:lnTo>
                  <a:pt x="166" y="208"/>
                </a:lnTo>
                <a:lnTo>
                  <a:pt x="164" y="212"/>
                </a:lnTo>
                <a:lnTo>
                  <a:pt x="161" y="218"/>
                </a:lnTo>
                <a:lnTo>
                  <a:pt x="158" y="223"/>
                </a:lnTo>
                <a:lnTo>
                  <a:pt x="158" y="228"/>
                </a:lnTo>
                <a:lnTo>
                  <a:pt x="158" y="228"/>
                </a:lnTo>
                <a:lnTo>
                  <a:pt x="157" y="232"/>
                </a:lnTo>
                <a:lnTo>
                  <a:pt x="155" y="236"/>
                </a:lnTo>
                <a:lnTo>
                  <a:pt x="151" y="238"/>
                </a:lnTo>
                <a:lnTo>
                  <a:pt x="147" y="239"/>
                </a:lnTo>
                <a:lnTo>
                  <a:pt x="147" y="239"/>
                </a:lnTo>
                <a:lnTo>
                  <a:pt x="145" y="238"/>
                </a:lnTo>
                <a:lnTo>
                  <a:pt x="141" y="236"/>
                </a:lnTo>
                <a:lnTo>
                  <a:pt x="139" y="232"/>
                </a:lnTo>
                <a:lnTo>
                  <a:pt x="138" y="228"/>
                </a:lnTo>
                <a:lnTo>
                  <a:pt x="138" y="228"/>
                </a:lnTo>
                <a:lnTo>
                  <a:pt x="139" y="219"/>
                </a:lnTo>
                <a:lnTo>
                  <a:pt x="142" y="210"/>
                </a:lnTo>
                <a:lnTo>
                  <a:pt x="146" y="202"/>
                </a:lnTo>
                <a:lnTo>
                  <a:pt x="153" y="193"/>
                </a:lnTo>
                <a:lnTo>
                  <a:pt x="160" y="188"/>
                </a:lnTo>
                <a:lnTo>
                  <a:pt x="169" y="183"/>
                </a:lnTo>
                <a:lnTo>
                  <a:pt x="178" y="180"/>
                </a:lnTo>
                <a:lnTo>
                  <a:pt x="188" y="179"/>
                </a:lnTo>
                <a:lnTo>
                  <a:pt x="188" y="179"/>
                </a:lnTo>
                <a:close/>
                <a:moveTo>
                  <a:pt x="307" y="497"/>
                </a:moveTo>
                <a:lnTo>
                  <a:pt x="307" y="497"/>
                </a:lnTo>
                <a:lnTo>
                  <a:pt x="290" y="496"/>
                </a:lnTo>
                <a:lnTo>
                  <a:pt x="272" y="493"/>
                </a:lnTo>
                <a:lnTo>
                  <a:pt x="256" y="489"/>
                </a:lnTo>
                <a:lnTo>
                  <a:pt x="241" y="484"/>
                </a:lnTo>
                <a:lnTo>
                  <a:pt x="227" y="477"/>
                </a:lnTo>
                <a:lnTo>
                  <a:pt x="213" y="469"/>
                </a:lnTo>
                <a:lnTo>
                  <a:pt x="200" y="458"/>
                </a:lnTo>
                <a:lnTo>
                  <a:pt x="188" y="447"/>
                </a:lnTo>
                <a:lnTo>
                  <a:pt x="177" y="435"/>
                </a:lnTo>
                <a:lnTo>
                  <a:pt x="168" y="423"/>
                </a:lnTo>
                <a:lnTo>
                  <a:pt x="158" y="408"/>
                </a:lnTo>
                <a:lnTo>
                  <a:pt x="151" y="394"/>
                </a:lnTo>
                <a:lnTo>
                  <a:pt x="146" y="379"/>
                </a:lnTo>
                <a:lnTo>
                  <a:pt x="142" y="363"/>
                </a:lnTo>
                <a:lnTo>
                  <a:pt x="139" y="345"/>
                </a:lnTo>
                <a:lnTo>
                  <a:pt x="138" y="328"/>
                </a:lnTo>
                <a:lnTo>
                  <a:pt x="138" y="328"/>
                </a:lnTo>
                <a:lnTo>
                  <a:pt x="139" y="324"/>
                </a:lnTo>
                <a:lnTo>
                  <a:pt x="141" y="321"/>
                </a:lnTo>
                <a:lnTo>
                  <a:pt x="145" y="320"/>
                </a:lnTo>
                <a:lnTo>
                  <a:pt x="147" y="318"/>
                </a:lnTo>
                <a:lnTo>
                  <a:pt x="147" y="318"/>
                </a:lnTo>
                <a:lnTo>
                  <a:pt x="151" y="320"/>
                </a:lnTo>
                <a:lnTo>
                  <a:pt x="155" y="321"/>
                </a:lnTo>
                <a:lnTo>
                  <a:pt x="157" y="324"/>
                </a:lnTo>
                <a:lnTo>
                  <a:pt x="158" y="328"/>
                </a:lnTo>
                <a:lnTo>
                  <a:pt x="158" y="328"/>
                </a:lnTo>
                <a:lnTo>
                  <a:pt x="158" y="344"/>
                </a:lnTo>
                <a:lnTo>
                  <a:pt x="161" y="359"/>
                </a:lnTo>
                <a:lnTo>
                  <a:pt x="165" y="372"/>
                </a:lnTo>
                <a:lnTo>
                  <a:pt x="170" y="386"/>
                </a:lnTo>
                <a:lnTo>
                  <a:pt x="176" y="399"/>
                </a:lnTo>
                <a:lnTo>
                  <a:pt x="184" y="411"/>
                </a:lnTo>
                <a:lnTo>
                  <a:pt x="192" y="423"/>
                </a:lnTo>
                <a:lnTo>
                  <a:pt x="201" y="434"/>
                </a:lnTo>
                <a:lnTo>
                  <a:pt x="212" y="443"/>
                </a:lnTo>
                <a:lnTo>
                  <a:pt x="224" y="451"/>
                </a:lnTo>
                <a:lnTo>
                  <a:pt x="236" y="459"/>
                </a:lnTo>
                <a:lnTo>
                  <a:pt x="250" y="465"/>
                </a:lnTo>
                <a:lnTo>
                  <a:pt x="263" y="470"/>
                </a:lnTo>
                <a:lnTo>
                  <a:pt x="276" y="474"/>
                </a:lnTo>
                <a:lnTo>
                  <a:pt x="291" y="477"/>
                </a:lnTo>
                <a:lnTo>
                  <a:pt x="307" y="477"/>
                </a:lnTo>
                <a:lnTo>
                  <a:pt x="307" y="477"/>
                </a:lnTo>
                <a:lnTo>
                  <a:pt x="322" y="477"/>
                </a:lnTo>
                <a:lnTo>
                  <a:pt x="337" y="474"/>
                </a:lnTo>
                <a:lnTo>
                  <a:pt x="352" y="470"/>
                </a:lnTo>
                <a:lnTo>
                  <a:pt x="365" y="465"/>
                </a:lnTo>
                <a:lnTo>
                  <a:pt x="378" y="459"/>
                </a:lnTo>
                <a:lnTo>
                  <a:pt x="391" y="451"/>
                </a:lnTo>
                <a:lnTo>
                  <a:pt x="401" y="443"/>
                </a:lnTo>
                <a:lnTo>
                  <a:pt x="412" y="434"/>
                </a:lnTo>
                <a:lnTo>
                  <a:pt x="421" y="423"/>
                </a:lnTo>
                <a:lnTo>
                  <a:pt x="431" y="411"/>
                </a:lnTo>
                <a:lnTo>
                  <a:pt x="438" y="399"/>
                </a:lnTo>
                <a:lnTo>
                  <a:pt x="444" y="386"/>
                </a:lnTo>
                <a:lnTo>
                  <a:pt x="450" y="372"/>
                </a:lnTo>
                <a:lnTo>
                  <a:pt x="452" y="359"/>
                </a:lnTo>
                <a:lnTo>
                  <a:pt x="455" y="344"/>
                </a:lnTo>
                <a:lnTo>
                  <a:pt x="456" y="328"/>
                </a:lnTo>
                <a:lnTo>
                  <a:pt x="456" y="328"/>
                </a:lnTo>
                <a:lnTo>
                  <a:pt x="456" y="324"/>
                </a:lnTo>
                <a:lnTo>
                  <a:pt x="459" y="321"/>
                </a:lnTo>
                <a:lnTo>
                  <a:pt x="462" y="320"/>
                </a:lnTo>
                <a:lnTo>
                  <a:pt x="466" y="318"/>
                </a:lnTo>
                <a:lnTo>
                  <a:pt x="466" y="318"/>
                </a:lnTo>
                <a:lnTo>
                  <a:pt x="470" y="320"/>
                </a:lnTo>
                <a:lnTo>
                  <a:pt x="472" y="321"/>
                </a:lnTo>
                <a:lnTo>
                  <a:pt x="475" y="324"/>
                </a:lnTo>
                <a:lnTo>
                  <a:pt x="475" y="328"/>
                </a:lnTo>
                <a:lnTo>
                  <a:pt x="475" y="328"/>
                </a:lnTo>
                <a:lnTo>
                  <a:pt x="475" y="345"/>
                </a:lnTo>
                <a:lnTo>
                  <a:pt x="472" y="363"/>
                </a:lnTo>
                <a:lnTo>
                  <a:pt x="468" y="379"/>
                </a:lnTo>
                <a:lnTo>
                  <a:pt x="463" y="394"/>
                </a:lnTo>
                <a:lnTo>
                  <a:pt x="455" y="408"/>
                </a:lnTo>
                <a:lnTo>
                  <a:pt x="447" y="423"/>
                </a:lnTo>
                <a:lnTo>
                  <a:pt x="438" y="435"/>
                </a:lnTo>
                <a:lnTo>
                  <a:pt x="427" y="447"/>
                </a:lnTo>
                <a:lnTo>
                  <a:pt x="415" y="458"/>
                </a:lnTo>
                <a:lnTo>
                  <a:pt x="401" y="469"/>
                </a:lnTo>
                <a:lnTo>
                  <a:pt x="388" y="477"/>
                </a:lnTo>
                <a:lnTo>
                  <a:pt x="373" y="484"/>
                </a:lnTo>
                <a:lnTo>
                  <a:pt x="357" y="489"/>
                </a:lnTo>
                <a:lnTo>
                  <a:pt x="341" y="493"/>
                </a:lnTo>
                <a:lnTo>
                  <a:pt x="325" y="496"/>
                </a:lnTo>
                <a:lnTo>
                  <a:pt x="307" y="497"/>
                </a:lnTo>
                <a:lnTo>
                  <a:pt x="307" y="497"/>
                </a:lnTo>
                <a:close/>
                <a:moveTo>
                  <a:pt x="466" y="239"/>
                </a:moveTo>
                <a:lnTo>
                  <a:pt x="466" y="239"/>
                </a:lnTo>
                <a:lnTo>
                  <a:pt x="462" y="238"/>
                </a:lnTo>
                <a:lnTo>
                  <a:pt x="459" y="236"/>
                </a:lnTo>
                <a:lnTo>
                  <a:pt x="456" y="232"/>
                </a:lnTo>
                <a:lnTo>
                  <a:pt x="456" y="228"/>
                </a:lnTo>
                <a:lnTo>
                  <a:pt x="456" y="228"/>
                </a:lnTo>
                <a:lnTo>
                  <a:pt x="455" y="223"/>
                </a:lnTo>
                <a:lnTo>
                  <a:pt x="454" y="218"/>
                </a:lnTo>
                <a:lnTo>
                  <a:pt x="451" y="212"/>
                </a:lnTo>
                <a:lnTo>
                  <a:pt x="447" y="208"/>
                </a:lnTo>
                <a:lnTo>
                  <a:pt x="443" y="204"/>
                </a:lnTo>
                <a:lnTo>
                  <a:pt x="438" y="202"/>
                </a:lnTo>
                <a:lnTo>
                  <a:pt x="432" y="200"/>
                </a:lnTo>
                <a:lnTo>
                  <a:pt x="425" y="199"/>
                </a:lnTo>
                <a:lnTo>
                  <a:pt x="425" y="199"/>
                </a:lnTo>
                <a:lnTo>
                  <a:pt x="420" y="200"/>
                </a:lnTo>
                <a:lnTo>
                  <a:pt x="415" y="202"/>
                </a:lnTo>
                <a:lnTo>
                  <a:pt x="409" y="204"/>
                </a:lnTo>
                <a:lnTo>
                  <a:pt x="405" y="208"/>
                </a:lnTo>
                <a:lnTo>
                  <a:pt x="401" y="212"/>
                </a:lnTo>
                <a:lnTo>
                  <a:pt x="399" y="218"/>
                </a:lnTo>
                <a:lnTo>
                  <a:pt x="397" y="223"/>
                </a:lnTo>
                <a:lnTo>
                  <a:pt x="396" y="228"/>
                </a:lnTo>
                <a:lnTo>
                  <a:pt x="396" y="228"/>
                </a:lnTo>
                <a:lnTo>
                  <a:pt x="396" y="232"/>
                </a:lnTo>
                <a:lnTo>
                  <a:pt x="393" y="236"/>
                </a:lnTo>
                <a:lnTo>
                  <a:pt x="391" y="238"/>
                </a:lnTo>
                <a:lnTo>
                  <a:pt x="387" y="239"/>
                </a:lnTo>
                <a:lnTo>
                  <a:pt x="387" y="239"/>
                </a:lnTo>
                <a:lnTo>
                  <a:pt x="382" y="238"/>
                </a:lnTo>
                <a:lnTo>
                  <a:pt x="380" y="236"/>
                </a:lnTo>
                <a:lnTo>
                  <a:pt x="377" y="232"/>
                </a:lnTo>
                <a:lnTo>
                  <a:pt x="377" y="228"/>
                </a:lnTo>
                <a:lnTo>
                  <a:pt x="377" y="228"/>
                </a:lnTo>
                <a:lnTo>
                  <a:pt x="377" y="219"/>
                </a:lnTo>
                <a:lnTo>
                  <a:pt x="380" y="210"/>
                </a:lnTo>
                <a:lnTo>
                  <a:pt x="385" y="202"/>
                </a:lnTo>
                <a:lnTo>
                  <a:pt x="391" y="193"/>
                </a:lnTo>
                <a:lnTo>
                  <a:pt x="399" y="188"/>
                </a:lnTo>
                <a:lnTo>
                  <a:pt x="407" y="183"/>
                </a:lnTo>
                <a:lnTo>
                  <a:pt x="416" y="180"/>
                </a:lnTo>
                <a:lnTo>
                  <a:pt x="425" y="179"/>
                </a:lnTo>
                <a:lnTo>
                  <a:pt x="425" y="179"/>
                </a:lnTo>
                <a:lnTo>
                  <a:pt x="436" y="180"/>
                </a:lnTo>
                <a:lnTo>
                  <a:pt x="446" y="183"/>
                </a:lnTo>
                <a:lnTo>
                  <a:pt x="454" y="188"/>
                </a:lnTo>
                <a:lnTo>
                  <a:pt x="462" y="193"/>
                </a:lnTo>
                <a:lnTo>
                  <a:pt x="467" y="202"/>
                </a:lnTo>
                <a:lnTo>
                  <a:pt x="472" y="210"/>
                </a:lnTo>
                <a:lnTo>
                  <a:pt x="475" y="219"/>
                </a:lnTo>
                <a:lnTo>
                  <a:pt x="475" y="228"/>
                </a:lnTo>
                <a:lnTo>
                  <a:pt x="475" y="228"/>
                </a:lnTo>
                <a:lnTo>
                  <a:pt x="475" y="232"/>
                </a:lnTo>
                <a:lnTo>
                  <a:pt x="472" y="236"/>
                </a:lnTo>
                <a:lnTo>
                  <a:pt x="470" y="238"/>
                </a:lnTo>
                <a:lnTo>
                  <a:pt x="466" y="239"/>
                </a:lnTo>
                <a:lnTo>
                  <a:pt x="466" y="239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</a:endParaRPr>
          </a:p>
        </p:txBody>
      </p:sp>
      <p:sp>
        <p:nvSpPr>
          <p:cNvPr id="275" name="Freeform 274"/>
          <p:cNvSpPr>
            <a:spLocks noChangeAspect="1" noEditPoints="1"/>
          </p:cNvSpPr>
          <p:nvPr/>
        </p:nvSpPr>
        <p:spPr bwMode="auto">
          <a:xfrm>
            <a:off x="1556427" y="4783253"/>
            <a:ext cx="118099" cy="118483"/>
          </a:xfrm>
          <a:custGeom>
            <a:avLst/>
            <a:gdLst>
              <a:gd name="T0" fmla="*/ 246 w 615"/>
              <a:gd name="T1" fmla="*/ 7 h 617"/>
              <a:gd name="T2" fmla="*/ 135 w 615"/>
              <a:gd name="T3" fmla="*/ 54 h 617"/>
              <a:gd name="T4" fmla="*/ 52 w 615"/>
              <a:gd name="T5" fmla="*/ 137 h 617"/>
              <a:gd name="T6" fmla="*/ 6 w 615"/>
              <a:gd name="T7" fmla="*/ 246 h 617"/>
              <a:gd name="T8" fmla="*/ 1 w 615"/>
              <a:gd name="T9" fmla="*/ 340 h 617"/>
              <a:gd name="T10" fmla="*/ 37 w 615"/>
              <a:gd name="T11" fmla="*/ 456 h 617"/>
              <a:gd name="T12" fmla="*/ 111 w 615"/>
              <a:gd name="T13" fmla="*/ 546 h 617"/>
              <a:gd name="T14" fmla="*/ 216 w 615"/>
              <a:gd name="T15" fmla="*/ 602 h 617"/>
              <a:gd name="T16" fmla="*/ 307 w 615"/>
              <a:gd name="T17" fmla="*/ 617 h 617"/>
              <a:gd name="T18" fmla="*/ 427 w 615"/>
              <a:gd name="T19" fmla="*/ 593 h 617"/>
              <a:gd name="T20" fmla="*/ 525 w 615"/>
              <a:gd name="T21" fmla="*/ 527 h 617"/>
              <a:gd name="T22" fmla="*/ 591 w 615"/>
              <a:gd name="T23" fmla="*/ 429 h 617"/>
              <a:gd name="T24" fmla="*/ 615 w 615"/>
              <a:gd name="T25" fmla="*/ 309 h 617"/>
              <a:gd name="T26" fmla="*/ 601 w 615"/>
              <a:gd name="T27" fmla="*/ 218 h 617"/>
              <a:gd name="T28" fmla="*/ 545 w 615"/>
              <a:gd name="T29" fmla="*/ 113 h 617"/>
              <a:gd name="T30" fmla="*/ 454 w 615"/>
              <a:gd name="T31" fmla="*/ 38 h 617"/>
              <a:gd name="T32" fmla="*/ 338 w 615"/>
              <a:gd name="T33" fmla="*/ 3 h 617"/>
              <a:gd name="T34" fmla="*/ 99 w 615"/>
              <a:gd name="T35" fmla="*/ 229 h 617"/>
              <a:gd name="T36" fmla="*/ 109 w 615"/>
              <a:gd name="T37" fmla="*/ 219 h 617"/>
              <a:gd name="T38" fmla="*/ 118 w 615"/>
              <a:gd name="T39" fmla="*/ 226 h 617"/>
              <a:gd name="T40" fmla="*/ 125 w 615"/>
              <a:gd name="T41" fmla="*/ 257 h 617"/>
              <a:gd name="T42" fmla="*/ 162 w 615"/>
              <a:gd name="T43" fmla="*/ 295 h 617"/>
              <a:gd name="T44" fmla="*/ 204 w 615"/>
              <a:gd name="T45" fmla="*/ 299 h 617"/>
              <a:gd name="T46" fmla="*/ 248 w 615"/>
              <a:gd name="T47" fmla="*/ 269 h 617"/>
              <a:gd name="T48" fmla="*/ 260 w 615"/>
              <a:gd name="T49" fmla="*/ 229 h 617"/>
              <a:gd name="T50" fmla="*/ 270 w 615"/>
              <a:gd name="T51" fmla="*/ 219 h 617"/>
              <a:gd name="T52" fmla="*/ 279 w 615"/>
              <a:gd name="T53" fmla="*/ 226 h 617"/>
              <a:gd name="T54" fmla="*/ 278 w 615"/>
              <a:gd name="T55" fmla="*/ 248 h 617"/>
              <a:gd name="T56" fmla="*/ 264 w 615"/>
              <a:gd name="T57" fmla="*/ 280 h 617"/>
              <a:gd name="T58" fmla="*/ 240 w 615"/>
              <a:gd name="T59" fmla="*/ 304 h 617"/>
              <a:gd name="T60" fmla="*/ 208 w 615"/>
              <a:gd name="T61" fmla="*/ 319 h 617"/>
              <a:gd name="T62" fmla="*/ 180 w 615"/>
              <a:gd name="T63" fmla="*/ 320 h 617"/>
              <a:gd name="T64" fmla="*/ 146 w 615"/>
              <a:gd name="T65" fmla="*/ 309 h 617"/>
              <a:gd name="T66" fmla="*/ 119 w 615"/>
              <a:gd name="T67" fmla="*/ 286 h 617"/>
              <a:gd name="T68" fmla="*/ 103 w 615"/>
              <a:gd name="T69" fmla="*/ 257 h 617"/>
              <a:gd name="T70" fmla="*/ 99 w 615"/>
              <a:gd name="T71" fmla="*/ 229 h 617"/>
              <a:gd name="T72" fmla="*/ 224 w 615"/>
              <a:gd name="T73" fmla="*/ 457 h 617"/>
              <a:gd name="T74" fmla="*/ 217 w 615"/>
              <a:gd name="T75" fmla="*/ 448 h 617"/>
              <a:gd name="T76" fmla="*/ 228 w 615"/>
              <a:gd name="T77" fmla="*/ 438 h 617"/>
              <a:gd name="T78" fmla="*/ 393 w 615"/>
              <a:gd name="T79" fmla="*/ 441 h 617"/>
              <a:gd name="T80" fmla="*/ 396 w 615"/>
              <a:gd name="T81" fmla="*/ 452 h 617"/>
              <a:gd name="T82" fmla="*/ 387 w 615"/>
              <a:gd name="T83" fmla="*/ 457 h 617"/>
              <a:gd name="T84" fmla="*/ 409 w 615"/>
              <a:gd name="T85" fmla="*/ 319 h 617"/>
              <a:gd name="T86" fmla="*/ 377 w 615"/>
              <a:gd name="T87" fmla="*/ 304 h 617"/>
              <a:gd name="T88" fmla="*/ 353 w 615"/>
              <a:gd name="T89" fmla="*/ 280 h 617"/>
              <a:gd name="T90" fmla="*/ 340 w 615"/>
              <a:gd name="T91" fmla="*/ 248 h 617"/>
              <a:gd name="T92" fmla="*/ 338 w 615"/>
              <a:gd name="T93" fmla="*/ 226 h 617"/>
              <a:gd name="T94" fmla="*/ 348 w 615"/>
              <a:gd name="T95" fmla="*/ 219 h 617"/>
              <a:gd name="T96" fmla="*/ 357 w 615"/>
              <a:gd name="T97" fmla="*/ 229 h 617"/>
              <a:gd name="T98" fmla="*/ 369 w 615"/>
              <a:gd name="T99" fmla="*/ 269 h 617"/>
              <a:gd name="T100" fmla="*/ 413 w 615"/>
              <a:gd name="T101" fmla="*/ 299 h 617"/>
              <a:gd name="T102" fmla="*/ 455 w 615"/>
              <a:gd name="T103" fmla="*/ 295 h 617"/>
              <a:gd name="T104" fmla="*/ 493 w 615"/>
              <a:gd name="T105" fmla="*/ 257 h 617"/>
              <a:gd name="T106" fmla="*/ 499 w 615"/>
              <a:gd name="T107" fmla="*/ 226 h 617"/>
              <a:gd name="T108" fmla="*/ 509 w 615"/>
              <a:gd name="T109" fmla="*/ 219 h 617"/>
              <a:gd name="T110" fmla="*/ 518 w 615"/>
              <a:gd name="T111" fmla="*/ 229 h 617"/>
              <a:gd name="T112" fmla="*/ 514 w 615"/>
              <a:gd name="T113" fmla="*/ 257 h 617"/>
              <a:gd name="T114" fmla="*/ 498 w 615"/>
              <a:gd name="T115" fmla="*/ 286 h 617"/>
              <a:gd name="T116" fmla="*/ 471 w 615"/>
              <a:gd name="T117" fmla="*/ 309 h 617"/>
              <a:gd name="T118" fmla="*/ 438 w 615"/>
              <a:gd name="T119" fmla="*/ 32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615" h="617">
                <a:moveTo>
                  <a:pt x="307" y="0"/>
                </a:moveTo>
                <a:lnTo>
                  <a:pt x="307" y="0"/>
                </a:lnTo>
                <a:lnTo>
                  <a:pt x="276" y="3"/>
                </a:lnTo>
                <a:lnTo>
                  <a:pt x="246" y="7"/>
                </a:lnTo>
                <a:lnTo>
                  <a:pt x="216" y="15"/>
                </a:lnTo>
                <a:lnTo>
                  <a:pt x="188" y="26"/>
                </a:lnTo>
                <a:lnTo>
                  <a:pt x="161" y="38"/>
                </a:lnTo>
                <a:lnTo>
                  <a:pt x="135" y="54"/>
                </a:lnTo>
                <a:lnTo>
                  <a:pt x="111" y="72"/>
                </a:lnTo>
                <a:lnTo>
                  <a:pt x="90" y="92"/>
                </a:lnTo>
                <a:lnTo>
                  <a:pt x="70" y="113"/>
                </a:lnTo>
                <a:lnTo>
                  <a:pt x="52" y="137"/>
                </a:lnTo>
                <a:lnTo>
                  <a:pt x="37" y="162"/>
                </a:lnTo>
                <a:lnTo>
                  <a:pt x="24" y="190"/>
                </a:lnTo>
                <a:lnTo>
                  <a:pt x="13" y="218"/>
                </a:lnTo>
                <a:lnTo>
                  <a:pt x="6" y="246"/>
                </a:lnTo>
                <a:lnTo>
                  <a:pt x="1" y="277"/>
                </a:lnTo>
                <a:lnTo>
                  <a:pt x="0" y="309"/>
                </a:lnTo>
                <a:lnTo>
                  <a:pt x="0" y="309"/>
                </a:lnTo>
                <a:lnTo>
                  <a:pt x="1" y="340"/>
                </a:lnTo>
                <a:lnTo>
                  <a:pt x="6" y="371"/>
                </a:lnTo>
                <a:lnTo>
                  <a:pt x="13" y="401"/>
                </a:lnTo>
                <a:lnTo>
                  <a:pt x="24" y="429"/>
                </a:lnTo>
                <a:lnTo>
                  <a:pt x="37" y="456"/>
                </a:lnTo>
                <a:lnTo>
                  <a:pt x="52" y="481"/>
                </a:lnTo>
                <a:lnTo>
                  <a:pt x="70" y="504"/>
                </a:lnTo>
                <a:lnTo>
                  <a:pt x="90" y="527"/>
                </a:lnTo>
                <a:lnTo>
                  <a:pt x="111" y="546"/>
                </a:lnTo>
                <a:lnTo>
                  <a:pt x="135" y="564"/>
                </a:lnTo>
                <a:lnTo>
                  <a:pt x="161" y="579"/>
                </a:lnTo>
                <a:lnTo>
                  <a:pt x="188" y="593"/>
                </a:lnTo>
                <a:lnTo>
                  <a:pt x="216" y="602"/>
                </a:lnTo>
                <a:lnTo>
                  <a:pt x="246" y="610"/>
                </a:lnTo>
                <a:lnTo>
                  <a:pt x="276" y="616"/>
                </a:lnTo>
                <a:lnTo>
                  <a:pt x="307" y="617"/>
                </a:lnTo>
                <a:lnTo>
                  <a:pt x="307" y="617"/>
                </a:lnTo>
                <a:lnTo>
                  <a:pt x="338" y="616"/>
                </a:lnTo>
                <a:lnTo>
                  <a:pt x="369" y="610"/>
                </a:lnTo>
                <a:lnTo>
                  <a:pt x="399" y="602"/>
                </a:lnTo>
                <a:lnTo>
                  <a:pt x="427" y="593"/>
                </a:lnTo>
                <a:lnTo>
                  <a:pt x="454" y="579"/>
                </a:lnTo>
                <a:lnTo>
                  <a:pt x="479" y="564"/>
                </a:lnTo>
                <a:lnTo>
                  <a:pt x="503" y="546"/>
                </a:lnTo>
                <a:lnTo>
                  <a:pt x="525" y="527"/>
                </a:lnTo>
                <a:lnTo>
                  <a:pt x="545" y="504"/>
                </a:lnTo>
                <a:lnTo>
                  <a:pt x="563" y="481"/>
                </a:lnTo>
                <a:lnTo>
                  <a:pt x="577" y="456"/>
                </a:lnTo>
                <a:lnTo>
                  <a:pt x="591" y="429"/>
                </a:lnTo>
                <a:lnTo>
                  <a:pt x="601" y="401"/>
                </a:lnTo>
                <a:lnTo>
                  <a:pt x="608" y="371"/>
                </a:lnTo>
                <a:lnTo>
                  <a:pt x="614" y="340"/>
                </a:lnTo>
                <a:lnTo>
                  <a:pt x="615" y="309"/>
                </a:lnTo>
                <a:lnTo>
                  <a:pt x="615" y="309"/>
                </a:lnTo>
                <a:lnTo>
                  <a:pt x="614" y="277"/>
                </a:lnTo>
                <a:lnTo>
                  <a:pt x="608" y="246"/>
                </a:lnTo>
                <a:lnTo>
                  <a:pt x="601" y="218"/>
                </a:lnTo>
                <a:lnTo>
                  <a:pt x="591" y="190"/>
                </a:lnTo>
                <a:lnTo>
                  <a:pt x="577" y="162"/>
                </a:lnTo>
                <a:lnTo>
                  <a:pt x="563" y="137"/>
                </a:lnTo>
                <a:lnTo>
                  <a:pt x="545" y="113"/>
                </a:lnTo>
                <a:lnTo>
                  <a:pt x="525" y="92"/>
                </a:lnTo>
                <a:lnTo>
                  <a:pt x="503" y="72"/>
                </a:lnTo>
                <a:lnTo>
                  <a:pt x="479" y="54"/>
                </a:lnTo>
                <a:lnTo>
                  <a:pt x="454" y="38"/>
                </a:lnTo>
                <a:lnTo>
                  <a:pt x="427" y="26"/>
                </a:lnTo>
                <a:lnTo>
                  <a:pt x="399" y="15"/>
                </a:lnTo>
                <a:lnTo>
                  <a:pt x="369" y="7"/>
                </a:lnTo>
                <a:lnTo>
                  <a:pt x="338" y="3"/>
                </a:lnTo>
                <a:lnTo>
                  <a:pt x="307" y="0"/>
                </a:lnTo>
                <a:lnTo>
                  <a:pt x="307" y="0"/>
                </a:lnTo>
                <a:close/>
                <a:moveTo>
                  <a:pt x="99" y="229"/>
                </a:moveTo>
                <a:lnTo>
                  <a:pt x="99" y="229"/>
                </a:lnTo>
                <a:lnTo>
                  <a:pt x="99" y="226"/>
                </a:lnTo>
                <a:lnTo>
                  <a:pt x="102" y="222"/>
                </a:lnTo>
                <a:lnTo>
                  <a:pt x="105" y="221"/>
                </a:lnTo>
                <a:lnTo>
                  <a:pt x="109" y="219"/>
                </a:lnTo>
                <a:lnTo>
                  <a:pt x="109" y="219"/>
                </a:lnTo>
                <a:lnTo>
                  <a:pt x="113" y="221"/>
                </a:lnTo>
                <a:lnTo>
                  <a:pt x="115" y="222"/>
                </a:lnTo>
                <a:lnTo>
                  <a:pt x="118" y="226"/>
                </a:lnTo>
                <a:lnTo>
                  <a:pt x="119" y="229"/>
                </a:lnTo>
                <a:lnTo>
                  <a:pt x="119" y="229"/>
                </a:lnTo>
                <a:lnTo>
                  <a:pt x="121" y="243"/>
                </a:lnTo>
                <a:lnTo>
                  <a:pt x="125" y="257"/>
                </a:lnTo>
                <a:lnTo>
                  <a:pt x="131" y="269"/>
                </a:lnTo>
                <a:lnTo>
                  <a:pt x="139" y="280"/>
                </a:lnTo>
                <a:lnTo>
                  <a:pt x="150" y="288"/>
                </a:lnTo>
                <a:lnTo>
                  <a:pt x="162" y="295"/>
                </a:lnTo>
                <a:lnTo>
                  <a:pt x="176" y="299"/>
                </a:lnTo>
                <a:lnTo>
                  <a:pt x="189" y="300"/>
                </a:lnTo>
                <a:lnTo>
                  <a:pt x="189" y="300"/>
                </a:lnTo>
                <a:lnTo>
                  <a:pt x="204" y="299"/>
                </a:lnTo>
                <a:lnTo>
                  <a:pt x="217" y="295"/>
                </a:lnTo>
                <a:lnTo>
                  <a:pt x="229" y="288"/>
                </a:lnTo>
                <a:lnTo>
                  <a:pt x="239" y="280"/>
                </a:lnTo>
                <a:lnTo>
                  <a:pt x="248" y="269"/>
                </a:lnTo>
                <a:lnTo>
                  <a:pt x="255" y="257"/>
                </a:lnTo>
                <a:lnTo>
                  <a:pt x="259" y="243"/>
                </a:lnTo>
                <a:lnTo>
                  <a:pt x="260" y="229"/>
                </a:lnTo>
                <a:lnTo>
                  <a:pt x="260" y="229"/>
                </a:lnTo>
                <a:lnTo>
                  <a:pt x="260" y="226"/>
                </a:lnTo>
                <a:lnTo>
                  <a:pt x="263" y="222"/>
                </a:lnTo>
                <a:lnTo>
                  <a:pt x="266" y="221"/>
                </a:lnTo>
                <a:lnTo>
                  <a:pt x="270" y="219"/>
                </a:lnTo>
                <a:lnTo>
                  <a:pt x="270" y="219"/>
                </a:lnTo>
                <a:lnTo>
                  <a:pt x="274" y="221"/>
                </a:lnTo>
                <a:lnTo>
                  <a:pt x="278" y="222"/>
                </a:lnTo>
                <a:lnTo>
                  <a:pt x="279" y="226"/>
                </a:lnTo>
                <a:lnTo>
                  <a:pt x="280" y="229"/>
                </a:lnTo>
                <a:lnTo>
                  <a:pt x="280" y="229"/>
                </a:lnTo>
                <a:lnTo>
                  <a:pt x="279" y="238"/>
                </a:lnTo>
                <a:lnTo>
                  <a:pt x="278" y="248"/>
                </a:lnTo>
                <a:lnTo>
                  <a:pt x="276" y="257"/>
                </a:lnTo>
                <a:lnTo>
                  <a:pt x="272" y="265"/>
                </a:lnTo>
                <a:lnTo>
                  <a:pt x="270" y="273"/>
                </a:lnTo>
                <a:lnTo>
                  <a:pt x="264" y="280"/>
                </a:lnTo>
                <a:lnTo>
                  <a:pt x="259" y="286"/>
                </a:lnTo>
                <a:lnTo>
                  <a:pt x="254" y="293"/>
                </a:lnTo>
                <a:lnTo>
                  <a:pt x="247" y="300"/>
                </a:lnTo>
                <a:lnTo>
                  <a:pt x="240" y="304"/>
                </a:lnTo>
                <a:lnTo>
                  <a:pt x="232" y="309"/>
                </a:lnTo>
                <a:lnTo>
                  <a:pt x="224" y="313"/>
                </a:lnTo>
                <a:lnTo>
                  <a:pt x="216" y="316"/>
                </a:lnTo>
                <a:lnTo>
                  <a:pt x="208" y="319"/>
                </a:lnTo>
                <a:lnTo>
                  <a:pt x="199" y="320"/>
                </a:lnTo>
                <a:lnTo>
                  <a:pt x="189" y="320"/>
                </a:lnTo>
                <a:lnTo>
                  <a:pt x="189" y="320"/>
                </a:lnTo>
                <a:lnTo>
                  <a:pt x="180" y="320"/>
                </a:lnTo>
                <a:lnTo>
                  <a:pt x="172" y="319"/>
                </a:lnTo>
                <a:lnTo>
                  <a:pt x="162" y="316"/>
                </a:lnTo>
                <a:lnTo>
                  <a:pt x="154" y="313"/>
                </a:lnTo>
                <a:lnTo>
                  <a:pt x="146" y="309"/>
                </a:lnTo>
                <a:lnTo>
                  <a:pt x="139" y="304"/>
                </a:lnTo>
                <a:lnTo>
                  <a:pt x="131" y="300"/>
                </a:lnTo>
                <a:lnTo>
                  <a:pt x="126" y="293"/>
                </a:lnTo>
                <a:lnTo>
                  <a:pt x="119" y="286"/>
                </a:lnTo>
                <a:lnTo>
                  <a:pt x="114" y="280"/>
                </a:lnTo>
                <a:lnTo>
                  <a:pt x="110" y="273"/>
                </a:lnTo>
                <a:lnTo>
                  <a:pt x="106" y="265"/>
                </a:lnTo>
                <a:lnTo>
                  <a:pt x="103" y="257"/>
                </a:lnTo>
                <a:lnTo>
                  <a:pt x="100" y="248"/>
                </a:lnTo>
                <a:lnTo>
                  <a:pt x="99" y="238"/>
                </a:lnTo>
                <a:lnTo>
                  <a:pt x="99" y="229"/>
                </a:lnTo>
                <a:lnTo>
                  <a:pt x="99" y="229"/>
                </a:lnTo>
                <a:close/>
                <a:moveTo>
                  <a:pt x="387" y="457"/>
                </a:moveTo>
                <a:lnTo>
                  <a:pt x="228" y="457"/>
                </a:lnTo>
                <a:lnTo>
                  <a:pt x="228" y="457"/>
                </a:lnTo>
                <a:lnTo>
                  <a:pt x="224" y="457"/>
                </a:lnTo>
                <a:lnTo>
                  <a:pt x="221" y="454"/>
                </a:lnTo>
                <a:lnTo>
                  <a:pt x="219" y="452"/>
                </a:lnTo>
                <a:lnTo>
                  <a:pt x="217" y="448"/>
                </a:lnTo>
                <a:lnTo>
                  <a:pt x="217" y="448"/>
                </a:lnTo>
                <a:lnTo>
                  <a:pt x="219" y="444"/>
                </a:lnTo>
                <a:lnTo>
                  <a:pt x="221" y="441"/>
                </a:lnTo>
                <a:lnTo>
                  <a:pt x="224" y="438"/>
                </a:lnTo>
                <a:lnTo>
                  <a:pt x="228" y="438"/>
                </a:lnTo>
                <a:lnTo>
                  <a:pt x="387" y="438"/>
                </a:lnTo>
                <a:lnTo>
                  <a:pt x="387" y="438"/>
                </a:lnTo>
                <a:lnTo>
                  <a:pt x="391" y="438"/>
                </a:lnTo>
                <a:lnTo>
                  <a:pt x="393" y="441"/>
                </a:lnTo>
                <a:lnTo>
                  <a:pt x="396" y="444"/>
                </a:lnTo>
                <a:lnTo>
                  <a:pt x="397" y="448"/>
                </a:lnTo>
                <a:lnTo>
                  <a:pt x="397" y="448"/>
                </a:lnTo>
                <a:lnTo>
                  <a:pt x="396" y="452"/>
                </a:lnTo>
                <a:lnTo>
                  <a:pt x="393" y="454"/>
                </a:lnTo>
                <a:lnTo>
                  <a:pt x="391" y="457"/>
                </a:lnTo>
                <a:lnTo>
                  <a:pt x="387" y="457"/>
                </a:lnTo>
                <a:lnTo>
                  <a:pt x="387" y="457"/>
                </a:lnTo>
                <a:close/>
                <a:moveTo>
                  <a:pt x="428" y="320"/>
                </a:moveTo>
                <a:lnTo>
                  <a:pt x="428" y="320"/>
                </a:lnTo>
                <a:lnTo>
                  <a:pt x="419" y="320"/>
                </a:lnTo>
                <a:lnTo>
                  <a:pt x="409" y="319"/>
                </a:lnTo>
                <a:lnTo>
                  <a:pt x="401" y="316"/>
                </a:lnTo>
                <a:lnTo>
                  <a:pt x="392" y="313"/>
                </a:lnTo>
                <a:lnTo>
                  <a:pt x="385" y="309"/>
                </a:lnTo>
                <a:lnTo>
                  <a:pt x="377" y="304"/>
                </a:lnTo>
                <a:lnTo>
                  <a:pt x="370" y="300"/>
                </a:lnTo>
                <a:lnTo>
                  <a:pt x="364" y="293"/>
                </a:lnTo>
                <a:lnTo>
                  <a:pt x="358" y="286"/>
                </a:lnTo>
                <a:lnTo>
                  <a:pt x="353" y="280"/>
                </a:lnTo>
                <a:lnTo>
                  <a:pt x="348" y="273"/>
                </a:lnTo>
                <a:lnTo>
                  <a:pt x="344" y="265"/>
                </a:lnTo>
                <a:lnTo>
                  <a:pt x="341" y="257"/>
                </a:lnTo>
                <a:lnTo>
                  <a:pt x="340" y="248"/>
                </a:lnTo>
                <a:lnTo>
                  <a:pt x="338" y="238"/>
                </a:lnTo>
                <a:lnTo>
                  <a:pt x="337" y="229"/>
                </a:lnTo>
                <a:lnTo>
                  <a:pt x="337" y="229"/>
                </a:lnTo>
                <a:lnTo>
                  <a:pt x="338" y="226"/>
                </a:lnTo>
                <a:lnTo>
                  <a:pt x="340" y="222"/>
                </a:lnTo>
                <a:lnTo>
                  <a:pt x="344" y="221"/>
                </a:lnTo>
                <a:lnTo>
                  <a:pt x="348" y="219"/>
                </a:lnTo>
                <a:lnTo>
                  <a:pt x="348" y="219"/>
                </a:lnTo>
                <a:lnTo>
                  <a:pt x="350" y="221"/>
                </a:lnTo>
                <a:lnTo>
                  <a:pt x="354" y="222"/>
                </a:lnTo>
                <a:lnTo>
                  <a:pt x="356" y="226"/>
                </a:lnTo>
                <a:lnTo>
                  <a:pt x="357" y="229"/>
                </a:lnTo>
                <a:lnTo>
                  <a:pt x="357" y="229"/>
                </a:lnTo>
                <a:lnTo>
                  <a:pt x="358" y="243"/>
                </a:lnTo>
                <a:lnTo>
                  <a:pt x="362" y="257"/>
                </a:lnTo>
                <a:lnTo>
                  <a:pt x="369" y="269"/>
                </a:lnTo>
                <a:lnTo>
                  <a:pt x="377" y="280"/>
                </a:lnTo>
                <a:lnTo>
                  <a:pt x="388" y="288"/>
                </a:lnTo>
                <a:lnTo>
                  <a:pt x="400" y="295"/>
                </a:lnTo>
                <a:lnTo>
                  <a:pt x="413" y="299"/>
                </a:lnTo>
                <a:lnTo>
                  <a:pt x="428" y="300"/>
                </a:lnTo>
                <a:lnTo>
                  <a:pt x="428" y="300"/>
                </a:lnTo>
                <a:lnTo>
                  <a:pt x="442" y="299"/>
                </a:lnTo>
                <a:lnTo>
                  <a:pt x="455" y="295"/>
                </a:lnTo>
                <a:lnTo>
                  <a:pt x="467" y="288"/>
                </a:lnTo>
                <a:lnTo>
                  <a:pt x="478" y="280"/>
                </a:lnTo>
                <a:lnTo>
                  <a:pt x="486" y="269"/>
                </a:lnTo>
                <a:lnTo>
                  <a:pt x="493" y="257"/>
                </a:lnTo>
                <a:lnTo>
                  <a:pt x="497" y="243"/>
                </a:lnTo>
                <a:lnTo>
                  <a:pt x="498" y="229"/>
                </a:lnTo>
                <a:lnTo>
                  <a:pt x="498" y="229"/>
                </a:lnTo>
                <a:lnTo>
                  <a:pt x="499" y="226"/>
                </a:lnTo>
                <a:lnTo>
                  <a:pt x="501" y="222"/>
                </a:lnTo>
                <a:lnTo>
                  <a:pt x="505" y="221"/>
                </a:lnTo>
                <a:lnTo>
                  <a:pt x="509" y="219"/>
                </a:lnTo>
                <a:lnTo>
                  <a:pt x="509" y="219"/>
                </a:lnTo>
                <a:lnTo>
                  <a:pt x="513" y="221"/>
                </a:lnTo>
                <a:lnTo>
                  <a:pt x="516" y="222"/>
                </a:lnTo>
                <a:lnTo>
                  <a:pt x="517" y="226"/>
                </a:lnTo>
                <a:lnTo>
                  <a:pt x="518" y="229"/>
                </a:lnTo>
                <a:lnTo>
                  <a:pt x="518" y="229"/>
                </a:lnTo>
                <a:lnTo>
                  <a:pt x="518" y="238"/>
                </a:lnTo>
                <a:lnTo>
                  <a:pt x="517" y="248"/>
                </a:lnTo>
                <a:lnTo>
                  <a:pt x="514" y="257"/>
                </a:lnTo>
                <a:lnTo>
                  <a:pt x="511" y="265"/>
                </a:lnTo>
                <a:lnTo>
                  <a:pt x="507" y="273"/>
                </a:lnTo>
                <a:lnTo>
                  <a:pt x="503" y="280"/>
                </a:lnTo>
                <a:lnTo>
                  <a:pt x="498" y="286"/>
                </a:lnTo>
                <a:lnTo>
                  <a:pt x="491" y="293"/>
                </a:lnTo>
                <a:lnTo>
                  <a:pt x="486" y="300"/>
                </a:lnTo>
                <a:lnTo>
                  <a:pt x="478" y="304"/>
                </a:lnTo>
                <a:lnTo>
                  <a:pt x="471" y="309"/>
                </a:lnTo>
                <a:lnTo>
                  <a:pt x="463" y="313"/>
                </a:lnTo>
                <a:lnTo>
                  <a:pt x="455" y="316"/>
                </a:lnTo>
                <a:lnTo>
                  <a:pt x="446" y="319"/>
                </a:lnTo>
                <a:lnTo>
                  <a:pt x="438" y="320"/>
                </a:lnTo>
                <a:lnTo>
                  <a:pt x="428" y="320"/>
                </a:lnTo>
                <a:lnTo>
                  <a:pt x="428" y="32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</a:endParaRPr>
          </a:p>
        </p:txBody>
      </p:sp>
      <p:sp>
        <p:nvSpPr>
          <p:cNvPr id="276" name="Freeform 275"/>
          <p:cNvSpPr>
            <a:spLocks noChangeAspect="1" noEditPoints="1"/>
          </p:cNvSpPr>
          <p:nvPr/>
        </p:nvSpPr>
        <p:spPr bwMode="auto">
          <a:xfrm>
            <a:off x="1556427" y="5789418"/>
            <a:ext cx="118099" cy="118483"/>
          </a:xfrm>
          <a:custGeom>
            <a:avLst/>
            <a:gdLst>
              <a:gd name="T0" fmla="*/ 246 w 615"/>
              <a:gd name="T1" fmla="*/ 7 h 617"/>
              <a:gd name="T2" fmla="*/ 135 w 615"/>
              <a:gd name="T3" fmla="*/ 54 h 617"/>
              <a:gd name="T4" fmla="*/ 52 w 615"/>
              <a:gd name="T5" fmla="*/ 137 h 617"/>
              <a:gd name="T6" fmla="*/ 7 w 615"/>
              <a:gd name="T7" fmla="*/ 246 h 617"/>
              <a:gd name="T8" fmla="*/ 1 w 615"/>
              <a:gd name="T9" fmla="*/ 340 h 617"/>
              <a:gd name="T10" fmla="*/ 37 w 615"/>
              <a:gd name="T11" fmla="*/ 455 h 617"/>
              <a:gd name="T12" fmla="*/ 111 w 615"/>
              <a:gd name="T13" fmla="*/ 545 h 617"/>
              <a:gd name="T14" fmla="*/ 216 w 615"/>
              <a:gd name="T15" fmla="*/ 602 h 617"/>
              <a:gd name="T16" fmla="*/ 307 w 615"/>
              <a:gd name="T17" fmla="*/ 617 h 617"/>
              <a:gd name="T18" fmla="*/ 427 w 615"/>
              <a:gd name="T19" fmla="*/ 592 h 617"/>
              <a:gd name="T20" fmla="*/ 525 w 615"/>
              <a:gd name="T21" fmla="*/ 527 h 617"/>
              <a:gd name="T22" fmla="*/ 591 w 615"/>
              <a:gd name="T23" fmla="*/ 428 h 617"/>
              <a:gd name="T24" fmla="*/ 615 w 615"/>
              <a:gd name="T25" fmla="*/ 309 h 617"/>
              <a:gd name="T26" fmla="*/ 602 w 615"/>
              <a:gd name="T27" fmla="*/ 216 h 617"/>
              <a:gd name="T28" fmla="*/ 545 w 615"/>
              <a:gd name="T29" fmla="*/ 113 h 617"/>
              <a:gd name="T30" fmla="*/ 454 w 615"/>
              <a:gd name="T31" fmla="*/ 38 h 617"/>
              <a:gd name="T32" fmla="*/ 340 w 615"/>
              <a:gd name="T33" fmla="*/ 3 h 617"/>
              <a:gd name="T34" fmla="*/ 150 w 615"/>
              <a:gd name="T35" fmla="*/ 204 h 617"/>
              <a:gd name="T36" fmla="*/ 164 w 615"/>
              <a:gd name="T37" fmla="*/ 200 h 617"/>
              <a:gd name="T38" fmla="*/ 258 w 615"/>
              <a:gd name="T39" fmla="*/ 257 h 617"/>
              <a:gd name="T40" fmla="*/ 252 w 615"/>
              <a:gd name="T41" fmla="*/ 267 h 617"/>
              <a:gd name="T42" fmla="*/ 154 w 615"/>
              <a:gd name="T43" fmla="*/ 218 h 617"/>
              <a:gd name="T44" fmla="*/ 149 w 615"/>
              <a:gd name="T45" fmla="*/ 208 h 617"/>
              <a:gd name="T46" fmla="*/ 407 w 615"/>
              <a:gd name="T47" fmla="*/ 477 h 617"/>
              <a:gd name="T48" fmla="*/ 397 w 615"/>
              <a:gd name="T49" fmla="*/ 467 h 617"/>
              <a:gd name="T50" fmla="*/ 393 w 615"/>
              <a:gd name="T51" fmla="*/ 441 h 617"/>
              <a:gd name="T52" fmla="*/ 376 w 615"/>
              <a:gd name="T53" fmla="*/ 411 h 617"/>
              <a:gd name="T54" fmla="*/ 350 w 615"/>
              <a:gd name="T55" fmla="*/ 388 h 617"/>
              <a:gd name="T56" fmla="*/ 317 w 615"/>
              <a:gd name="T57" fmla="*/ 379 h 617"/>
              <a:gd name="T58" fmla="*/ 290 w 615"/>
              <a:gd name="T59" fmla="*/ 380 h 617"/>
              <a:gd name="T60" fmla="*/ 258 w 615"/>
              <a:gd name="T61" fmla="*/ 394 h 617"/>
              <a:gd name="T62" fmla="*/ 234 w 615"/>
              <a:gd name="T63" fmla="*/ 418 h 617"/>
              <a:gd name="T64" fmla="*/ 220 w 615"/>
              <a:gd name="T65" fmla="*/ 449 h 617"/>
              <a:gd name="T66" fmla="*/ 217 w 615"/>
              <a:gd name="T67" fmla="*/ 471 h 617"/>
              <a:gd name="T68" fmla="*/ 208 w 615"/>
              <a:gd name="T69" fmla="*/ 477 h 617"/>
              <a:gd name="T70" fmla="*/ 199 w 615"/>
              <a:gd name="T71" fmla="*/ 467 h 617"/>
              <a:gd name="T72" fmla="*/ 203 w 615"/>
              <a:gd name="T73" fmla="*/ 435 h 617"/>
              <a:gd name="T74" fmla="*/ 223 w 615"/>
              <a:gd name="T75" fmla="*/ 398 h 617"/>
              <a:gd name="T76" fmla="*/ 255 w 615"/>
              <a:gd name="T77" fmla="*/ 371 h 617"/>
              <a:gd name="T78" fmla="*/ 297 w 615"/>
              <a:gd name="T79" fmla="*/ 359 h 617"/>
              <a:gd name="T80" fmla="*/ 329 w 615"/>
              <a:gd name="T81" fmla="*/ 360 h 617"/>
              <a:gd name="T82" fmla="*/ 369 w 615"/>
              <a:gd name="T83" fmla="*/ 376 h 617"/>
              <a:gd name="T84" fmla="*/ 399 w 615"/>
              <a:gd name="T85" fmla="*/ 406 h 617"/>
              <a:gd name="T86" fmla="*/ 415 w 615"/>
              <a:gd name="T87" fmla="*/ 445 h 617"/>
              <a:gd name="T88" fmla="*/ 416 w 615"/>
              <a:gd name="T89" fmla="*/ 471 h 617"/>
              <a:gd name="T90" fmla="*/ 407 w 615"/>
              <a:gd name="T91" fmla="*/ 477 h 617"/>
              <a:gd name="T92" fmla="*/ 366 w 615"/>
              <a:gd name="T93" fmla="*/ 269 h 617"/>
              <a:gd name="T94" fmla="*/ 358 w 615"/>
              <a:gd name="T95" fmla="*/ 263 h 617"/>
              <a:gd name="T96" fmla="*/ 362 w 615"/>
              <a:gd name="T97" fmla="*/ 250 h 617"/>
              <a:gd name="T98" fmla="*/ 459 w 615"/>
              <a:gd name="T99" fmla="*/ 200 h 617"/>
              <a:gd name="T100" fmla="*/ 466 w 615"/>
              <a:gd name="T101" fmla="*/ 208 h 617"/>
              <a:gd name="T102" fmla="*/ 462 w 615"/>
              <a:gd name="T103" fmla="*/ 218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15" h="617">
                <a:moveTo>
                  <a:pt x="307" y="0"/>
                </a:moveTo>
                <a:lnTo>
                  <a:pt x="307" y="0"/>
                </a:lnTo>
                <a:lnTo>
                  <a:pt x="277" y="3"/>
                </a:lnTo>
                <a:lnTo>
                  <a:pt x="246" y="7"/>
                </a:lnTo>
                <a:lnTo>
                  <a:pt x="216" y="15"/>
                </a:lnTo>
                <a:lnTo>
                  <a:pt x="188" y="24"/>
                </a:lnTo>
                <a:lnTo>
                  <a:pt x="161" y="38"/>
                </a:lnTo>
                <a:lnTo>
                  <a:pt x="135" y="54"/>
                </a:lnTo>
                <a:lnTo>
                  <a:pt x="111" y="71"/>
                </a:lnTo>
                <a:lnTo>
                  <a:pt x="90" y="91"/>
                </a:lnTo>
                <a:lnTo>
                  <a:pt x="70" y="113"/>
                </a:lnTo>
                <a:lnTo>
                  <a:pt x="52" y="137"/>
                </a:lnTo>
                <a:lnTo>
                  <a:pt x="37" y="161"/>
                </a:lnTo>
                <a:lnTo>
                  <a:pt x="24" y="188"/>
                </a:lnTo>
                <a:lnTo>
                  <a:pt x="13" y="216"/>
                </a:lnTo>
                <a:lnTo>
                  <a:pt x="7" y="246"/>
                </a:lnTo>
                <a:lnTo>
                  <a:pt x="1" y="277"/>
                </a:lnTo>
                <a:lnTo>
                  <a:pt x="0" y="309"/>
                </a:lnTo>
                <a:lnTo>
                  <a:pt x="0" y="309"/>
                </a:lnTo>
                <a:lnTo>
                  <a:pt x="1" y="340"/>
                </a:lnTo>
                <a:lnTo>
                  <a:pt x="7" y="371"/>
                </a:lnTo>
                <a:lnTo>
                  <a:pt x="13" y="400"/>
                </a:lnTo>
                <a:lnTo>
                  <a:pt x="24" y="428"/>
                </a:lnTo>
                <a:lnTo>
                  <a:pt x="37" y="455"/>
                </a:lnTo>
                <a:lnTo>
                  <a:pt x="52" y="481"/>
                </a:lnTo>
                <a:lnTo>
                  <a:pt x="70" y="504"/>
                </a:lnTo>
                <a:lnTo>
                  <a:pt x="90" y="527"/>
                </a:lnTo>
                <a:lnTo>
                  <a:pt x="111" y="545"/>
                </a:lnTo>
                <a:lnTo>
                  <a:pt x="135" y="564"/>
                </a:lnTo>
                <a:lnTo>
                  <a:pt x="161" y="579"/>
                </a:lnTo>
                <a:lnTo>
                  <a:pt x="188" y="592"/>
                </a:lnTo>
                <a:lnTo>
                  <a:pt x="216" y="602"/>
                </a:lnTo>
                <a:lnTo>
                  <a:pt x="246" y="610"/>
                </a:lnTo>
                <a:lnTo>
                  <a:pt x="277" y="615"/>
                </a:lnTo>
                <a:lnTo>
                  <a:pt x="307" y="617"/>
                </a:lnTo>
                <a:lnTo>
                  <a:pt x="307" y="617"/>
                </a:lnTo>
                <a:lnTo>
                  <a:pt x="340" y="615"/>
                </a:lnTo>
                <a:lnTo>
                  <a:pt x="369" y="610"/>
                </a:lnTo>
                <a:lnTo>
                  <a:pt x="399" y="602"/>
                </a:lnTo>
                <a:lnTo>
                  <a:pt x="427" y="592"/>
                </a:lnTo>
                <a:lnTo>
                  <a:pt x="454" y="579"/>
                </a:lnTo>
                <a:lnTo>
                  <a:pt x="479" y="564"/>
                </a:lnTo>
                <a:lnTo>
                  <a:pt x="503" y="545"/>
                </a:lnTo>
                <a:lnTo>
                  <a:pt x="525" y="527"/>
                </a:lnTo>
                <a:lnTo>
                  <a:pt x="545" y="504"/>
                </a:lnTo>
                <a:lnTo>
                  <a:pt x="563" y="481"/>
                </a:lnTo>
                <a:lnTo>
                  <a:pt x="579" y="455"/>
                </a:lnTo>
                <a:lnTo>
                  <a:pt x="591" y="428"/>
                </a:lnTo>
                <a:lnTo>
                  <a:pt x="602" y="400"/>
                </a:lnTo>
                <a:lnTo>
                  <a:pt x="610" y="371"/>
                </a:lnTo>
                <a:lnTo>
                  <a:pt x="614" y="340"/>
                </a:lnTo>
                <a:lnTo>
                  <a:pt x="615" y="309"/>
                </a:lnTo>
                <a:lnTo>
                  <a:pt x="615" y="309"/>
                </a:lnTo>
                <a:lnTo>
                  <a:pt x="614" y="277"/>
                </a:lnTo>
                <a:lnTo>
                  <a:pt x="610" y="246"/>
                </a:lnTo>
                <a:lnTo>
                  <a:pt x="602" y="216"/>
                </a:lnTo>
                <a:lnTo>
                  <a:pt x="591" y="188"/>
                </a:lnTo>
                <a:lnTo>
                  <a:pt x="579" y="161"/>
                </a:lnTo>
                <a:lnTo>
                  <a:pt x="563" y="137"/>
                </a:lnTo>
                <a:lnTo>
                  <a:pt x="545" y="113"/>
                </a:lnTo>
                <a:lnTo>
                  <a:pt x="525" y="91"/>
                </a:lnTo>
                <a:lnTo>
                  <a:pt x="503" y="71"/>
                </a:lnTo>
                <a:lnTo>
                  <a:pt x="479" y="54"/>
                </a:lnTo>
                <a:lnTo>
                  <a:pt x="454" y="38"/>
                </a:lnTo>
                <a:lnTo>
                  <a:pt x="427" y="24"/>
                </a:lnTo>
                <a:lnTo>
                  <a:pt x="399" y="15"/>
                </a:lnTo>
                <a:lnTo>
                  <a:pt x="369" y="7"/>
                </a:lnTo>
                <a:lnTo>
                  <a:pt x="340" y="3"/>
                </a:lnTo>
                <a:lnTo>
                  <a:pt x="307" y="0"/>
                </a:lnTo>
                <a:lnTo>
                  <a:pt x="307" y="0"/>
                </a:lnTo>
                <a:close/>
                <a:moveTo>
                  <a:pt x="150" y="204"/>
                </a:moveTo>
                <a:lnTo>
                  <a:pt x="150" y="204"/>
                </a:lnTo>
                <a:lnTo>
                  <a:pt x="153" y="202"/>
                </a:lnTo>
                <a:lnTo>
                  <a:pt x="156" y="200"/>
                </a:lnTo>
                <a:lnTo>
                  <a:pt x="160" y="199"/>
                </a:lnTo>
                <a:lnTo>
                  <a:pt x="164" y="200"/>
                </a:lnTo>
                <a:lnTo>
                  <a:pt x="252" y="250"/>
                </a:lnTo>
                <a:lnTo>
                  <a:pt x="252" y="250"/>
                </a:lnTo>
                <a:lnTo>
                  <a:pt x="256" y="253"/>
                </a:lnTo>
                <a:lnTo>
                  <a:pt x="258" y="257"/>
                </a:lnTo>
                <a:lnTo>
                  <a:pt x="258" y="259"/>
                </a:lnTo>
                <a:lnTo>
                  <a:pt x="256" y="263"/>
                </a:lnTo>
                <a:lnTo>
                  <a:pt x="256" y="263"/>
                </a:lnTo>
                <a:lnTo>
                  <a:pt x="252" y="267"/>
                </a:lnTo>
                <a:lnTo>
                  <a:pt x="248" y="269"/>
                </a:lnTo>
                <a:lnTo>
                  <a:pt x="248" y="269"/>
                </a:lnTo>
                <a:lnTo>
                  <a:pt x="243" y="267"/>
                </a:lnTo>
                <a:lnTo>
                  <a:pt x="154" y="218"/>
                </a:lnTo>
                <a:lnTo>
                  <a:pt x="154" y="218"/>
                </a:lnTo>
                <a:lnTo>
                  <a:pt x="150" y="215"/>
                </a:lnTo>
                <a:lnTo>
                  <a:pt x="149" y="212"/>
                </a:lnTo>
                <a:lnTo>
                  <a:pt x="149" y="208"/>
                </a:lnTo>
                <a:lnTo>
                  <a:pt x="150" y="204"/>
                </a:lnTo>
                <a:lnTo>
                  <a:pt x="150" y="204"/>
                </a:lnTo>
                <a:close/>
                <a:moveTo>
                  <a:pt x="407" y="477"/>
                </a:moveTo>
                <a:lnTo>
                  <a:pt x="407" y="477"/>
                </a:lnTo>
                <a:lnTo>
                  <a:pt x="403" y="477"/>
                </a:lnTo>
                <a:lnTo>
                  <a:pt x="400" y="474"/>
                </a:lnTo>
                <a:lnTo>
                  <a:pt x="397" y="471"/>
                </a:lnTo>
                <a:lnTo>
                  <a:pt x="397" y="467"/>
                </a:lnTo>
                <a:lnTo>
                  <a:pt x="397" y="467"/>
                </a:lnTo>
                <a:lnTo>
                  <a:pt x="396" y="458"/>
                </a:lnTo>
                <a:lnTo>
                  <a:pt x="395" y="449"/>
                </a:lnTo>
                <a:lnTo>
                  <a:pt x="393" y="441"/>
                </a:lnTo>
                <a:lnTo>
                  <a:pt x="389" y="433"/>
                </a:lnTo>
                <a:lnTo>
                  <a:pt x="387" y="424"/>
                </a:lnTo>
                <a:lnTo>
                  <a:pt x="381" y="418"/>
                </a:lnTo>
                <a:lnTo>
                  <a:pt x="376" y="411"/>
                </a:lnTo>
                <a:lnTo>
                  <a:pt x="371" y="404"/>
                </a:lnTo>
                <a:lnTo>
                  <a:pt x="364" y="399"/>
                </a:lnTo>
                <a:lnTo>
                  <a:pt x="357" y="394"/>
                </a:lnTo>
                <a:lnTo>
                  <a:pt x="350" y="388"/>
                </a:lnTo>
                <a:lnTo>
                  <a:pt x="342" y="386"/>
                </a:lnTo>
                <a:lnTo>
                  <a:pt x="334" y="381"/>
                </a:lnTo>
                <a:lnTo>
                  <a:pt x="325" y="380"/>
                </a:lnTo>
                <a:lnTo>
                  <a:pt x="317" y="379"/>
                </a:lnTo>
                <a:lnTo>
                  <a:pt x="307" y="377"/>
                </a:lnTo>
                <a:lnTo>
                  <a:pt x="307" y="377"/>
                </a:lnTo>
                <a:lnTo>
                  <a:pt x="298" y="379"/>
                </a:lnTo>
                <a:lnTo>
                  <a:pt x="290" y="380"/>
                </a:lnTo>
                <a:lnTo>
                  <a:pt x="281" y="381"/>
                </a:lnTo>
                <a:lnTo>
                  <a:pt x="272" y="386"/>
                </a:lnTo>
                <a:lnTo>
                  <a:pt x="264" y="388"/>
                </a:lnTo>
                <a:lnTo>
                  <a:pt x="258" y="394"/>
                </a:lnTo>
                <a:lnTo>
                  <a:pt x="251" y="399"/>
                </a:lnTo>
                <a:lnTo>
                  <a:pt x="244" y="404"/>
                </a:lnTo>
                <a:lnTo>
                  <a:pt x="239" y="411"/>
                </a:lnTo>
                <a:lnTo>
                  <a:pt x="234" y="418"/>
                </a:lnTo>
                <a:lnTo>
                  <a:pt x="230" y="424"/>
                </a:lnTo>
                <a:lnTo>
                  <a:pt x="225" y="433"/>
                </a:lnTo>
                <a:lnTo>
                  <a:pt x="223" y="441"/>
                </a:lnTo>
                <a:lnTo>
                  <a:pt x="220" y="449"/>
                </a:lnTo>
                <a:lnTo>
                  <a:pt x="219" y="458"/>
                </a:lnTo>
                <a:lnTo>
                  <a:pt x="219" y="467"/>
                </a:lnTo>
                <a:lnTo>
                  <a:pt x="219" y="467"/>
                </a:lnTo>
                <a:lnTo>
                  <a:pt x="217" y="471"/>
                </a:lnTo>
                <a:lnTo>
                  <a:pt x="215" y="474"/>
                </a:lnTo>
                <a:lnTo>
                  <a:pt x="212" y="477"/>
                </a:lnTo>
                <a:lnTo>
                  <a:pt x="208" y="477"/>
                </a:lnTo>
                <a:lnTo>
                  <a:pt x="208" y="477"/>
                </a:lnTo>
                <a:lnTo>
                  <a:pt x="204" y="477"/>
                </a:lnTo>
                <a:lnTo>
                  <a:pt x="201" y="474"/>
                </a:lnTo>
                <a:lnTo>
                  <a:pt x="199" y="471"/>
                </a:lnTo>
                <a:lnTo>
                  <a:pt x="199" y="467"/>
                </a:lnTo>
                <a:lnTo>
                  <a:pt x="199" y="467"/>
                </a:lnTo>
                <a:lnTo>
                  <a:pt x="199" y="457"/>
                </a:lnTo>
                <a:lnTo>
                  <a:pt x="200" y="445"/>
                </a:lnTo>
                <a:lnTo>
                  <a:pt x="203" y="435"/>
                </a:lnTo>
                <a:lnTo>
                  <a:pt x="207" y="424"/>
                </a:lnTo>
                <a:lnTo>
                  <a:pt x="212" y="415"/>
                </a:lnTo>
                <a:lnTo>
                  <a:pt x="217" y="406"/>
                </a:lnTo>
                <a:lnTo>
                  <a:pt x="223" y="398"/>
                </a:lnTo>
                <a:lnTo>
                  <a:pt x="231" y="390"/>
                </a:lnTo>
                <a:lnTo>
                  <a:pt x="238" y="383"/>
                </a:lnTo>
                <a:lnTo>
                  <a:pt x="247" y="376"/>
                </a:lnTo>
                <a:lnTo>
                  <a:pt x="255" y="371"/>
                </a:lnTo>
                <a:lnTo>
                  <a:pt x="264" y="367"/>
                </a:lnTo>
                <a:lnTo>
                  <a:pt x="275" y="363"/>
                </a:lnTo>
                <a:lnTo>
                  <a:pt x="286" y="360"/>
                </a:lnTo>
                <a:lnTo>
                  <a:pt x="297" y="359"/>
                </a:lnTo>
                <a:lnTo>
                  <a:pt x="307" y="359"/>
                </a:lnTo>
                <a:lnTo>
                  <a:pt x="307" y="359"/>
                </a:lnTo>
                <a:lnTo>
                  <a:pt x="318" y="359"/>
                </a:lnTo>
                <a:lnTo>
                  <a:pt x="329" y="360"/>
                </a:lnTo>
                <a:lnTo>
                  <a:pt x="340" y="363"/>
                </a:lnTo>
                <a:lnTo>
                  <a:pt x="350" y="367"/>
                </a:lnTo>
                <a:lnTo>
                  <a:pt x="360" y="371"/>
                </a:lnTo>
                <a:lnTo>
                  <a:pt x="369" y="376"/>
                </a:lnTo>
                <a:lnTo>
                  <a:pt x="377" y="383"/>
                </a:lnTo>
                <a:lnTo>
                  <a:pt x="385" y="390"/>
                </a:lnTo>
                <a:lnTo>
                  <a:pt x="392" y="398"/>
                </a:lnTo>
                <a:lnTo>
                  <a:pt x="399" y="406"/>
                </a:lnTo>
                <a:lnTo>
                  <a:pt x="404" y="415"/>
                </a:lnTo>
                <a:lnTo>
                  <a:pt x="408" y="424"/>
                </a:lnTo>
                <a:lnTo>
                  <a:pt x="412" y="435"/>
                </a:lnTo>
                <a:lnTo>
                  <a:pt x="415" y="445"/>
                </a:lnTo>
                <a:lnTo>
                  <a:pt x="416" y="457"/>
                </a:lnTo>
                <a:lnTo>
                  <a:pt x="416" y="467"/>
                </a:lnTo>
                <a:lnTo>
                  <a:pt x="416" y="467"/>
                </a:lnTo>
                <a:lnTo>
                  <a:pt x="416" y="471"/>
                </a:lnTo>
                <a:lnTo>
                  <a:pt x="414" y="474"/>
                </a:lnTo>
                <a:lnTo>
                  <a:pt x="411" y="477"/>
                </a:lnTo>
                <a:lnTo>
                  <a:pt x="407" y="477"/>
                </a:lnTo>
                <a:lnTo>
                  <a:pt x="407" y="477"/>
                </a:lnTo>
                <a:close/>
                <a:moveTo>
                  <a:pt x="462" y="218"/>
                </a:moveTo>
                <a:lnTo>
                  <a:pt x="372" y="267"/>
                </a:lnTo>
                <a:lnTo>
                  <a:pt x="372" y="267"/>
                </a:lnTo>
                <a:lnTo>
                  <a:pt x="366" y="269"/>
                </a:lnTo>
                <a:lnTo>
                  <a:pt x="366" y="269"/>
                </a:lnTo>
                <a:lnTo>
                  <a:pt x="362" y="267"/>
                </a:lnTo>
                <a:lnTo>
                  <a:pt x="358" y="263"/>
                </a:lnTo>
                <a:lnTo>
                  <a:pt x="358" y="263"/>
                </a:lnTo>
                <a:lnTo>
                  <a:pt x="357" y="259"/>
                </a:lnTo>
                <a:lnTo>
                  <a:pt x="357" y="257"/>
                </a:lnTo>
                <a:lnTo>
                  <a:pt x="360" y="253"/>
                </a:lnTo>
                <a:lnTo>
                  <a:pt x="362" y="250"/>
                </a:lnTo>
                <a:lnTo>
                  <a:pt x="451" y="200"/>
                </a:lnTo>
                <a:lnTo>
                  <a:pt x="451" y="200"/>
                </a:lnTo>
                <a:lnTo>
                  <a:pt x="455" y="199"/>
                </a:lnTo>
                <a:lnTo>
                  <a:pt x="459" y="200"/>
                </a:lnTo>
                <a:lnTo>
                  <a:pt x="463" y="202"/>
                </a:lnTo>
                <a:lnTo>
                  <a:pt x="465" y="204"/>
                </a:lnTo>
                <a:lnTo>
                  <a:pt x="465" y="204"/>
                </a:lnTo>
                <a:lnTo>
                  <a:pt x="466" y="208"/>
                </a:lnTo>
                <a:lnTo>
                  <a:pt x="466" y="212"/>
                </a:lnTo>
                <a:lnTo>
                  <a:pt x="465" y="215"/>
                </a:lnTo>
                <a:lnTo>
                  <a:pt x="462" y="218"/>
                </a:lnTo>
                <a:lnTo>
                  <a:pt x="462" y="21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628649" y="4650296"/>
            <a:ext cx="850669" cy="33315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</a:rPr>
              <a:t>EMOTIONS</a:t>
            </a:r>
          </a:p>
        </p:txBody>
      </p:sp>
      <p:sp>
        <p:nvSpPr>
          <p:cNvPr id="119" name="Rounded Rectangle 1">
            <a:extLst>
              <a:ext uri="{FF2B5EF4-FFF2-40B4-BE49-F238E27FC236}">
                <a16:creationId xmlns:a16="http://schemas.microsoft.com/office/drawing/2014/main" id="{6BE9C814-E3A0-4305-BB6F-78530C5999AA}"/>
              </a:ext>
            </a:extLst>
          </p:cNvPr>
          <p:cNvSpPr/>
          <p:nvPr/>
        </p:nvSpPr>
        <p:spPr>
          <a:xfrm>
            <a:off x="9057954" y="430637"/>
            <a:ext cx="2577575" cy="314217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10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Future p</a:t>
            </a:r>
            <a:r>
              <a:rPr kumimoji="0" lang="fr-B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ropriétaire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4CFBED4D-CE3B-4DFB-BE05-9F6CA13D6814}"/>
              </a:ext>
            </a:extLst>
          </p:cNvPr>
          <p:cNvSpPr/>
          <p:nvPr/>
        </p:nvSpPr>
        <p:spPr>
          <a:xfrm>
            <a:off x="1552574" y="3246229"/>
            <a:ext cx="2376000" cy="3331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F63E7B4-B079-4915-84BE-1918EBDFD77A}"/>
              </a:ext>
            </a:extLst>
          </p:cNvPr>
          <p:cNvSpPr/>
          <p:nvPr/>
        </p:nvSpPr>
        <p:spPr>
          <a:xfrm>
            <a:off x="8876637" y="1458878"/>
            <a:ext cx="2376000" cy="2762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lvl="0">
              <a:defRPr/>
            </a:pPr>
            <a:r>
              <a:rPr lang="fr-BE" sz="900" b="1" dirty="0">
                <a:solidFill>
                  <a:srgbClr val="000000"/>
                </a:solidFill>
              </a:rPr>
              <a:t>J’ai une question, je contacte l’administration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D8F6EAF-855A-47F5-9899-2567184D63F3}"/>
              </a:ext>
            </a:extLst>
          </p:cNvPr>
          <p:cNvSpPr/>
          <p:nvPr/>
        </p:nvSpPr>
        <p:spPr>
          <a:xfrm>
            <a:off x="8876637" y="1802413"/>
            <a:ext cx="2376000" cy="13881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6D82A06-51E7-45AF-B2A0-F39EC1009A5D}"/>
              </a:ext>
            </a:extLst>
          </p:cNvPr>
          <p:cNvSpPr/>
          <p:nvPr/>
        </p:nvSpPr>
        <p:spPr>
          <a:xfrm>
            <a:off x="8876637" y="3246228"/>
            <a:ext cx="2376000" cy="3331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</a:endParaRP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57ED774C-A71D-4FC8-9024-165BF6EFFD31}"/>
              </a:ext>
            </a:extLst>
          </p:cNvPr>
          <p:cNvGrpSpPr/>
          <p:nvPr/>
        </p:nvGrpSpPr>
        <p:grpSpPr>
          <a:xfrm>
            <a:off x="1718691" y="1957491"/>
            <a:ext cx="2137029" cy="251914"/>
            <a:chOff x="1718691" y="1835571"/>
            <a:chExt cx="2137029" cy="251914"/>
          </a:xfrm>
        </p:grpSpPr>
        <p:sp>
          <p:nvSpPr>
            <p:cNvPr id="122" name="Oval 55">
              <a:extLst>
                <a:ext uri="{FF2B5EF4-FFF2-40B4-BE49-F238E27FC236}">
                  <a16:creationId xmlns:a16="http://schemas.microsoft.com/office/drawing/2014/main" id="{600172B9-748D-499D-A0B2-04ADA328E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8691" y="1889528"/>
              <a:ext cx="144000" cy="144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2"/>
              </a:solidFill>
            </a:ln>
          </p:spPr>
          <p:txBody>
            <a:bodyPr lIns="0" r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23232"/>
                </a:buClr>
                <a:buSzPct val="75000"/>
                <a:buFontTx/>
                <a:buNone/>
                <a:tabLst/>
                <a:defRPr/>
              </a:pPr>
              <a:r>
                <a:rPr kumimoji="0" lang="fr-BE" alt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cs typeface="Open Sans"/>
                </a:rPr>
                <a:t>1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2B6001DF-30D6-47EA-8499-05524257E067}"/>
                </a:ext>
              </a:extLst>
            </p:cNvPr>
            <p:cNvSpPr/>
            <p:nvPr/>
          </p:nvSpPr>
          <p:spPr>
            <a:xfrm>
              <a:off x="1862690" y="1835571"/>
              <a:ext cx="1993030" cy="251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defRPr/>
              </a:pPr>
              <a:r>
                <a:rPr kumimoji="0" lang="fr-BE" sz="7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Open Sans"/>
                </a:rPr>
                <a:t>Je cherche sur Google des informations pour acheter à Bruxelles en tapant quelques </a:t>
              </a:r>
              <a:r>
                <a:rPr kumimoji="0" lang="fr-BE" sz="7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Open Sans"/>
                </a:rPr>
                <a:t>mots clés </a:t>
              </a:r>
              <a:r>
                <a:rPr lang="fr-BE" sz="700" dirty="0">
                  <a:solidFill>
                    <a:sysClr val="windowText" lastClr="000000"/>
                  </a:solidFill>
                </a:rPr>
                <a:t>via mon smartphone </a:t>
              </a:r>
              <a:endParaRPr kumimoji="0" lang="fr-BE" sz="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"/>
              </a:endParaRPr>
            </a:p>
          </p:txBody>
        </p:sp>
      </p:grpSp>
      <p:grpSp>
        <p:nvGrpSpPr>
          <p:cNvPr id="156" name="Groupe 155">
            <a:extLst>
              <a:ext uri="{FF2B5EF4-FFF2-40B4-BE49-F238E27FC236}">
                <a16:creationId xmlns:a16="http://schemas.microsoft.com/office/drawing/2014/main" id="{B3B0FE42-09C5-495F-867A-B46C27B4E324}"/>
              </a:ext>
            </a:extLst>
          </p:cNvPr>
          <p:cNvGrpSpPr/>
          <p:nvPr/>
        </p:nvGrpSpPr>
        <p:grpSpPr>
          <a:xfrm>
            <a:off x="1718691" y="2342468"/>
            <a:ext cx="2137029" cy="251914"/>
            <a:chOff x="1718691" y="1835571"/>
            <a:chExt cx="2137029" cy="251914"/>
          </a:xfrm>
        </p:grpSpPr>
        <p:sp>
          <p:nvSpPr>
            <p:cNvPr id="157" name="Oval 55">
              <a:extLst>
                <a:ext uri="{FF2B5EF4-FFF2-40B4-BE49-F238E27FC236}">
                  <a16:creationId xmlns:a16="http://schemas.microsoft.com/office/drawing/2014/main" id="{29F82567-876E-4255-B782-8D33B8298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8691" y="1889528"/>
              <a:ext cx="144000" cy="144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2"/>
              </a:solidFill>
            </a:ln>
          </p:spPr>
          <p:txBody>
            <a:bodyPr lIns="0" r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23232"/>
                </a:buClr>
                <a:buSzPct val="75000"/>
                <a:buFontTx/>
                <a:buNone/>
                <a:tabLst/>
                <a:defRPr/>
              </a:pPr>
              <a:r>
                <a:rPr kumimoji="0" lang="fr-BE" alt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cs typeface="Open Sans"/>
                </a:rPr>
                <a:t>2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7A353DAF-E53C-4E63-B0F5-3B972A49BAF6}"/>
                </a:ext>
              </a:extLst>
            </p:cNvPr>
            <p:cNvSpPr/>
            <p:nvPr/>
          </p:nvSpPr>
          <p:spPr>
            <a:xfrm>
              <a:off x="1862690" y="1835571"/>
              <a:ext cx="1993030" cy="251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BE" sz="7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Open Sans"/>
                </a:rPr>
                <a:t>Je tombe sur </a:t>
              </a:r>
              <a:r>
                <a:rPr kumimoji="0" lang="fr-BE" sz="700" b="0" i="0" u="none" strike="noStrike" kern="120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Open Sans"/>
                </a:rPr>
                <a:t>logement.brussels</a:t>
              </a:r>
              <a:r>
                <a:rPr kumimoji="0" lang="fr-BE" sz="7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Open Sans"/>
                </a:rPr>
                <a:t>. </a:t>
              </a:r>
            </a:p>
          </p:txBody>
        </p:sp>
      </p:grpSp>
      <p:grpSp>
        <p:nvGrpSpPr>
          <p:cNvPr id="70" name="Groupe 4">
            <a:extLst>
              <a:ext uri="{FF2B5EF4-FFF2-40B4-BE49-F238E27FC236}">
                <a16:creationId xmlns:a16="http://schemas.microsoft.com/office/drawing/2014/main" id="{F6051AB7-829E-41F5-93D4-12D1D6C438EF}"/>
              </a:ext>
            </a:extLst>
          </p:cNvPr>
          <p:cNvGrpSpPr/>
          <p:nvPr/>
        </p:nvGrpSpPr>
        <p:grpSpPr>
          <a:xfrm>
            <a:off x="4149366" y="1873671"/>
            <a:ext cx="2137029" cy="251914"/>
            <a:chOff x="1718691" y="1835571"/>
            <a:chExt cx="2137029" cy="251914"/>
          </a:xfrm>
        </p:grpSpPr>
        <p:sp>
          <p:nvSpPr>
            <p:cNvPr id="71" name="Oval 55">
              <a:extLst>
                <a:ext uri="{FF2B5EF4-FFF2-40B4-BE49-F238E27FC236}">
                  <a16:creationId xmlns:a16="http://schemas.microsoft.com/office/drawing/2014/main" id="{541AC330-8EAA-4F62-A72D-CA6458504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8691" y="1889528"/>
              <a:ext cx="144000" cy="144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2"/>
              </a:solidFill>
            </a:ln>
          </p:spPr>
          <p:txBody>
            <a:bodyPr lIns="0" r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23232"/>
                </a:buClr>
                <a:buSzPct val="75000"/>
                <a:buFontTx/>
                <a:buNone/>
                <a:tabLst/>
                <a:defRPr/>
              </a:pPr>
              <a:r>
                <a:rPr kumimoji="0" lang="fr-BE" alt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cs typeface="Open Sans"/>
                </a:rPr>
                <a:t>3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98FBDA70-DCAC-435B-BB24-F191B7B9C215}"/>
                </a:ext>
              </a:extLst>
            </p:cNvPr>
            <p:cNvSpPr/>
            <p:nvPr/>
          </p:nvSpPr>
          <p:spPr>
            <a:xfrm>
              <a:off x="1862690" y="1835571"/>
              <a:ext cx="1993030" cy="251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defRPr/>
              </a:pPr>
              <a:r>
                <a:rPr lang="fr-BE" sz="700" dirty="0">
                  <a:solidFill>
                    <a:sysClr val="windowText" lastClr="000000"/>
                  </a:solidFill>
                </a:rPr>
                <a:t>Je commence à parcourir le site via mon ordinateur</a:t>
              </a:r>
            </a:p>
          </p:txBody>
        </p:sp>
      </p:grpSp>
      <p:grpSp>
        <p:nvGrpSpPr>
          <p:cNvPr id="73" name="Groupe 4">
            <a:extLst>
              <a:ext uri="{FF2B5EF4-FFF2-40B4-BE49-F238E27FC236}">
                <a16:creationId xmlns:a16="http://schemas.microsoft.com/office/drawing/2014/main" id="{ECF31E31-20CA-4717-A11A-36B3FF162587}"/>
              </a:ext>
            </a:extLst>
          </p:cNvPr>
          <p:cNvGrpSpPr/>
          <p:nvPr/>
        </p:nvGrpSpPr>
        <p:grpSpPr>
          <a:xfrm>
            <a:off x="4149366" y="2212020"/>
            <a:ext cx="2137029" cy="587349"/>
            <a:chOff x="1718691" y="1835571"/>
            <a:chExt cx="2137029" cy="587349"/>
          </a:xfrm>
        </p:grpSpPr>
        <p:sp>
          <p:nvSpPr>
            <p:cNvPr id="74" name="Oval 55">
              <a:extLst>
                <a:ext uri="{FF2B5EF4-FFF2-40B4-BE49-F238E27FC236}">
                  <a16:creationId xmlns:a16="http://schemas.microsoft.com/office/drawing/2014/main" id="{1195FCBF-04FA-4A32-B450-C160C6FB2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8691" y="1889528"/>
              <a:ext cx="144000" cy="144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2"/>
              </a:solidFill>
            </a:ln>
          </p:spPr>
          <p:txBody>
            <a:bodyPr lIns="0" r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23232"/>
                </a:buClr>
                <a:buSzPct val="75000"/>
                <a:buFontTx/>
                <a:buNone/>
                <a:tabLst/>
                <a:defRPr/>
              </a:pPr>
              <a:r>
                <a:rPr lang="fr-BE" altLang="en-US" sz="600" b="1" dirty="0">
                  <a:solidFill>
                    <a:srgbClr val="000000"/>
                  </a:solidFill>
                  <a:latin typeface="Open Sans"/>
                  <a:cs typeface="Open Sans"/>
                </a:rPr>
                <a:t>4</a:t>
              </a:r>
              <a:endParaRPr kumimoji="0" lang="fr-BE" alt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cs typeface="Open Sans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DFD1CF2B-1906-4444-B790-0CFB441D91C3}"/>
                </a:ext>
              </a:extLst>
            </p:cNvPr>
            <p:cNvSpPr/>
            <p:nvPr/>
          </p:nvSpPr>
          <p:spPr>
            <a:xfrm>
              <a:off x="1862690" y="1835571"/>
              <a:ext cx="1993030" cy="251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defRPr/>
              </a:pPr>
              <a:r>
                <a:rPr lang="fr-BE" sz="700" dirty="0">
                  <a:solidFill>
                    <a:sysClr val="windowText" lastClr="000000"/>
                  </a:solidFill>
                </a:rPr>
                <a:t>Je clique sur « Acheter et vendre ».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DF80F3D6-D381-4794-999C-26A2FFB08EFF}"/>
                </a:ext>
              </a:extLst>
            </p:cNvPr>
            <p:cNvSpPr/>
            <p:nvPr/>
          </p:nvSpPr>
          <p:spPr>
            <a:xfrm>
              <a:off x="1855782" y="2171006"/>
              <a:ext cx="1993030" cy="251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defRPr/>
              </a:pPr>
              <a:r>
                <a:rPr lang="fr-BE" sz="700" dirty="0">
                  <a:solidFill>
                    <a:sysClr val="windowText" lastClr="000000"/>
                  </a:solidFill>
                </a:rPr>
                <a:t>Je lis tout le contenu de cette rubrique</a:t>
              </a:r>
            </a:p>
          </p:txBody>
        </p:sp>
      </p:grpSp>
      <p:grpSp>
        <p:nvGrpSpPr>
          <p:cNvPr id="76" name="Groupe 4">
            <a:extLst>
              <a:ext uri="{FF2B5EF4-FFF2-40B4-BE49-F238E27FC236}">
                <a16:creationId xmlns:a16="http://schemas.microsoft.com/office/drawing/2014/main" id="{91A3B5F4-BA3A-4335-8D0A-EA0E26C71FB6}"/>
              </a:ext>
            </a:extLst>
          </p:cNvPr>
          <p:cNvGrpSpPr/>
          <p:nvPr/>
        </p:nvGrpSpPr>
        <p:grpSpPr>
          <a:xfrm>
            <a:off x="4149366" y="2550369"/>
            <a:ext cx="2137029" cy="251914"/>
            <a:chOff x="1718691" y="1835571"/>
            <a:chExt cx="2137029" cy="251914"/>
          </a:xfrm>
        </p:grpSpPr>
        <p:sp>
          <p:nvSpPr>
            <p:cNvPr id="77" name="Oval 55">
              <a:extLst>
                <a:ext uri="{FF2B5EF4-FFF2-40B4-BE49-F238E27FC236}">
                  <a16:creationId xmlns:a16="http://schemas.microsoft.com/office/drawing/2014/main" id="{54EF1EC8-D743-4F5C-83A5-A70B28D03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8691" y="1889528"/>
              <a:ext cx="144000" cy="144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2"/>
              </a:solidFill>
            </a:ln>
          </p:spPr>
          <p:txBody>
            <a:bodyPr lIns="0" r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23232"/>
                </a:buClr>
                <a:buSzPct val="75000"/>
                <a:buFontTx/>
                <a:buNone/>
                <a:tabLst/>
                <a:defRPr/>
              </a:pPr>
              <a:r>
                <a:rPr lang="fr-BE" altLang="en-US" sz="600" b="1" dirty="0">
                  <a:solidFill>
                    <a:srgbClr val="000000"/>
                  </a:solidFill>
                  <a:latin typeface="Open Sans"/>
                  <a:cs typeface="Open Sans"/>
                </a:rPr>
                <a:t>5</a:t>
              </a:r>
              <a:endParaRPr kumimoji="0" lang="fr-BE" alt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cs typeface="Open Sans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FC31EA69-9FAB-4AFC-8208-24FF4883BFEE}"/>
                </a:ext>
              </a:extLst>
            </p:cNvPr>
            <p:cNvSpPr/>
            <p:nvPr/>
          </p:nvSpPr>
          <p:spPr>
            <a:xfrm>
              <a:off x="1862690" y="1835571"/>
              <a:ext cx="1993030" cy="251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7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</a:endParaRPr>
            </a:p>
          </p:txBody>
        </p:sp>
      </p:grpSp>
      <p:grpSp>
        <p:nvGrpSpPr>
          <p:cNvPr id="84" name="Groupe 4">
            <a:extLst>
              <a:ext uri="{FF2B5EF4-FFF2-40B4-BE49-F238E27FC236}">
                <a16:creationId xmlns:a16="http://schemas.microsoft.com/office/drawing/2014/main" id="{D2FEB56B-2B59-4B6B-9B5F-DD5425B29707}"/>
              </a:ext>
            </a:extLst>
          </p:cNvPr>
          <p:cNvGrpSpPr/>
          <p:nvPr/>
        </p:nvGrpSpPr>
        <p:grpSpPr>
          <a:xfrm>
            <a:off x="6556985" y="1949871"/>
            <a:ext cx="2137029" cy="251914"/>
            <a:chOff x="1718691" y="1835571"/>
            <a:chExt cx="2137029" cy="251914"/>
          </a:xfrm>
        </p:grpSpPr>
        <p:sp>
          <p:nvSpPr>
            <p:cNvPr id="85" name="Oval 55">
              <a:extLst>
                <a:ext uri="{FF2B5EF4-FFF2-40B4-BE49-F238E27FC236}">
                  <a16:creationId xmlns:a16="http://schemas.microsoft.com/office/drawing/2014/main" id="{B49A1220-B34A-4A4B-B2B2-38C7C40118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8691" y="1889528"/>
              <a:ext cx="144000" cy="144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2"/>
              </a:solidFill>
            </a:ln>
          </p:spPr>
          <p:txBody>
            <a:bodyPr lIns="0" r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23232"/>
                </a:buClr>
                <a:buSzPct val="75000"/>
                <a:buFontTx/>
                <a:buNone/>
                <a:tabLst/>
                <a:defRPr/>
              </a:pPr>
              <a:r>
                <a:rPr lang="fr-BE" altLang="en-US" sz="600" b="1" dirty="0">
                  <a:solidFill>
                    <a:srgbClr val="000000"/>
                  </a:solidFill>
                  <a:latin typeface="Open Sans"/>
                  <a:cs typeface="Open Sans"/>
                </a:rPr>
                <a:t>7</a:t>
              </a:r>
              <a:endParaRPr kumimoji="0" lang="fr-BE" alt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cs typeface="Open Sans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4688402A-E425-400A-B8A7-00728056DD0C}"/>
                </a:ext>
              </a:extLst>
            </p:cNvPr>
            <p:cNvSpPr/>
            <p:nvPr/>
          </p:nvSpPr>
          <p:spPr>
            <a:xfrm>
              <a:off x="1862690" y="1835571"/>
              <a:ext cx="1993030" cy="251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BE" sz="7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Open Sans"/>
                </a:rPr>
                <a:t>J’utilise la barre de recherche </a:t>
              </a:r>
            </a:p>
          </p:txBody>
        </p:sp>
      </p:grpSp>
      <p:grpSp>
        <p:nvGrpSpPr>
          <p:cNvPr id="88" name="Groupe 4">
            <a:extLst>
              <a:ext uri="{FF2B5EF4-FFF2-40B4-BE49-F238E27FC236}">
                <a16:creationId xmlns:a16="http://schemas.microsoft.com/office/drawing/2014/main" id="{DFB4CB45-3C6E-46ED-9D8E-6992F6512F90}"/>
              </a:ext>
            </a:extLst>
          </p:cNvPr>
          <p:cNvGrpSpPr/>
          <p:nvPr/>
        </p:nvGrpSpPr>
        <p:grpSpPr>
          <a:xfrm>
            <a:off x="6556985" y="2332157"/>
            <a:ext cx="2137029" cy="251914"/>
            <a:chOff x="1718691" y="1835571"/>
            <a:chExt cx="2137029" cy="251914"/>
          </a:xfrm>
        </p:grpSpPr>
        <p:sp>
          <p:nvSpPr>
            <p:cNvPr id="89" name="Oval 55">
              <a:extLst>
                <a:ext uri="{FF2B5EF4-FFF2-40B4-BE49-F238E27FC236}">
                  <a16:creationId xmlns:a16="http://schemas.microsoft.com/office/drawing/2014/main" id="{5C41F6F9-4C54-4D3E-804B-FAF023FE77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8691" y="1889528"/>
              <a:ext cx="144000" cy="144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2"/>
              </a:solidFill>
            </a:ln>
          </p:spPr>
          <p:txBody>
            <a:bodyPr lIns="0" r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23232"/>
                </a:buClr>
                <a:buSzPct val="75000"/>
                <a:buFontTx/>
                <a:buNone/>
                <a:tabLst/>
                <a:defRPr/>
              </a:pPr>
              <a:r>
                <a:rPr kumimoji="0" lang="fr-BE" alt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cs typeface="Open Sans"/>
                </a:rPr>
                <a:t>8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7752939E-B919-47D8-A121-48F0D9291CE6}"/>
                </a:ext>
              </a:extLst>
            </p:cNvPr>
            <p:cNvSpPr/>
            <p:nvPr/>
          </p:nvSpPr>
          <p:spPr>
            <a:xfrm>
              <a:off x="1862690" y="1835571"/>
              <a:ext cx="1993030" cy="251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BE" sz="700" dirty="0">
                  <a:solidFill>
                    <a:sysClr val="windowText" lastClr="000000"/>
                  </a:solidFill>
                  <a:latin typeface="Open Sans"/>
                </a:rPr>
                <a:t>Je parcours les résultats de ma barre de recherche. </a:t>
              </a:r>
              <a:endParaRPr kumimoji="0" lang="fr-BE" sz="7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</a:endParaRPr>
            </a:p>
          </p:txBody>
        </p:sp>
      </p:grpSp>
      <p:grpSp>
        <p:nvGrpSpPr>
          <p:cNvPr id="91" name="Groupe 4">
            <a:extLst>
              <a:ext uri="{FF2B5EF4-FFF2-40B4-BE49-F238E27FC236}">
                <a16:creationId xmlns:a16="http://schemas.microsoft.com/office/drawing/2014/main" id="{9DBBFEA1-E3B9-4B1F-8463-BEA9201F8673}"/>
              </a:ext>
            </a:extLst>
          </p:cNvPr>
          <p:cNvGrpSpPr/>
          <p:nvPr/>
        </p:nvGrpSpPr>
        <p:grpSpPr>
          <a:xfrm>
            <a:off x="4149366" y="2888717"/>
            <a:ext cx="2137029" cy="251914"/>
            <a:chOff x="1718691" y="1835571"/>
            <a:chExt cx="2137029" cy="251914"/>
          </a:xfrm>
        </p:grpSpPr>
        <p:sp>
          <p:nvSpPr>
            <p:cNvPr id="92" name="Oval 55">
              <a:extLst>
                <a:ext uri="{FF2B5EF4-FFF2-40B4-BE49-F238E27FC236}">
                  <a16:creationId xmlns:a16="http://schemas.microsoft.com/office/drawing/2014/main" id="{BB4383A5-FABD-49F5-8D64-583C4C5B8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8691" y="1889528"/>
              <a:ext cx="144000" cy="144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2"/>
              </a:solidFill>
            </a:ln>
          </p:spPr>
          <p:txBody>
            <a:bodyPr lIns="0" r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23232"/>
                </a:buClr>
                <a:buSzPct val="75000"/>
                <a:buFontTx/>
                <a:buNone/>
                <a:tabLst/>
                <a:defRPr/>
              </a:pPr>
              <a:r>
                <a:rPr lang="fr-BE" altLang="en-US" sz="600" b="1" dirty="0">
                  <a:solidFill>
                    <a:srgbClr val="000000"/>
                  </a:solidFill>
                  <a:latin typeface="Open Sans"/>
                  <a:cs typeface="Open Sans"/>
                </a:rPr>
                <a:t>6</a:t>
              </a:r>
              <a:endParaRPr kumimoji="0" lang="fr-BE" alt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cs typeface="Open San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574CFF2-1085-4A2E-A226-3214CE2EE980}"/>
                </a:ext>
              </a:extLst>
            </p:cNvPr>
            <p:cNvSpPr/>
            <p:nvPr/>
          </p:nvSpPr>
          <p:spPr>
            <a:xfrm>
              <a:off x="1862690" y="1835571"/>
              <a:ext cx="1993030" cy="251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BE" sz="7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Open Sans"/>
                </a:rPr>
                <a:t>Je vois qu’il y a une colonne spéciale pour les primes sur la droite</a:t>
              </a:r>
            </a:p>
          </p:txBody>
        </p:sp>
      </p:grpSp>
      <p:grpSp>
        <p:nvGrpSpPr>
          <p:cNvPr id="125" name="Groupe 4">
            <a:extLst>
              <a:ext uri="{FF2B5EF4-FFF2-40B4-BE49-F238E27FC236}">
                <a16:creationId xmlns:a16="http://schemas.microsoft.com/office/drawing/2014/main" id="{2EE082CA-2BE6-45BD-9B76-2A88FDFE67DA}"/>
              </a:ext>
            </a:extLst>
          </p:cNvPr>
          <p:cNvGrpSpPr/>
          <p:nvPr/>
        </p:nvGrpSpPr>
        <p:grpSpPr>
          <a:xfrm>
            <a:off x="9057954" y="1906723"/>
            <a:ext cx="2137029" cy="251914"/>
            <a:chOff x="1718691" y="1835571"/>
            <a:chExt cx="2137029" cy="251914"/>
          </a:xfrm>
        </p:grpSpPr>
        <p:sp>
          <p:nvSpPr>
            <p:cNvPr id="126" name="Oval 55">
              <a:extLst>
                <a:ext uri="{FF2B5EF4-FFF2-40B4-BE49-F238E27FC236}">
                  <a16:creationId xmlns:a16="http://schemas.microsoft.com/office/drawing/2014/main" id="{BFFFC703-67CC-40DB-831E-A95E108FF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8691" y="1889528"/>
              <a:ext cx="144000" cy="144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2"/>
              </a:solidFill>
            </a:ln>
          </p:spPr>
          <p:txBody>
            <a:bodyPr lIns="0" r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23232"/>
                </a:buClr>
                <a:buSzPct val="75000"/>
                <a:buFontTx/>
                <a:buNone/>
                <a:tabLst/>
                <a:defRPr/>
              </a:pPr>
              <a:r>
                <a:rPr lang="fr-BE" altLang="en-US" sz="600" b="1" dirty="0">
                  <a:solidFill>
                    <a:srgbClr val="000000"/>
                  </a:solidFill>
                  <a:latin typeface="Open Sans"/>
                  <a:cs typeface="Open Sans"/>
                </a:rPr>
                <a:t>9</a:t>
              </a:r>
              <a:endParaRPr kumimoji="0" lang="fr-BE" alt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cs typeface="Open Sans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38E9C65C-413B-4491-B985-93F574F21EBF}"/>
                </a:ext>
              </a:extLst>
            </p:cNvPr>
            <p:cNvSpPr/>
            <p:nvPr/>
          </p:nvSpPr>
          <p:spPr>
            <a:xfrm>
              <a:off x="1862690" y="1835571"/>
              <a:ext cx="1993030" cy="251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BE" sz="700" dirty="0">
                  <a:solidFill>
                    <a:sysClr val="windowText" lastClr="000000"/>
                  </a:solidFill>
                  <a:latin typeface="Open Sans"/>
                </a:rPr>
                <a:t>Puisque tout n’est pas encore clair, je souhaite contacter l’administration</a:t>
              </a:r>
              <a:r>
                <a:rPr kumimoji="0" lang="fr-BE" sz="7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Open Sans"/>
                </a:rPr>
                <a:t>.</a:t>
              </a:r>
            </a:p>
          </p:txBody>
        </p:sp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id="{330587DD-47BD-45ED-8D70-EE0EDF2BCB6B}"/>
              </a:ext>
            </a:extLst>
          </p:cNvPr>
          <p:cNvSpPr txBox="1"/>
          <p:nvPr/>
        </p:nvSpPr>
        <p:spPr>
          <a:xfrm>
            <a:off x="1172376" y="5305092"/>
            <a:ext cx="128677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</a:rPr>
              <a:t>C’est difficile de trouver quelque chose d’autre que les sites immobiliers… 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CDB5825-24BC-416F-BA79-F2A7F9681922}"/>
              </a:ext>
            </a:extLst>
          </p:cNvPr>
          <p:cNvSpPr txBox="1"/>
          <p:nvPr/>
        </p:nvSpPr>
        <p:spPr>
          <a:xfrm>
            <a:off x="2588834" y="5059813"/>
            <a:ext cx="145495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700" dirty="0">
                <a:solidFill>
                  <a:srgbClr val="000000"/>
                </a:solidFill>
                <a:latin typeface="Open Sans"/>
              </a:rPr>
              <a:t>Ah, un site de la région bruxelloise ! Pas très claire en mobile par contre… </a:t>
            </a:r>
            <a:r>
              <a:rPr kumimoji="0" lang="fr-B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</a:rPr>
              <a:t>Je vais allumer mon ordi, ce sera plus simple. 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CB2CCFB-0D4D-45ED-9C42-DCDF8294C103}"/>
              </a:ext>
            </a:extLst>
          </p:cNvPr>
          <p:cNvSpPr txBox="1"/>
          <p:nvPr/>
        </p:nvSpPr>
        <p:spPr>
          <a:xfrm>
            <a:off x="3576229" y="3676167"/>
            <a:ext cx="13384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BE" sz="700" dirty="0">
                <a:solidFill>
                  <a:srgbClr val="000000"/>
                </a:solidFill>
              </a:rPr>
              <a:t>Je suis un peu submergé par la grande quantité d’informations sur le site web mais la barre de menu me mène à la bonne section.</a:t>
            </a:r>
          </a:p>
        </p:txBody>
      </p:sp>
      <p:cxnSp>
        <p:nvCxnSpPr>
          <p:cNvPr id="135" name="Straight Connector 17">
            <a:extLst>
              <a:ext uri="{FF2B5EF4-FFF2-40B4-BE49-F238E27FC236}">
                <a16:creationId xmlns:a16="http://schemas.microsoft.com/office/drawing/2014/main" id="{D1E8F092-8138-43A6-860E-6BD6472C9026}"/>
              </a:ext>
            </a:extLst>
          </p:cNvPr>
          <p:cNvCxnSpPr>
            <a:cxnSpLocks/>
            <a:stCxn id="132" idx="0"/>
            <a:endCxn id="133" idx="2"/>
          </p:cNvCxnSpPr>
          <p:nvPr/>
        </p:nvCxnSpPr>
        <p:spPr>
          <a:xfrm rot="16200000" flipV="1">
            <a:off x="4149018" y="4511280"/>
            <a:ext cx="192900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F221A1F5-6ACE-4F6F-AF76-62529097B2E5}"/>
              </a:ext>
            </a:extLst>
          </p:cNvPr>
          <p:cNvSpPr txBox="1"/>
          <p:nvPr/>
        </p:nvSpPr>
        <p:spPr>
          <a:xfrm>
            <a:off x="4798414" y="5295306"/>
            <a:ext cx="1338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700" dirty="0">
                <a:solidFill>
                  <a:srgbClr val="000000"/>
                </a:solidFill>
                <a:latin typeface="Open Sans"/>
              </a:rPr>
              <a:t>La section « Acheter et Vendre » ne me donne pas un aperçu facile de toutes les étapes que je dois suivre pendant le processus d’achat.</a:t>
            </a:r>
            <a:endParaRPr kumimoji="0" lang="fr-BE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95EEFD0-FCBC-4ABD-A721-F6553196DD5B}"/>
              </a:ext>
            </a:extLst>
          </p:cNvPr>
          <p:cNvSpPr txBox="1"/>
          <p:nvPr/>
        </p:nvSpPr>
        <p:spPr>
          <a:xfrm>
            <a:off x="5013453" y="3699951"/>
            <a:ext cx="121343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</a:rPr>
              <a:t>Je parcours toutes les informations pour trouver ce dont j’ai besoin. L’information semble être complète.</a:t>
            </a:r>
          </a:p>
        </p:txBody>
      </p:sp>
      <p:cxnSp>
        <p:nvCxnSpPr>
          <p:cNvPr id="145" name="Straight Connector 17">
            <a:extLst>
              <a:ext uri="{FF2B5EF4-FFF2-40B4-BE49-F238E27FC236}">
                <a16:creationId xmlns:a16="http://schemas.microsoft.com/office/drawing/2014/main" id="{8E8DAEDB-4295-4A16-A7FF-DFFC92E62D75}"/>
              </a:ext>
            </a:extLst>
          </p:cNvPr>
          <p:cNvCxnSpPr>
            <a:cxnSpLocks/>
            <a:stCxn id="146" idx="1"/>
            <a:endCxn id="144" idx="4"/>
          </p:cNvCxnSpPr>
          <p:nvPr/>
        </p:nvCxnSpPr>
        <p:spPr>
          <a:xfrm rot="10800000">
            <a:off x="6226894" y="5128421"/>
            <a:ext cx="90000" cy="429617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79F2AD91-DEAE-4861-9518-267198B49291}"/>
              </a:ext>
            </a:extLst>
          </p:cNvPr>
          <p:cNvSpPr txBox="1"/>
          <p:nvPr/>
        </p:nvSpPr>
        <p:spPr>
          <a:xfrm>
            <a:off x="6316894" y="5134844"/>
            <a:ext cx="1181636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</a:rPr>
              <a:t>Il y a plein de primes disponibles mais je ne sais toujours pas quelles primes s’appliquent à moi, ni quel sera le coût total de mon achat..</a:t>
            </a:r>
          </a:p>
        </p:txBody>
      </p:sp>
      <p:cxnSp>
        <p:nvCxnSpPr>
          <p:cNvPr id="149" name="Straight Connector 17">
            <a:extLst>
              <a:ext uri="{FF2B5EF4-FFF2-40B4-BE49-F238E27FC236}">
                <a16:creationId xmlns:a16="http://schemas.microsoft.com/office/drawing/2014/main" id="{A3B0FAF2-933A-4C66-909A-B4D4AD6B458D}"/>
              </a:ext>
            </a:extLst>
          </p:cNvPr>
          <p:cNvCxnSpPr>
            <a:cxnSpLocks/>
            <a:stCxn id="150" idx="2"/>
            <a:endCxn id="148" idx="0"/>
          </p:cNvCxnSpPr>
          <p:nvPr/>
        </p:nvCxnSpPr>
        <p:spPr>
          <a:xfrm flipH="1">
            <a:off x="6880808" y="4319854"/>
            <a:ext cx="3767" cy="152769"/>
          </a:xfrm>
          <a:prstGeom prst="straightConnector1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F92E870E-7477-435D-8F08-9503CB50A215}"/>
              </a:ext>
            </a:extLst>
          </p:cNvPr>
          <p:cNvSpPr txBox="1"/>
          <p:nvPr/>
        </p:nvSpPr>
        <p:spPr>
          <a:xfrm>
            <a:off x="6325632" y="3904356"/>
            <a:ext cx="111788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</a:rPr>
              <a:t>Je viens de remarquer qu’il y a une barre de recherche.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2CBC2FDF-22C6-4593-8017-F31B8432C110}"/>
              </a:ext>
            </a:extLst>
          </p:cNvPr>
          <p:cNvSpPr txBox="1"/>
          <p:nvPr/>
        </p:nvSpPr>
        <p:spPr>
          <a:xfrm>
            <a:off x="7625545" y="5383262"/>
            <a:ext cx="145234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</a:rPr>
              <a:t>Les résultats de recherche m’amènent à des pages que j’ai déjà visitées, je ne trouve pas d’outil pratique pour m’aider.</a:t>
            </a:r>
          </a:p>
        </p:txBody>
      </p:sp>
      <p:cxnSp>
        <p:nvCxnSpPr>
          <p:cNvPr id="154" name="Straight Connector 17">
            <a:extLst>
              <a:ext uri="{FF2B5EF4-FFF2-40B4-BE49-F238E27FC236}">
                <a16:creationId xmlns:a16="http://schemas.microsoft.com/office/drawing/2014/main" id="{D75CED56-9988-49B3-ABEC-8A4CD1E07E6A}"/>
              </a:ext>
            </a:extLst>
          </p:cNvPr>
          <p:cNvCxnSpPr>
            <a:cxnSpLocks/>
            <a:stCxn id="151" idx="6"/>
            <a:endCxn id="152" idx="0"/>
          </p:cNvCxnSpPr>
          <p:nvPr/>
        </p:nvCxnSpPr>
        <p:spPr>
          <a:xfrm>
            <a:off x="7820233" y="5232164"/>
            <a:ext cx="531486" cy="151098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7">
            <a:extLst>
              <a:ext uri="{FF2B5EF4-FFF2-40B4-BE49-F238E27FC236}">
                <a16:creationId xmlns:a16="http://schemas.microsoft.com/office/drawing/2014/main" id="{08227806-601E-444D-A896-C3A57F3824B0}"/>
              </a:ext>
            </a:extLst>
          </p:cNvPr>
          <p:cNvCxnSpPr>
            <a:cxnSpLocks/>
            <a:stCxn id="169" idx="1"/>
            <a:endCxn id="159" idx="0"/>
          </p:cNvCxnSpPr>
          <p:nvPr/>
        </p:nvCxnSpPr>
        <p:spPr>
          <a:xfrm rot="10800000" flipV="1">
            <a:off x="9053762" y="3982632"/>
            <a:ext cx="531938" cy="57137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7">
            <a:extLst>
              <a:ext uri="{FF2B5EF4-FFF2-40B4-BE49-F238E27FC236}">
                <a16:creationId xmlns:a16="http://schemas.microsoft.com/office/drawing/2014/main" id="{7189E03B-B537-4D80-AC21-9C3436374D09}"/>
              </a:ext>
            </a:extLst>
          </p:cNvPr>
          <p:cNvCxnSpPr>
            <a:cxnSpLocks/>
            <a:stCxn id="168" idx="0"/>
          </p:cNvCxnSpPr>
          <p:nvPr/>
        </p:nvCxnSpPr>
        <p:spPr>
          <a:xfrm rot="5400000" flipH="1" flipV="1">
            <a:off x="10562824" y="5151761"/>
            <a:ext cx="225145" cy="293046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F798631D-5003-4AB0-AEA6-910E320EF705}"/>
              </a:ext>
            </a:extLst>
          </p:cNvPr>
          <p:cNvSpPr txBox="1"/>
          <p:nvPr/>
        </p:nvSpPr>
        <p:spPr>
          <a:xfrm>
            <a:off x="9969930" y="5410856"/>
            <a:ext cx="111788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</a:rPr>
              <a:t>J’abandonne et décide de chercher sur d’autre site web</a:t>
            </a:r>
          </a:p>
        </p:txBody>
      </p:sp>
      <p:sp>
        <p:nvSpPr>
          <p:cNvPr id="141" name="Oval 55">
            <a:extLst>
              <a:ext uri="{FF2B5EF4-FFF2-40B4-BE49-F238E27FC236}">
                <a16:creationId xmlns:a16="http://schemas.microsoft.com/office/drawing/2014/main" id="{FC8E5691-2FA6-46EE-9ED5-D28960C0B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607" y="5034392"/>
            <a:ext cx="180000" cy="180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2"/>
            </a:solidFill>
          </a:ln>
        </p:spPr>
        <p:txBody>
          <a:bodyPr lIns="0" rIns="0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23232"/>
              </a:buClr>
              <a:buSzPct val="75000"/>
              <a:buFontTx/>
              <a:buNone/>
              <a:tabLst/>
              <a:defRPr/>
            </a:pPr>
            <a:r>
              <a:rPr kumimoji="0" lang="fr-BE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cs typeface="Open Sans"/>
              </a:rPr>
              <a:t>1</a:t>
            </a:r>
          </a:p>
        </p:txBody>
      </p:sp>
      <p:sp>
        <p:nvSpPr>
          <p:cNvPr id="142" name="Oval 55">
            <a:extLst>
              <a:ext uri="{FF2B5EF4-FFF2-40B4-BE49-F238E27FC236}">
                <a16:creationId xmlns:a16="http://schemas.microsoft.com/office/drawing/2014/main" id="{52042B14-69D7-420D-A702-D178AA408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3320" y="4801906"/>
            <a:ext cx="180000" cy="180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2"/>
            </a:solidFill>
          </a:ln>
        </p:spPr>
        <p:txBody>
          <a:bodyPr lIns="0" rIns="0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23232"/>
              </a:buClr>
              <a:buSzPct val="75000"/>
              <a:buFontTx/>
              <a:buNone/>
              <a:tabLst/>
              <a:defRPr/>
            </a:pPr>
            <a:r>
              <a:rPr kumimoji="0" lang="fr-BE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cs typeface="Open Sans"/>
              </a:rPr>
              <a:t>2</a:t>
            </a:r>
          </a:p>
        </p:txBody>
      </p:sp>
      <p:sp>
        <p:nvSpPr>
          <p:cNvPr id="132" name="Oval 55">
            <a:extLst>
              <a:ext uri="{FF2B5EF4-FFF2-40B4-BE49-F238E27FC236}">
                <a16:creationId xmlns:a16="http://schemas.microsoft.com/office/drawing/2014/main" id="{38865EB3-1B27-4B27-8811-1DF91C907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791" y="4607731"/>
            <a:ext cx="175353" cy="199136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2"/>
            </a:solidFill>
          </a:ln>
        </p:spPr>
        <p:txBody>
          <a:bodyPr lIns="0" rIns="0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23232"/>
              </a:buClr>
              <a:buSzPct val="75000"/>
              <a:buFontTx/>
              <a:buNone/>
              <a:tabLst/>
              <a:defRPr/>
            </a:pPr>
            <a:r>
              <a:rPr kumimoji="0" lang="fr-BE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cs typeface="Open Sans"/>
              </a:rPr>
              <a:t>3</a:t>
            </a:r>
          </a:p>
        </p:txBody>
      </p:sp>
      <p:sp>
        <p:nvSpPr>
          <p:cNvPr id="136" name="Oval 55">
            <a:extLst>
              <a:ext uri="{FF2B5EF4-FFF2-40B4-BE49-F238E27FC236}">
                <a16:creationId xmlns:a16="http://schemas.microsoft.com/office/drawing/2014/main" id="{DB472897-4973-46E2-B883-86E8F8A32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6411" y="5416263"/>
            <a:ext cx="180000" cy="180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2"/>
            </a:solidFill>
          </a:ln>
        </p:spPr>
        <p:txBody>
          <a:bodyPr lIns="0" rIns="0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23232"/>
              </a:buClr>
              <a:buSzPct val="75000"/>
              <a:buFontTx/>
              <a:buNone/>
              <a:tabLst/>
              <a:defRPr/>
            </a:pPr>
            <a:r>
              <a:rPr kumimoji="0" lang="fr-BE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cs typeface="Open Sans"/>
              </a:rPr>
              <a:t>4</a:t>
            </a:r>
          </a:p>
        </p:txBody>
      </p:sp>
      <p:sp>
        <p:nvSpPr>
          <p:cNvPr id="139" name="Oval 55">
            <a:extLst>
              <a:ext uri="{FF2B5EF4-FFF2-40B4-BE49-F238E27FC236}">
                <a16:creationId xmlns:a16="http://schemas.microsoft.com/office/drawing/2014/main" id="{803DD466-3ABA-44AA-A443-4CC7C581F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2972" y="4536057"/>
            <a:ext cx="180000" cy="180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2"/>
            </a:solidFill>
          </a:ln>
        </p:spPr>
        <p:txBody>
          <a:bodyPr lIns="0" rIns="0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23232"/>
              </a:buClr>
              <a:buSzPct val="75000"/>
              <a:buFontTx/>
              <a:buNone/>
              <a:tabLst/>
              <a:defRPr/>
            </a:pPr>
            <a:r>
              <a:rPr kumimoji="0" lang="fr-BE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cs typeface="Open Sans"/>
              </a:rPr>
              <a:t>5</a:t>
            </a:r>
          </a:p>
        </p:txBody>
      </p:sp>
      <p:sp>
        <p:nvSpPr>
          <p:cNvPr id="144" name="Oval 55">
            <a:extLst>
              <a:ext uri="{FF2B5EF4-FFF2-40B4-BE49-F238E27FC236}">
                <a16:creationId xmlns:a16="http://schemas.microsoft.com/office/drawing/2014/main" id="{04624717-9132-43E7-814A-8EE79CE60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6894" y="4948420"/>
            <a:ext cx="180000" cy="180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2"/>
            </a:solidFill>
          </a:ln>
        </p:spPr>
        <p:txBody>
          <a:bodyPr lIns="0" rIns="0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23232"/>
              </a:buClr>
              <a:buSzPct val="75000"/>
              <a:buFontTx/>
              <a:buNone/>
              <a:tabLst/>
              <a:defRPr/>
            </a:pPr>
            <a:r>
              <a:rPr kumimoji="0" lang="fr-BE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cs typeface="Open Sans"/>
              </a:rPr>
              <a:t>6</a:t>
            </a:r>
          </a:p>
        </p:txBody>
      </p:sp>
      <p:sp>
        <p:nvSpPr>
          <p:cNvPr id="148" name="Oval 55">
            <a:extLst>
              <a:ext uri="{FF2B5EF4-FFF2-40B4-BE49-F238E27FC236}">
                <a16:creationId xmlns:a16="http://schemas.microsoft.com/office/drawing/2014/main" id="{AE944B70-6384-44EB-BC1B-96BF6274C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0808" y="4472623"/>
            <a:ext cx="180000" cy="180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2"/>
            </a:solidFill>
          </a:ln>
        </p:spPr>
        <p:txBody>
          <a:bodyPr lIns="0" rIns="0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23232"/>
              </a:buClr>
              <a:buSzPct val="75000"/>
              <a:buFontTx/>
              <a:buNone/>
              <a:tabLst/>
              <a:defRPr/>
            </a:pPr>
            <a:r>
              <a:rPr kumimoji="0" lang="fr-BE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cs typeface="Open Sans"/>
              </a:rPr>
              <a:t>7</a:t>
            </a:r>
          </a:p>
        </p:txBody>
      </p:sp>
      <p:sp>
        <p:nvSpPr>
          <p:cNvPr id="151" name="Oval 55">
            <a:extLst>
              <a:ext uri="{FF2B5EF4-FFF2-40B4-BE49-F238E27FC236}">
                <a16:creationId xmlns:a16="http://schemas.microsoft.com/office/drawing/2014/main" id="{C191FE68-A6F5-48E3-A644-EC2FCBAE2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0233" y="5142164"/>
            <a:ext cx="180000" cy="180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2"/>
            </a:solidFill>
          </a:ln>
        </p:spPr>
        <p:txBody>
          <a:bodyPr lIns="0" rIns="0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23232"/>
              </a:buClr>
              <a:buSzPct val="75000"/>
              <a:buFontTx/>
              <a:buNone/>
              <a:tabLst/>
              <a:defRPr/>
            </a:pPr>
            <a:r>
              <a:rPr kumimoji="0" lang="fr-BE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cs typeface="Open Sans"/>
              </a:rPr>
              <a:t>8</a:t>
            </a:r>
          </a:p>
        </p:txBody>
      </p:sp>
      <p:sp>
        <p:nvSpPr>
          <p:cNvPr id="159" name="Oval 55">
            <a:extLst>
              <a:ext uri="{FF2B5EF4-FFF2-40B4-BE49-F238E27FC236}">
                <a16:creationId xmlns:a16="http://schemas.microsoft.com/office/drawing/2014/main" id="{0B5D4E77-E7A0-4656-AA3B-5D56C8475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3762" y="4039770"/>
            <a:ext cx="180000" cy="180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2"/>
            </a:solidFill>
          </a:ln>
        </p:spPr>
        <p:txBody>
          <a:bodyPr lIns="0" rIns="0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23232"/>
              </a:buClr>
              <a:buSzPct val="75000"/>
              <a:buFontTx/>
              <a:buNone/>
              <a:tabLst/>
              <a:defRPr/>
            </a:pPr>
            <a:r>
              <a:rPr kumimoji="0" lang="fr-BE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cs typeface="Open Sans"/>
              </a:rPr>
              <a:t>9</a:t>
            </a:r>
          </a:p>
        </p:txBody>
      </p:sp>
      <p:sp>
        <p:nvSpPr>
          <p:cNvPr id="166" name="Oval 55">
            <a:extLst>
              <a:ext uri="{FF2B5EF4-FFF2-40B4-BE49-F238E27FC236}">
                <a16:creationId xmlns:a16="http://schemas.microsoft.com/office/drawing/2014/main" id="{A7525C32-C84F-4D07-A40F-471B0F3F3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2627" y="5098252"/>
            <a:ext cx="180000" cy="180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2"/>
            </a:solidFill>
          </a:ln>
        </p:spPr>
        <p:txBody>
          <a:bodyPr lIns="0" rIns="0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23232"/>
              </a:buClr>
              <a:buSzPct val="75000"/>
              <a:buFontTx/>
              <a:buNone/>
              <a:tabLst/>
              <a:defRPr/>
            </a:pPr>
            <a:r>
              <a:rPr kumimoji="0" lang="fr-BE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cs typeface="Open Sans"/>
              </a:rPr>
              <a:t>11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B25D2481-DFF2-48AB-BBE7-17020F51028A}"/>
              </a:ext>
            </a:extLst>
          </p:cNvPr>
          <p:cNvSpPr/>
          <p:nvPr/>
        </p:nvSpPr>
        <p:spPr>
          <a:xfrm>
            <a:off x="4020805" y="6011816"/>
            <a:ext cx="2360677" cy="759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fr-BE" sz="700" dirty="0">
                <a:solidFill>
                  <a:srgbClr val="000000"/>
                </a:solidFill>
              </a:rPr>
              <a:t>La quantité d’information perturbe l’utilisateur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B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</a:rPr>
              <a:t>Besoin d’une ligne du temps qui représente les différentes étapes lors de l’achat d’un bien.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B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</a:rPr>
              <a:t>Besoin de structurer l’information pour éviter à l’utilisateur de devoir tout lire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BE" sz="700" dirty="0">
                <a:solidFill>
                  <a:srgbClr val="000000"/>
                </a:solidFill>
                <a:latin typeface="Open Sans"/>
              </a:rPr>
              <a:t>Besoin d’une check-list des primes pour les nouveaux acquéreurs </a:t>
            </a:r>
            <a:endParaRPr kumimoji="0" lang="fr-BE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962C7285-697F-41AE-A8D1-E392FF403885}"/>
              </a:ext>
            </a:extLst>
          </p:cNvPr>
          <p:cNvSpPr/>
          <p:nvPr/>
        </p:nvSpPr>
        <p:spPr>
          <a:xfrm>
            <a:off x="6435765" y="6012595"/>
            <a:ext cx="2377735" cy="759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fr-BE" sz="700" dirty="0">
                <a:solidFill>
                  <a:srgbClr val="000000"/>
                </a:solidFill>
              </a:rPr>
              <a:t>Besoin d’une barre de recherche visible, qui répond aux requêtes et offre des suggestions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fr-BE" sz="700" dirty="0">
                <a:solidFill>
                  <a:srgbClr val="000000"/>
                </a:solidFill>
              </a:rPr>
              <a:t>Il n’y a pas d’outils pratiques permettant de fournir à l’utilisateurs des informations adaptées à sa situation.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F0F2CF3D-DB58-4603-9636-5F92DBEE920D}"/>
              </a:ext>
            </a:extLst>
          </p:cNvPr>
          <p:cNvSpPr/>
          <p:nvPr/>
        </p:nvSpPr>
        <p:spPr>
          <a:xfrm>
            <a:off x="1552574" y="6012595"/>
            <a:ext cx="2376000" cy="759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BE" sz="700" dirty="0">
                <a:solidFill>
                  <a:srgbClr val="000000"/>
                </a:solidFill>
                <a:latin typeface="Open Sans"/>
              </a:rPr>
              <a:t>L’utilisateur n’arrive pas tout de suite sur </a:t>
            </a:r>
            <a:r>
              <a:rPr lang="fr-BE" sz="700" dirty="0" err="1">
                <a:solidFill>
                  <a:srgbClr val="000000"/>
                </a:solidFill>
                <a:latin typeface="Open Sans"/>
              </a:rPr>
              <a:t>logement.brussels</a:t>
            </a:r>
            <a:r>
              <a:rPr lang="fr-BE" sz="700" dirty="0">
                <a:solidFill>
                  <a:srgbClr val="000000"/>
                </a:solidFill>
                <a:latin typeface="Open Sans"/>
              </a:rPr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BE" sz="700" dirty="0">
                <a:solidFill>
                  <a:srgbClr val="000000"/>
                </a:solidFill>
                <a:latin typeface="Open Sans"/>
              </a:rPr>
              <a:t>Le site n’est pas optimisé pour l’expérience via mobile 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912F0A17-372C-4130-930D-7298F001868D}"/>
              </a:ext>
            </a:extLst>
          </p:cNvPr>
          <p:cNvSpPr/>
          <p:nvPr/>
        </p:nvSpPr>
        <p:spPr>
          <a:xfrm>
            <a:off x="628649" y="6016434"/>
            <a:ext cx="850669" cy="7596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</a:rPr>
              <a:t>CHALLENGES</a:t>
            </a:r>
            <a:endParaRPr kumimoji="0" lang="fr-BE" sz="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2DFEEF3-BD9A-46FF-ABD5-A02BBDFDED93}"/>
              </a:ext>
            </a:extLst>
          </p:cNvPr>
          <p:cNvSpPr/>
          <p:nvPr/>
        </p:nvSpPr>
        <p:spPr>
          <a:xfrm>
            <a:off x="8876637" y="6010144"/>
            <a:ext cx="2376000" cy="759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B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</a:rPr>
              <a:t>Besoin d’un formulaire de contact clair et concis qui mène automatiquement à la bonne administration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BE" sz="700" dirty="0">
                <a:solidFill>
                  <a:srgbClr val="000000"/>
                </a:solidFill>
                <a:latin typeface="Open Sans"/>
              </a:rPr>
              <a:t>Besoin d’une FAQ </a:t>
            </a:r>
            <a:endParaRPr kumimoji="0" lang="fr-BE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</a:endParaRPr>
          </a:p>
        </p:txBody>
      </p:sp>
      <p:grpSp>
        <p:nvGrpSpPr>
          <p:cNvPr id="182" name="Groupe 4">
            <a:extLst>
              <a:ext uri="{FF2B5EF4-FFF2-40B4-BE49-F238E27FC236}">
                <a16:creationId xmlns:a16="http://schemas.microsoft.com/office/drawing/2014/main" id="{D9B56BA4-1064-4736-9D02-A8B6926F60AF}"/>
              </a:ext>
            </a:extLst>
          </p:cNvPr>
          <p:cNvGrpSpPr/>
          <p:nvPr/>
        </p:nvGrpSpPr>
        <p:grpSpPr>
          <a:xfrm>
            <a:off x="9071763" y="2301543"/>
            <a:ext cx="2137029" cy="251914"/>
            <a:chOff x="1718691" y="1835571"/>
            <a:chExt cx="2137029" cy="251914"/>
          </a:xfrm>
        </p:grpSpPr>
        <p:sp>
          <p:nvSpPr>
            <p:cNvPr id="183" name="Oval 55">
              <a:extLst>
                <a:ext uri="{FF2B5EF4-FFF2-40B4-BE49-F238E27FC236}">
                  <a16:creationId xmlns:a16="http://schemas.microsoft.com/office/drawing/2014/main" id="{9435DFCE-FABC-411E-BCED-0BD00CA0A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8691" y="1889528"/>
              <a:ext cx="144000" cy="144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2"/>
              </a:solidFill>
            </a:ln>
          </p:spPr>
          <p:txBody>
            <a:bodyPr lIns="0" r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23232"/>
                </a:buClr>
                <a:buSzPct val="75000"/>
                <a:buFontTx/>
                <a:buNone/>
                <a:tabLst/>
                <a:defRPr/>
              </a:pPr>
              <a:r>
                <a:rPr kumimoji="0" lang="fr-BE" alt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cs typeface="Open Sans"/>
                </a:rPr>
                <a:t>10</a:t>
              </a: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5DD08D0E-028D-48FC-A279-F7D62F15D00E}"/>
                </a:ext>
              </a:extLst>
            </p:cNvPr>
            <p:cNvSpPr/>
            <p:nvPr/>
          </p:nvSpPr>
          <p:spPr>
            <a:xfrm>
              <a:off x="1862690" y="1835571"/>
              <a:ext cx="1993030" cy="2519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defRPr/>
              </a:pPr>
              <a:r>
                <a:rPr lang="fr-BE" sz="700" dirty="0">
                  <a:solidFill>
                    <a:sysClr val="windowText" lastClr="000000"/>
                  </a:solidFill>
                </a:rPr>
                <a:t>Il y a trop d’options, alors je décide de continuer à surfer sur un autre site.</a:t>
              </a:r>
            </a:p>
          </p:txBody>
        </p:sp>
      </p:grpSp>
      <p:grpSp>
        <p:nvGrpSpPr>
          <p:cNvPr id="196" name="Group 166">
            <a:extLst>
              <a:ext uri="{FF2B5EF4-FFF2-40B4-BE49-F238E27FC236}">
                <a16:creationId xmlns:a16="http://schemas.microsoft.com/office/drawing/2014/main" id="{4EAAF72D-9A48-452A-8738-3A0484E9AC55}"/>
              </a:ext>
            </a:extLst>
          </p:cNvPr>
          <p:cNvGrpSpPr>
            <a:grpSpLocks noChangeAspect="1"/>
          </p:cNvGrpSpPr>
          <p:nvPr/>
        </p:nvGrpSpPr>
        <p:grpSpPr>
          <a:xfrm>
            <a:off x="5075143" y="3273280"/>
            <a:ext cx="252000" cy="252000"/>
            <a:chOff x="9353551" y="823913"/>
            <a:chExt cx="522288" cy="522288"/>
          </a:xfrm>
        </p:grpSpPr>
        <p:sp>
          <p:nvSpPr>
            <p:cNvPr id="200" name="Freeform 40">
              <a:extLst>
                <a:ext uri="{FF2B5EF4-FFF2-40B4-BE49-F238E27FC236}">
                  <a16:creationId xmlns:a16="http://schemas.microsoft.com/office/drawing/2014/main" id="{4B29DA67-D1A3-4E92-B9B4-BCD43A0776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53551" y="823913"/>
              <a:ext cx="522288" cy="522288"/>
            </a:xfrm>
            <a:custGeom>
              <a:avLst/>
              <a:gdLst>
                <a:gd name="T0" fmla="*/ 311 w 656"/>
                <a:gd name="T1" fmla="*/ 657 h 659"/>
                <a:gd name="T2" fmla="*/ 262 w 656"/>
                <a:gd name="T3" fmla="*/ 652 h 659"/>
                <a:gd name="T4" fmla="*/ 200 w 656"/>
                <a:gd name="T5" fmla="*/ 633 h 659"/>
                <a:gd name="T6" fmla="*/ 119 w 656"/>
                <a:gd name="T7" fmla="*/ 583 h 659"/>
                <a:gd name="T8" fmla="*/ 56 w 656"/>
                <a:gd name="T9" fmla="*/ 514 h 659"/>
                <a:gd name="T10" fmla="*/ 14 w 656"/>
                <a:gd name="T11" fmla="*/ 428 h 659"/>
                <a:gd name="T12" fmla="*/ 4 w 656"/>
                <a:gd name="T13" fmla="*/ 379 h 659"/>
                <a:gd name="T14" fmla="*/ 0 w 656"/>
                <a:gd name="T15" fmla="*/ 329 h 659"/>
                <a:gd name="T16" fmla="*/ 1 w 656"/>
                <a:gd name="T17" fmla="*/ 296 h 659"/>
                <a:gd name="T18" fmla="*/ 9 w 656"/>
                <a:gd name="T19" fmla="*/ 248 h 659"/>
                <a:gd name="T20" fmla="*/ 39 w 656"/>
                <a:gd name="T21" fmla="*/ 172 h 659"/>
                <a:gd name="T22" fmla="*/ 96 w 656"/>
                <a:gd name="T23" fmla="*/ 97 h 659"/>
                <a:gd name="T24" fmla="*/ 172 w 656"/>
                <a:gd name="T25" fmla="*/ 41 h 659"/>
                <a:gd name="T26" fmla="*/ 245 w 656"/>
                <a:gd name="T27" fmla="*/ 11 h 659"/>
                <a:gd name="T28" fmla="*/ 295 w 656"/>
                <a:gd name="T29" fmla="*/ 3 h 659"/>
                <a:gd name="T30" fmla="*/ 329 w 656"/>
                <a:gd name="T31" fmla="*/ 0 h 659"/>
                <a:gd name="T32" fmla="*/ 378 w 656"/>
                <a:gd name="T33" fmla="*/ 4 h 659"/>
                <a:gd name="T34" fmla="*/ 425 w 656"/>
                <a:gd name="T35" fmla="*/ 15 h 659"/>
                <a:gd name="T36" fmla="*/ 511 w 656"/>
                <a:gd name="T37" fmla="*/ 57 h 659"/>
                <a:gd name="T38" fmla="*/ 581 w 656"/>
                <a:gd name="T39" fmla="*/ 120 h 659"/>
                <a:gd name="T40" fmla="*/ 631 w 656"/>
                <a:gd name="T41" fmla="*/ 202 h 659"/>
                <a:gd name="T42" fmla="*/ 650 w 656"/>
                <a:gd name="T43" fmla="*/ 264 h 659"/>
                <a:gd name="T44" fmla="*/ 656 w 656"/>
                <a:gd name="T45" fmla="*/ 312 h 659"/>
                <a:gd name="T46" fmla="*/ 656 w 656"/>
                <a:gd name="T47" fmla="*/ 347 h 659"/>
                <a:gd name="T48" fmla="*/ 650 w 656"/>
                <a:gd name="T49" fmla="*/ 395 h 659"/>
                <a:gd name="T50" fmla="*/ 631 w 656"/>
                <a:gd name="T51" fmla="*/ 457 h 659"/>
                <a:gd name="T52" fmla="*/ 581 w 656"/>
                <a:gd name="T53" fmla="*/ 539 h 659"/>
                <a:gd name="T54" fmla="*/ 511 w 656"/>
                <a:gd name="T55" fmla="*/ 602 h 659"/>
                <a:gd name="T56" fmla="*/ 425 w 656"/>
                <a:gd name="T57" fmla="*/ 644 h 659"/>
                <a:gd name="T58" fmla="*/ 378 w 656"/>
                <a:gd name="T59" fmla="*/ 655 h 659"/>
                <a:gd name="T60" fmla="*/ 329 w 656"/>
                <a:gd name="T61" fmla="*/ 659 h 659"/>
                <a:gd name="T62" fmla="*/ 329 w 656"/>
                <a:gd name="T63" fmla="*/ 38 h 659"/>
                <a:gd name="T64" fmla="*/ 241 w 656"/>
                <a:gd name="T65" fmla="*/ 51 h 659"/>
                <a:gd name="T66" fmla="*/ 165 w 656"/>
                <a:gd name="T67" fmla="*/ 88 h 659"/>
                <a:gd name="T68" fmla="*/ 103 w 656"/>
                <a:gd name="T69" fmla="*/ 144 h 659"/>
                <a:gd name="T70" fmla="*/ 60 w 656"/>
                <a:gd name="T71" fmla="*/ 217 h 659"/>
                <a:gd name="T72" fmla="*/ 39 w 656"/>
                <a:gd name="T73" fmla="*/ 300 h 659"/>
                <a:gd name="T74" fmla="*/ 39 w 656"/>
                <a:gd name="T75" fmla="*/ 359 h 659"/>
                <a:gd name="T76" fmla="*/ 60 w 656"/>
                <a:gd name="T77" fmla="*/ 442 h 659"/>
                <a:gd name="T78" fmla="*/ 103 w 656"/>
                <a:gd name="T79" fmla="*/ 515 h 659"/>
                <a:gd name="T80" fmla="*/ 165 w 656"/>
                <a:gd name="T81" fmla="*/ 571 h 659"/>
                <a:gd name="T82" fmla="*/ 241 w 656"/>
                <a:gd name="T83" fmla="*/ 608 h 659"/>
                <a:gd name="T84" fmla="*/ 329 w 656"/>
                <a:gd name="T85" fmla="*/ 621 h 659"/>
                <a:gd name="T86" fmla="*/ 386 w 656"/>
                <a:gd name="T87" fmla="*/ 614 h 659"/>
                <a:gd name="T88" fmla="*/ 467 w 656"/>
                <a:gd name="T89" fmla="*/ 586 h 659"/>
                <a:gd name="T90" fmla="*/ 534 w 656"/>
                <a:gd name="T91" fmla="*/ 535 h 659"/>
                <a:gd name="T92" fmla="*/ 584 w 656"/>
                <a:gd name="T93" fmla="*/ 468 h 659"/>
                <a:gd name="T94" fmla="*/ 613 w 656"/>
                <a:gd name="T95" fmla="*/ 389 h 659"/>
                <a:gd name="T96" fmla="*/ 619 w 656"/>
                <a:gd name="T97" fmla="*/ 329 h 659"/>
                <a:gd name="T98" fmla="*/ 607 w 656"/>
                <a:gd name="T99" fmla="*/ 244 h 659"/>
                <a:gd name="T100" fmla="*/ 569 w 656"/>
                <a:gd name="T101" fmla="*/ 167 h 659"/>
                <a:gd name="T102" fmla="*/ 513 w 656"/>
                <a:gd name="T103" fmla="*/ 105 h 659"/>
                <a:gd name="T104" fmla="*/ 442 w 656"/>
                <a:gd name="T105" fmla="*/ 61 h 659"/>
                <a:gd name="T106" fmla="*/ 358 w 656"/>
                <a:gd name="T107" fmla="*/ 39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6" h="659">
                  <a:moveTo>
                    <a:pt x="329" y="659"/>
                  </a:moveTo>
                  <a:lnTo>
                    <a:pt x="329" y="659"/>
                  </a:lnTo>
                  <a:lnTo>
                    <a:pt x="311" y="657"/>
                  </a:lnTo>
                  <a:lnTo>
                    <a:pt x="295" y="657"/>
                  </a:lnTo>
                  <a:lnTo>
                    <a:pt x="278" y="655"/>
                  </a:lnTo>
                  <a:lnTo>
                    <a:pt x="262" y="652"/>
                  </a:lnTo>
                  <a:lnTo>
                    <a:pt x="245" y="648"/>
                  </a:lnTo>
                  <a:lnTo>
                    <a:pt x="231" y="644"/>
                  </a:lnTo>
                  <a:lnTo>
                    <a:pt x="200" y="633"/>
                  </a:lnTo>
                  <a:lnTo>
                    <a:pt x="172" y="618"/>
                  </a:lnTo>
                  <a:lnTo>
                    <a:pt x="145" y="602"/>
                  </a:lnTo>
                  <a:lnTo>
                    <a:pt x="119" y="583"/>
                  </a:lnTo>
                  <a:lnTo>
                    <a:pt x="96" y="562"/>
                  </a:lnTo>
                  <a:lnTo>
                    <a:pt x="75" y="539"/>
                  </a:lnTo>
                  <a:lnTo>
                    <a:pt x="56" y="514"/>
                  </a:lnTo>
                  <a:lnTo>
                    <a:pt x="39" y="487"/>
                  </a:lnTo>
                  <a:lnTo>
                    <a:pt x="25" y="457"/>
                  </a:lnTo>
                  <a:lnTo>
                    <a:pt x="14" y="428"/>
                  </a:lnTo>
                  <a:lnTo>
                    <a:pt x="9" y="411"/>
                  </a:lnTo>
                  <a:lnTo>
                    <a:pt x="6" y="395"/>
                  </a:lnTo>
                  <a:lnTo>
                    <a:pt x="4" y="379"/>
                  </a:lnTo>
                  <a:lnTo>
                    <a:pt x="1" y="363"/>
                  </a:lnTo>
                  <a:lnTo>
                    <a:pt x="0" y="347"/>
                  </a:lnTo>
                  <a:lnTo>
                    <a:pt x="0" y="329"/>
                  </a:lnTo>
                  <a:lnTo>
                    <a:pt x="0" y="329"/>
                  </a:lnTo>
                  <a:lnTo>
                    <a:pt x="0" y="312"/>
                  </a:lnTo>
                  <a:lnTo>
                    <a:pt x="1" y="296"/>
                  </a:lnTo>
                  <a:lnTo>
                    <a:pt x="4" y="280"/>
                  </a:lnTo>
                  <a:lnTo>
                    <a:pt x="6" y="264"/>
                  </a:lnTo>
                  <a:lnTo>
                    <a:pt x="9" y="248"/>
                  </a:lnTo>
                  <a:lnTo>
                    <a:pt x="14" y="231"/>
                  </a:lnTo>
                  <a:lnTo>
                    <a:pt x="25" y="202"/>
                  </a:lnTo>
                  <a:lnTo>
                    <a:pt x="39" y="172"/>
                  </a:lnTo>
                  <a:lnTo>
                    <a:pt x="56" y="145"/>
                  </a:lnTo>
                  <a:lnTo>
                    <a:pt x="75" y="120"/>
                  </a:lnTo>
                  <a:lnTo>
                    <a:pt x="96" y="97"/>
                  </a:lnTo>
                  <a:lnTo>
                    <a:pt x="119" y="76"/>
                  </a:lnTo>
                  <a:lnTo>
                    <a:pt x="145" y="57"/>
                  </a:lnTo>
                  <a:lnTo>
                    <a:pt x="172" y="41"/>
                  </a:lnTo>
                  <a:lnTo>
                    <a:pt x="200" y="27"/>
                  </a:lnTo>
                  <a:lnTo>
                    <a:pt x="231" y="15"/>
                  </a:lnTo>
                  <a:lnTo>
                    <a:pt x="245" y="11"/>
                  </a:lnTo>
                  <a:lnTo>
                    <a:pt x="262" y="7"/>
                  </a:lnTo>
                  <a:lnTo>
                    <a:pt x="278" y="4"/>
                  </a:lnTo>
                  <a:lnTo>
                    <a:pt x="295" y="3"/>
                  </a:lnTo>
                  <a:lnTo>
                    <a:pt x="311" y="2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5" y="2"/>
                  </a:lnTo>
                  <a:lnTo>
                    <a:pt x="362" y="3"/>
                  </a:lnTo>
                  <a:lnTo>
                    <a:pt x="378" y="4"/>
                  </a:lnTo>
                  <a:lnTo>
                    <a:pt x="395" y="7"/>
                  </a:lnTo>
                  <a:lnTo>
                    <a:pt x="411" y="11"/>
                  </a:lnTo>
                  <a:lnTo>
                    <a:pt x="425" y="15"/>
                  </a:lnTo>
                  <a:lnTo>
                    <a:pt x="456" y="27"/>
                  </a:lnTo>
                  <a:lnTo>
                    <a:pt x="485" y="41"/>
                  </a:lnTo>
                  <a:lnTo>
                    <a:pt x="511" y="57"/>
                  </a:lnTo>
                  <a:lnTo>
                    <a:pt x="537" y="76"/>
                  </a:lnTo>
                  <a:lnTo>
                    <a:pt x="561" y="97"/>
                  </a:lnTo>
                  <a:lnTo>
                    <a:pt x="581" y="120"/>
                  </a:lnTo>
                  <a:lnTo>
                    <a:pt x="600" y="145"/>
                  </a:lnTo>
                  <a:lnTo>
                    <a:pt x="618" y="172"/>
                  </a:lnTo>
                  <a:lnTo>
                    <a:pt x="631" y="202"/>
                  </a:lnTo>
                  <a:lnTo>
                    <a:pt x="642" y="231"/>
                  </a:lnTo>
                  <a:lnTo>
                    <a:pt x="647" y="248"/>
                  </a:lnTo>
                  <a:lnTo>
                    <a:pt x="650" y="264"/>
                  </a:lnTo>
                  <a:lnTo>
                    <a:pt x="652" y="280"/>
                  </a:lnTo>
                  <a:lnTo>
                    <a:pt x="655" y="296"/>
                  </a:lnTo>
                  <a:lnTo>
                    <a:pt x="656" y="312"/>
                  </a:lnTo>
                  <a:lnTo>
                    <a:pt x="656" y="329"/>
                  </a:lnTo>
                  <a:lnTo>
                    <a:pt x="656" y="329"/>
                  </a:lnTo>
                  <a:lnTo>
                    <a:pt x="656" y="347"/>
                  </a:lnTo>
                  <a:lnTo>
                    <a:pt x="655" y="363"/>
                  </a:lnTo>
                  <a:lnTo>
                    <a:pt x="652" y="379"/>
                  </a:lnTo>
                  <a:lnTo>
                    <a:pt x="650" y="395"/>
                  </a:lnTo>
                  <a:lnTo>
                    <a:pt x="647" y="411"/>
                  </a:lnTo>
                  <a:lnTo>
                    <a:pt x="642" y="428"/>
                  </a:lnTo>
                  <a:lnTo>
                    <a:pt x="631" y="457"/>
                  </a:lnTo>
                  <a:lnTo>
                    <a:pt x="618" y="487"/>
                  </a:lnTo>
                  <a:lnTo>
                    <a:pt x="600" y="514"/>
                  </a:lnTo>
                  <a:lnTo>
                    <a:pt x="581" y="539"/>
                  </a:lnTo>
                  <a:lnTo>
                    <a:pt x="561" y="562"/>
                  </a:lnTo>
                  <a:lnTo>
                    <a:pt x="537" y="583"/>
                  </a:lnTo>
                  <a:lnTo>
                    <a:pt x="511" y="602"/>
                  </a:lnTo>
                  <a:lnTo>
                    <a:pt x="485" y="618"/>
                  </a:lnTo>
                  <a:lnTo>
                    <a:pt x="456" y="633"/>
                  </a:lnTo>
                  <a:lnTo>
                    <a:pt x="425" y="644"/>
                  </a:lnTo>
                  <a:lnTo>
                    <a:pt x="411" y="648"/>
                  </a:lnTo>
                  <a:lnTo>
                    <a:pt x="395" y="652"/>
                  </a:lnTo>
                  <a:lnTo>
                    <a:pt x="378" y="655"/>
                  </a:lnTo>
                  <a:lnTo>
                    <a:pt x="362" y="657"/>
                  </a:lnTo>
                  <a:lnTo>
                    <a:pt x="345" y="657"/>
                  </a:lnTo>
                  <a:lnTo>
                    <a:pt x="329" y="659"/>
                  </a:lnTo>
                  <a:lnTo>
                    <a:pt x="329" y="659"/>
                  </a:lnTo>
                  <a:close/>
                  <a:moveTo>
                    <a:pt x="329" y="38"/>
                  </a:moveTo>
                  <a:lnTo>
                    <a:pt x="329" y="38"/>
                  </a:lnTo>
                  <a:lnTo>
                    <a:pt x="298" y="39"/>
                  </a:lnTo>
                  <a:lnTo>
                    <a:pt x="270" y="45"/>
                  </a:lnTo>
                  <a:lnTo>
                    <a:pt x="241" y="51"/>
                  </a:lnTo>
                  <a:lnTo>
                    <a:pt x="215" y="61"/>
                  </a:lnTo>
                  <a:lnTo>
                    <a:pt x="189" y="73"/>
                  </a:lnTo>
                  <a:lnTo>
                    <a:pt x="165" y="88"/>
                  </a:lnTo>
                  <a:lnTo>
                    <a:pt x="143" y="105"/>
                  </a:lnTo>
                  <a:lnTo>
                    <a:pt x="122" y="124"/>
                  </a:lnTo>
                  <a:lnTo>
                    <a:pt x="103" y="144"/>
                  </a:lnTo>
                  <a:lnTo>
                    <a:pt x="87" y="167"/>
                  </a:lnTo>
                  <a:lnTo>
                    <a:pt x="72" y="191"/>
                  </a:lnTo>
                  <a:lnTo>
                    <a:pt x="60" y="217"/>
                  </a:lnTo>
                  <a:lnTo>
                    <a:pt x="51" y="244"/>
                  </a:lnTo>
                  <a:lnTo>
                    <a:pt x="43" y="270"/>
                  </a:lnTo>
                  <a:lnTo>
                    <a:pt x="39" y="300"/>
                  </a:lnTo>
                  <a:lnTo>
                    <a:pt x="37" y="329"/>
                  </a:lnTo>
                  <a:lnTo>
                    <a:pt x="37" y="329"/>
                  </a:lnTo>
                  <a:lnTo>
                    <a:pt x="39" y="359"/>
                  </a:lnTo>
                  <a:lnTo>
                    <a:pt x="43" y="389"/>
                  </a:lnTo>
                  <a:lnTo>
                    <a:pt x="51" y="415"/>
                  </a:lnTo>
                  <a:lnTo>
                    <a:pt x="60" y="442"/>
                  </a:lnTo>
                  <a:lnTo>
                    <a:pt x="72" y="468"/>
                  </a:lnTo>
                  <a:lnTo>
                    <a:pt x="87" y="492"/>
                  </a:lnTo>
                  <a:lnTo>
                    <a:pt x="103" y="515"/>
                  </a:lnTo>
                  <a:lnTo>
                    <a:pt x="122" y="535"/>
                  </a:lnTo>
                  <a:lnTo>
                    <a:pt x="143" y="554"/>
                  </a:lnTo>
                  <a:lnTo>
                    <a:pt x="165" y="571"/>
                  </a:lnTo>
                  <a:lnTo>
                    <a:pt x="189" y="586"/>
                  </a:lnTo>
                  <a:lnTo>
                    <a:pt x="215" y="598"/>
                  </a:lnTo>
                  <a:lnTo>
                    <a:pt x="241" y="608"/>
                  </a:lnTo>
                  <a:lnTo>
                    <a:pt x="270" y="614"/>
                  </a:lnTo>
                  <a:lnTo>
                    <a:pt x="298" y="620"/>
                  </a:lnTo>
                  <a:lnTo>
                    <a:pt x="329" y="621"/>
                  </a:lnTo>
                  <a:lnTo>
                    <a:pt x="329" y="621"/>
                  </a:lnTo>
                  <a:lnTo>
                    <a:pt x="358" y="620"/>
                  </a:lnTo>
                  <a:lnTo>
                    <a:pt x="386" y="614"/>
                  </a:lnTo>
                  <a:lnTo>
                    <a:pt x="415" y="608"/>
                  </a:lnTo>
                  <a:lnTo>
                    <a:pt x="442" y="598"/>
                  </a:lnTo>
                  <a:lnTo>
                    <a:pt x="467" y="586"/>
                  </a:lnTo>
                  <a:lnTo>
                    <a:pt x="491" y="571"/>
                  </a:lnTo>
                  <a:lnTo>
                    <a:pt x="513" y="554"/>
                  </a:lnTo>
                  <a:lnTo>
                    <a:pt x="534" y="535"/>
                  </a:lnTo>
                  <a:lnTo>
                    <a:pt x="553" y="515"/>
                  </a:lnTo>
                  <a:lnTo>
                    <a:pt x="569" y="492"/>
                  </a:lnTo>
                  <a:lnTo>
                    <a:pt x="584" y="468"/>
                  </a:lnTo>
                  <a:lnTo>
                    <a:pt x="596" y="442"/>
                  </a:lnTo>
                  <a:lnTo>
                    <a:pt x="607" y="415"/>
                  </a:lnTo>
                  <a:lnTo>
                    <a:pt x="613" y="389"/>
                  </a:lnTo>
                  <a:lnTo>
                    <a:pt x="618" y="359"/>
                  </a:lnTo>
                  <a:lnTo>
                    <a:pt x="619" y="329"/>
                  </a:lnTo>
                  <a:lnTo>
                    <a:pt x="619" y="329"/>
                  </a:lnTo>
                  <a:lnTo>
                    <a:pt x="618" y="300"/>
                  </a:lnTo>
                  <a:lnTo>
                    <a:pt x="613" y="270"/>
                  </a:lnTo>
                  <a:lnTo>
                    <a:pt x="607" y="244"/>
                  </a:lnTo>
                  <a:lnTo>
                    <a:pt x="596" y="217"/>
                  </a:lnTo>
                  <a:lnTo>
                    <a:pt x="584" y="191"/>
                  </a:lnTo>
                  <a:lnTo>
                    <a:pt x="569" y="167"/>
                  </a:lnTo>
                  <a:lnTo>
                    <a:pt x="553" y="144"/>
                  </a:lnTo>
                  <a:lnTo>
                    <a:pt x="534" y="124"/>
                  </a:lnTo>
                  <a:lnTo>
                    <a:pt x="513" y="105"/>
                  </a:lnTo>
                  <a:lnTo>
                    <a:pt x="491" y="88"/>
                  </a:lnTo>
                  <a:lnTo>
                    <a:pt x="467" y="73"/>
                  </a:lnTo>
                  <a:lnTo>
                    <a:pt x="442" y="61"/>
                  </a:lnTo>
                  <a:lnTo>
                    <a:pt x="415" y="51"/>
                  </a:lnTo>
                  <a:lnTo>
                    <a:pt x="386" y="45"/>
                  </a:lnTo>
                  <a:lnTo>
                    <a:pt x="358" y="39"/>
                  </a:lnTo>
                  <a:lnTo>
                    <a:pt x="329" y="38"/>
                  </a:lnTo>
                  <a:lnTo>
                    <a:pt x="329" y="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201" name="Freeform 178">
              <a:extLst>
                <a:ext uri="{FF2B5EF4-FFF2-40B4-BE49-F238E27FC236}">
                  <a16:creationId xmlns:a16="http://schemas.microsoft.com/office/drawing/2014/main" id="{A568F9DA-6AC6-4BAA-8461-24BD3874F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3251" y="1127125"/>
              <a:ext cx="250825" cy="66675"/>
            </a:xfrm>
            <a:custGeom>
              <a:avLst/>
              <a:gdLst>
                <a:gd name="T0" fmla="*/ 314 w 315"/>
                <a:gd name="T1" fmla="*/ 62 h 84"/>
                <a:gd name="T2" fmla="*/ 288 w 315"/>
                <a:gd name="T3" fmla="*/ 3 h 84"/>
                <a:gd name="T4" fmla="*/ 288 w 315"/>
                <a:gd name="T5" fmla="*/ 3 h 84"/>
                <a:gd name="T6" fmla="*/ 286 w 315"/>
                <a:gd name="T7" fmla="*/ 0 h 84"/>
                <a:gd name="T8" fmla="*/ 283 w 315"/>
                <a:gd name="T9" fmla="*/ 0 h 84"/>
                <a:gd name="T10" fmla="*/ 32 w 315"/>
                <a:gd name="T11" fmla="*/ 0 h 84"/>
                <a:gd name="T12" fmla="*/ 32 w 315"/>
                <a:gd name="T13" fmla="*/ 0 h 84"/>
                <a:gd name="T14" fmla="*/ 29 w 315"/>
                <a:gd name="T15" fmla="*/ 0 h 84"/>
                <a:gd name="T16" fmla="*/ 26 w 315"/>
                <a:gd name="T17" fmla="*/ 3 h 84"/>
                <a:gd name="T18" fmla="*/ 1 w 315"/>
                <a:gd name="T19" fmla="*/ 62 h 84"/>
                <a:gd name="T20" fmla="*/ 1 w 315"/>
                <a:gd name="T21" fmla="*/ 62 h 84"/>
                <a:gd name="T22" fmla="*/ 0 w 315"/>
                <a:gd name="T23" fmla="*/ 66 h 84"/>
                <a:gd name="T24" fmla="*/ 0 w 315"/>
                <a:gd name="T25" fmla="*/ 70 h 84"/>
                <a:gd name="T26" fmla="*/ 1 w 315"/>
                <a:gd name="T27" fmla="*/ 74 h 84"/>
                <a:gd name="T28" fmla="*/ 2 w 315"/>
                <a:gd name="T29" fmla="*/ 77 h 84"/>
                <a:gd name="T30" fmla="*/ 2 w 315"/>
                <a:gd name="T31" fmla="*/ 77 h 84"/>
                <a:gd name="T32" fmla="*/ 5 w 315"/>
                <a:gd name="T33" fmla="*/ 79 h 84"/>
                <a:gd name="T34" fmla="*/ 8 w 315"/>
                <a:gd name="T35" fmla="*/ 82 h 84"/>
                <a:gd name="T36" fmla="*/ 12 w 315"/>
                <a:gd name="T37" fmla="*/ 84 h 84"/>
                <a:gd name="T38" fmla="*/ 16 w 315"/>
                <a:gd name="T39" fmla="*/ 84 h 84"/>
                <a:gd name="T40" fmla="*/ 299 w 315"/>
                <a:gd name="T41" fmla="*/ 84 h 84"/>
                <a:gd name="T42" fmla="*/ 299 w 315"/>
                <a:gd name="T43" fmla="*/ 84 h 84"/>
                <a:gd name="T44" fmla="*/ 303 w 315"/>
                <a:gd name="T45" fmla="*/ 84 h 84"/>
                <a:gd name="T46" fmla="*/ 307 w 315"/>
                <a:gd name="T47" fmla="*/ 82 h 84"/>
                <a:gd name="T48" fmla="*/ 310 w 315"/>
                <a:gd name="T49" fmla="*/ 79 h 84"/>
                <a:gd name="T50" fmla="*/ 313 w 315"/>
                <a:gd name="T51" fmla="*/ 77 h 84"/>
                <a:gd name="T52" fmla="*/ 313 w 315"/>
                <a:gd name="T53" fmla="*/ 77 h 84"/>
                <a:gd name="T54" fmla="*/ 314 w 315"/>
                <a:gd name="T55" fmla="*/ 74 h 84"/>
                <a:gd name="T56" fmla="*/ 315 w 315"/>
                <a:gd name="T57" fmla="*/ 70 h 84"/>
                <a:gd name="T58" fmla="*/ 315 w 315"/>
                <a:gd name="T59" fmla="*/ 66 h 84"/>
                <a:gd name="T60" fmla="*/ 314 w 315"/>
                <a:gd name="T61" fmla="*/ 62 h 84"/>
                <a:gd name="T62" fmla="*/ 314 w 315"/>
                <a:gd name="T63" fmla="*/ 6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15" h="84">
                  <a:moveTo>
                    <a:pt x="314" y="62"/>
                  </a:moveTo>
                  <a:lnTo>
                    <a:pt x="288" y="3"/>
                  </a:lnTo>
                  <a:lnTo>
                    <a:pt x="288" y="3"/>
                  </a:lnTo>
                  <a:lnTo>
                    <a:pt x="286" y="0"/>
                  </a:lnTo>
                  <a:lnTo>
                    <a:pt x="283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29" y="0"/>
                  </a:lnTo>
                  <a:lnTo>
                    <a:pt x="26" y="3"/>
                  </a:lnTo>
                  <a:lnTo>
                    <a:pt x="1" y="62"/>
                  </a:lnTo>
                  <a:lnTo>
                    <a:pt x="1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1" y="74"/>
                  </a:lnTo>
                  <a:lnTo>
                    <a:pt x="2" y="77"/>
                  </a:lnTo>
                  <a:lnTo>
                    <a:pt x="2" y="77"/>
                  </a:lnTo>
                  <a:lnTo>
                    <a:pt x="5" y="79"/>
                  </a:lnTo>
                  <a:lnTo>
                    <a:pt x="8" y="82"/>
                  </a:lnTo>
                  <a:lnTo>
                    <a:pt x="12" y="84"/>
                  </a:lnTo>
                  <a:lnTo>
                    <a:pt x="16" y="84"/>
                  </a:lnTo>
                  <a:lnTo>
                    <a:pt x="299" y="84"/>
                  </a:lnTo>
                  <a:lnTo>
                    <a:pt x="299" y="84"/>
                  </a:lnTo>
                  <a:lnTo>
                    <a:pt x="303" y="84"/>
                  </a:lnTo>
                  <a:lnTo>
                    <a:pt x="307" y="82"/>
                  </a:lnTo>
                  <a:lnTo>
                    <a:pt x="310" y="79"/>
                  </a:lnTo>
                  <a:lnTo>
                    <a:pt x="313" y="77"/>
                  </a:lnTo>
                  <a:lnTo>
                    <a:pt x="313" y="77"/>
                  </a:lnTo>
                  <a:lnTo>
                    <a:pt x="314" y="74"/>
                  </a:lnTo>
                  <a:lnTo>
                    <a:pt x="315" y="70"/>
                  </a:lnTo>
                  <a:lnTo>
                    <a:pt x="315" y="66"/>
                  </a:lnTo>
                  <a:lnTo>
                    <a:pt x="314" y="62"/>
                  </a:lnTo>
                  <a:lnTo>
                    <a:pt x="314" y="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202" name="Freeform 179">
              <a:extLst>
                <a:ext uri="{FF2B5EF4-FFF2-40B4-BE49-F238E27FC236}">
                  <a16:creationId xmlns:a16="http://schemas.microsoft.com/office/drawing/2014/main" id="{FBD2DCC2-7CE0-49A4-B3AA-7D85569831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15477" y="969963"/>
              <a:ext cx="207964" cy="149225"/>
            </a:xfrm>
            <a:custGeom>
              <a:avLst/>
              <a:gdLst>
                <a:gd name="T0" fmla="*/ 6 w 262"/>
                <a:gd name="T1" fmla="*/ 188 h 188"/>
                <a:gd name="T2" fmla="*/ 257 w 262"/>
                <a:gd name="T3" fmla="*/ 188 h 188"/>
                <a:gd name="T4" fmla="*/ 257 w 262"/>
                <a:gd name="T5" fmla="*/ 188 h 188"/>
                <a:gd name="T6" fmla="*/ 260 w 262"/>
                <a:gd name="T7" fmla="*/ 188 h 188"/>
                <a:gd name="T8" fmla="*/ 261 w 262"/>
                <a:gd name="T9" fmla="*/ 187 h 188"/>
                <a:gd name="T10" fmla="*/ 262 w 262"/>
                <a:gd name="T11" fmla="*/ 186 h 188"/>
                <a:gd name="T12" fmla="*/ 262 w 262"/>
                <a:gd name="T13" fmla="*/ 183 h 188"/>
                <a:gd name="T14" fmla="*/ 262 w 262"/>
                <a:gd name="T15" fmla="*/ 26 h 188"/>
                <a:gd name="T16" fmla="*/ 262 w 262"/>
                <a:gd name="T17" fmla="*/ 26 h 188"/>
                <a:gd name="T18" fmla="*/ 262 w 262"/>
                <a:gd name="T19" fmla="*/ 21 h 188"/>
                <a:gd name="T20" fmla="*/ 261 w 262"/>
                <a:gd name="T21" fmla="*/ 15 h 188"/>
                <a:gd name="T22" fmla="*/ 258 w 262"/>
                <a:gd name="T23" fmla="*/ 11 h 188"/>
                <a:gd name="T24" fmla="*/ 254 w 262"/>
                <a:gd name="T25" fmla="*/ 7 h 188"/>
                <a:gd name="T26" fmla="*/ 250 w 262"/>
                <a:gd name="T27" fmla="*/ 4 h 188"/>
                <a:gd name="T28" fmla="*/ 246 w 262"/>
                <a:gd name="T29" fmla="*/ 2 h 188"/>
                <a:gd name="T30" fmla="*/ 241 w 262"/>
                <a:gd name="T31" fmla="*/ 0 h 188"/>
                <a:gd name="T32" fmla="*/ 237 w 262"/>
                <a:gd name="T33" fmla="*/ 0 h 188"/>
                <a:gd name="T34" fmla="*/ 26 w 262"/>
                <a:gd name="T35" fmla="*/ 0 h 188"/>
                <a:gd name="T36" fmla="*/ 26 w 262"/>
                <a:gd name="T37" fmla="*/ 0 h 188"/>
                <a:gd name="T38" fmla="*/ 22 w 262"/>
                <a:gd name="T39" fmla="*/ 0 h 188"/>
                <a:gd name="T40" fmla="*/ 17 w 262"/>
                <a:gd name="T41" fmla="*/ 2 h 188"/>
                <a:gd name="T42" fmla="*/ 13 w 262"/>
                <a:gd name="T43" fmla="*/ 4 h 188"/>
                <a:gd name="T44" fmla="*/ 8 w 262"/>
                <a:gd name="T45" fmla="*/ 7 h 188"/>
                <a:gd name="T46" fmla="*/ 4 w 262"/>
                <a:gd name="T47" fmla="*/ 11 h 188"/>
                <a:gd name="T48" fmla="*/ 3 w 262"/>
                <a:gd name="T49" fmla="*/ 15 h 188"/>
                <a:gd name="T50" fmla="*/ 0 w 262"/>
                <a:gd name="T51" fmla="*/ 21 h 188"/>
                <a:gd name="T52" fmla="*/ 0 w 262"/>
                <a:gd name="T53" fmla="*/ 26 h 188"/>
                <a:gd name="T54" fmla="*/ 0 w 262"/>
                <a:gd name="T55" fmla="*/ 183 h 188"/>
                <a:gd name="T56" fmla="*/ 0 w 262"/>
                <a:gd name="T57" fmla="*/ 183 h 188"/>
                <a:gd name="T58" fmla="*/ 0 w 262"/>
                <a:gd name="T59" fmla="*/ 186 h 188"/>
                <a:gd name="T60" fmla="*/ 2 w 262"/>
                <a:gd name="T61" fmla="*/ 187 h 188"/>
                <a:gd name="T62" fmla="*/ 3 w 262"/>
                <a:gd name="T63" fmla="*/ 188 h 188"/>
                <a:gd name="T64" fmla="*/ 6 w 262"/>
                <a:gd name="T65" fmla="*/ 188 h 188"/>
                <a:gd name="T66" fmla="*/ 6 w 262"/>
                <a:gd name="T67" fmla="*/ 188 h 188"/>
                <a:gd name="T68" fmla="*/ 18 w 262"/>
                <a:gd name="T69" fmla="*/ 25 h 188"/>
                <a:gd name="T70" fmla="*/ 18 w 262"/>
                <a:gd name="T71" fmla="*/ 25 h 188"/>
                <a:gd name="T72" fmla="*/ 18 w 262"/>
                <a:gd name="T73" fmla="*/ 22 h 188"/>
                <a:gd name="T74" fmla="*/ 19 w 262"/>
                <a:gd name="T75" fmla="*/ 21 h 188"/>
                <a:gd name="T76" fmla="*/ 21 w 262"/>
                <a:gd name="T77" fmla="*/ 19 h 188"/>
                <a:gd name="T78" fmla="*/ 23 w 262"/>
                <a:gd name="T79" fmla="*/ 19 h 188"/>
                <a:gd name="T80" fmla="*/ 240 w 262"/>
                <a:gd name="T81" fmla="*/ 19 h 188"/>
                <a:gd name="T82" fmla="*/ 240 w 262"/>
                <a:gd name="T83" fmla="*/ 19 h 188"/>
                <a:gd name="T84" fmla="*/ 241 w 262"/>
                <a:gd name="T85" fmla="*/ 19 h 188"/>
                <a:gd name="T86" fmla="*/ 244 w 262"/>
                <a:gd name="T87" fmla="*/ 21 h 188"/>
                <a:gd name="T88" fmla="*/ 244 w 262"/>
                <a:gd name="T89" fmla="*/ 22 h 188"/>
                <a:gd name="T90" fmla="*/ 245 w 262"/>
                <a:gd name="T91" fmla="*/ 25 h 188"/>
                <a:gd name="T92" fmla="*/ 245 w 262"/>
                <a:gd name="T93" fmla="*/ 166 h 188"/>
                <a:gd name="T94" fmla="*/ 245 w 262"/>
                <a:gd name="T95" fmla="*/ 166 h 188"/>
                <a:gd name="T96" fmla="*/ 244 w 262"/>
                <a:gd name="T97" fmla="*/ 167 h 188"/>
                <a:gd name="T98" fmla="*/ 244 w 262"/>
                <a:gd name="T99" fmla="*/ 170 h 188"/>
                <a:gd name="T100" fmla="*/ 241 w 262"/>
                <a:gd name="T101" fmla="*/ 170 h 188"/>
                <a:gd name="T102" fmla="*/ 240 w 262"/>
                <a:gd name="T103" fmla="*/ 171 h 188"/>
                <a:gd name="T104" fmla="*/ 23 w 262"/>
                <a:gd name="T105" fmla="*/ 171 h 188"/>
                <a:gd name="T106" fmla="*/ 23 w 262"/>
                <a:gd name="T107" fmla="*/ 171 h 188"/>
                <a:gd name="T108" fmla="*/ 21 w 262"/>
                <a:gd name="T109" fmla="*/ 170 h 188"/>
                <a:gd name="T110" fmla="*/ 19 w 262"/>
                <a:gd name="T111" fmla="*/ 170 h 188"/>
                <a:gd name="T112" fmla="*/ 18 w 262"/>
                <a:gd name="T113" fmla="*/ 167 h 188"/>
                <a:gd name="T114" fmla="*/ 18 w 262"/>
                <a:gd name="T115" fmla="*/ 166 h 188"/>
                <a:gd name="T116" fmla="*/ 18 w 262"/>
                <a:gd name="T117" fmla="*/ 2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62" h="188">
                  <a:moveTo>
                    <a:pt x="6" y="188"/>
                  </a:moveTo>
                  <a:lnTo>
                    <a:pt x="257" y="188"/>
                  </a:lnTo>
                  <a:lnTo>
                    <a:pt x="257" y="188"/>
                  </a:lnTo>
                  <a:lnTo>
                    <a:pt x="260" y="188"/>
                  </a:lnTo>
                  <a:lnTo>
                    <a:pt x="261" y="187"/>
                  </a:lnTo>
                  <a:lnTo>
                    <a:pt x="262" y="186"/>
                  </a:lnTo>
                  <a:lnTo>
                    <a:pt x="262" y="183"/>
                  </a:lnTo>
                  <a:lnTo>
                    <a:pt x="262" y="26"/>
                  </a:lnTo>
                  <a:lnTo>
                    <a:pt x="262" y="26"/>
                  </a:lnTo>
                  <a:lnTo>
                    <a:pt x="262" y="21"/>
                  </a:lnTo>
                  <a:lnTo>
                    <a:pt x="261" y="15"/>
                  </a:lnTo>
                  <a:lnTo>
                    <a:pt x="258" y="11"/>
                  </a:lnTo>
                  <a:lnTo>
                    <a:pt x="254" y="7"/>
                  </a:lnTo>
                  <a:lnTo>
                    <a:pt x="250" y="4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37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7" y="2"/>
                  </a:lnTo>
                  <a:lnTo>
                    <a:pt x="13" y="4"/>
                  </a:lnTo>
                  <a:lnTo>
                    <a:pt x="8" y="7"/>
                  </a:lnTo>
                  <a:lnTo>
                    <a:pt x="4" y="11"/>
                  </a:lnTo>
                  <a:lnTo>
                    <a:pt x="3" y="15"/>
                  </a:lnTo>
                  <a:lnTo>
                    <a:pt x="0" y="21"/>
                  </a:lnTo>
                  <a:lnTo>
                    <a:pt x="0" y="26"/>
                  </a:lnTo>
                  <a:lnTo>
                    <a:pt x="0" y="183"/>
                  </a:lnTo>
                  <a:lnTo>
                    <a:pt x="0" y="183"/>
                  </a:lnTo>
                  <a:lnTo>
                    <a:pt x="0" y="186"/>
                  </a:lnTo>
                  <a:lnTo>
                    <a:pt x="2" y="187"/>
                  </a:lnTo>
                  <a:lnTo>
                    <a:pt x="3" y="188"/>
                  </a:lnTo>
                  <a:lnTo>
                    <a:pt x="6" y="188"/>
                  </a:lnTo>
                  <a:lnTo>
                    <a:pt x="6" y="188"/>
                  </a:lnTo>
                  <a:close/>
                  <a:moveTo>
                    <a:pt x="18" y="25"/>
                  </a:moveTo>
                  <a:lnTo>
                    <a:pt x="18" y="25"/>
                  </a:lnTo>
                  <a:lnTo>
                    <a:pt x="18" y="22"/>
                  </a:lnTo>
                  <a:lnTo>
                    <a:pt x="19" y="21"/>
                  </a:lnTo>
                  <a:lnTo>
                    <a:pt x="21" y="19"/>
                  </a:lnTo>
                  <a:lnTo>
                    <a:pt x="23" y="19"/>
                  </a:lnTo>
                  <a:lnTo>
                    <a:pt x="240" y="19"/>
                  </a:lnTo>
                  <a:lnTo>
                    <a:pt x="240" y="19"/>
                  </a:lnTo>
                  <a:lnTo>
                    <a:pt x="241" y="19"/>
                  </a:lnTo>
                  <a:lnTo>
                    <a:pt x="244" y="21"/>
                  </a:lnTo>
                  <a:lnTo>
                    <a:pt x="244" y="22"/>
                  </a:lnTo>
                  <a:lnTo>
                    <a:pt x="245" y="25"/>
                  </a:lnTo>
                  <a:lnTo>
                    <a:pt x="245" y="166"/>
                  </a:lnTo>
                  <a:lnTo>
                    <a:pt x="245" y="166"/>
                  </a:lnTo>
                  <a:lnTo>
                    <a:pt x="244" y="167"/>
                  </a:lnTo>
                  <a:lnTo>
                    <a:pt x="244" y="170"/>
                  </a:lnTo>
                  <a:lnTo>
                    <a:pt x="241" y="170"/>
                  </a:lnTo>
                  <a:lnTo>
                    <a:pt x="240" y="171"/>
                  </a:lnTo>
                  <a:lnTo>
                    <a:pt x="23" y="171"/>
                  </a:lnTo>
                  <a:lnTo>
                    <a:pt x="23" y="171"/>
                  </a:lnTo>
                  <a:lnTo>
                    <a:pt x="21" y="170"/>
                  </a:lnTo>
                  <a:lnTo>
                    <a:pt x="19" y="170"/>
                  </a:lnTo>
                  <a:lnTo>
                    <a:pt x="18" y="167"/>
                  </a:lnTo>
                  <a:lnTo>
                    <a:pt x="18" y="166"/>
                  </a:lnTo>
                  <a:lnTo>
                    <a:pt x="18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</a:endParaRPr>
            </a:p>
          </p:txBody>
        </p:sp>
      </p:grpSp>
      <p:sp>
        <p:nvSpPr>
          <p:cNvPr id="211" name="Rectangle 210">
            <a:extLst>
              <a:ext uri="{FF2B5EF4-FFF2-40B4-BE49-F238E27FC236}">
                <a16:creationId xmlns:a16="http://schemas.microsoft.com/office/drawing/2014/main" id="{28F2D9B9-F9B0-4F8A-A4FF-BF9B112E4839}"/>
              </a:ext>
            </a:extLst>
          </p:cNvPr>
          <p:cNvSpPr/>
          <p:nvPr/>
        </p:nvSpPr>
        <p:spPr>
          <a:xfrm>
            <a:off x="9215762" y="2722814"/>
            <a:ext cx="1993030" cy="2519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7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Open Sans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CF90839-4385-4169-B837-6567AC9BC1B4}"/>
              </a:ext>
            </a:extLst>
          </p:cNvPr>
          <p:cNvSpPr txBox="1"/>
          <p:nvPr/>
        </p:nvSpPr>
        <p:spPr>
          <a:xfrm>
            <a:off x="9585700" y="3613301"/>
            <a:ext cx="14523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sz="700" dirty="0">
                <a:solidFill>
                  <a:srgbClr val="000000"/>
                </a:solidFill>
                <a:latin typeface="Open Sans"/>
              </a:rPr>
              <a:t>Je me rends sur la page « Contact » et m’attends à tomber sur un formulaire de contact. Or je dois d’abord lire toute une liste pour comprendre qui contacter…</a:t>
            </a:r>
            <a:endParaRPr kumimoji="0" lang="fr-BE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</a:endParaRPr>
          </a:p>
        </p:txBody>
      </p:sp>
      <p:pic>
        <p:nvPicPr>
          <p:cNvPr id="155" name="Picture 154">
            <a:extLst>
              <a:ext uri="{FF2B5EF4-FFF2-40B4-BE49-F238E27FC236}">
                <a16:creationId xmlns:a16="http://schemas.microsoft.com/office/drawing/2014/main" id="{72061FD1-14B5-4572-B9A8-550BEAB0CE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749" t="3803" r="21748" b="63347"/>
          <a:stretch/>
        </p:blipFill>
        <p:spPr>
          <a:xfrm>
            <a:off x="903318" y="704124"/>
            <a:ext cx="576000" cy="576000"/>
          </a:xfrm>
          <a:prstGeom prst="ellipse">
            <a:avLst/>
          </a:prstGeom>
        </p:spPr>
      </p:pic>
      <p:grpSp>
        <p:nvGrpSpPr>
          <p:cNvPr id="165" name="Group 166">
            <a:extLst>
              <a:ext uri="{FF2B5EF4-FFF2-40B4-BE49-F238E27FC236}">
                <a16:creationId xmlns:a16="http://schemas.microsoft.com/office/drawing/2014/main" id="{30EA2BD6-18B2-468E-8AA2-3C047C7A818F}"/>
              </a:ext>
            </a:extLst>
          </p:cNvPr>
          <p:cNvGrpSpPr>
            <a:grpSpLocks noChangeAspect="1"/>
          </p:cNvGrpSpPr>
          <p:nvPr/>
        </p:nvGrpSpPr>
        <p:grpSpPr>
          <a:xfrm>
            <a:off x="7499150" y="3281705"/>
            <a:ext cx="252000" cy="252000"/>
            <a:chOff x="9353551" y="823913"/>
            <a:chExt cx="522288" cy="522288"/>
          </a:xfrm>
        </p:grpSpPr>
        <p:sp>
          <p:nvSpPr>
            <p:cNvPr id="175" name="Freeform 40">
              <a:extLst>
                <a:ext uri="{FF2B5EF4-FFF2-40B4-BE49-F238E27FC236}">
                  <a16:creationId xmlns:a16="http://schemas.microsoft.com/office/drawing/2014/main" id="{19913CAE-9F31-4FDB-B339-596B69B5B6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53551" y="823913"/>
              <a:ext cx="522288" cy="522288"/>
            </a:xfrm>
            <a:custGeom>
              <a:avLst/>
              <a:gdLst>
                <a:gd name="T0" fmla="*/ 311 w 656"/>
                <a:gd name="T1" fmla="*/ 657 h 659"/>
                <a:gd name="T2" fmla="*/ 262 w 656"/>
                <a:gd name="T3" fmla="*/ 652 h 659"/>
                <a:gd name="T4" fmla="*/ 200 w 656"/>
                <a:gd name="T5" fmla="*/ 633 h 659"/>
                <a:gd name="T6" fmla="*/ 119 w 656"/>
                <a:gd name="T7" fmla="*/ 583 h 659"/>
                <a:gd name="T8" fmla="*/ 56 w 656"/>
                <a:gd name="T9" fmla="*/ 514 h 659"/>
                <a:gd name="T10" fmla="*/ 14 w 656"/>
                <a:gd name="T11" fmla="*/ 428 h 659"/>
                <a:gd name="T12" fmla="*/ 4 w 656"/>
                <a:gd name="T13" fmla="*/ 379 h 659"/>
                <a:gd name="T14" fmla="*/ 0 w 656"/>
                <a:gd name="T15" fmla="*/ 329 h 659"/>
                <a:gd name="T16" fmla="*/ 1 w 656"/>
                <a:gd name="T17" fmla="*/ 296 h 659"/>
                <a:gd name="T18" fmla="*/ 9 w 656"/>
                <a:gd name="T19" fmla="*/ 248 h 659"/>
                <a:gd name="T20" fmla="*/ 39 w 656"/>
                <a:gd name="T21" fmla="*/ 172 h 659"/>
                <a:gd name="T22" fmla="*/ 96 w 656"/>
                <a:gd name="T23" fmla="*/ 97 h 659"/>
                <a:gd name="T24" fmla="*/ 172 w 656"/>
                <a:gd name="T25" fmla="*/ 41 h 659"/>
                <a:gd name="T26" fmla="*/ 245 w 656"/>
                <a:gd name="T27" fmla="*/ 11 h 659"/>
                <a:gd name="T28" fmla="*/ 295 w 656"/>
                <a:gd name="T29" fmla="*/ 3 h 659"/>
                <a:gd name="T30" fmla="*/ 329 w 656"/>
                <a:gd name="T31" fmla="*/ 0 h 659"/>
                <a:gd name="T32" fmla="*/ 378 w 656"/>
                <a:gd name="T33" fmla="*/ 4 h 659"/>
                <a:gd name="T34" fmla="*/ 425 w 656"/>
                <a:gd name="T35" fmla="*/ 15 h 659"/>
                <a:gd name="T36" fmla="*/ 511 w 656"/>
                <a:gd name="T37" fmla="*/ 57 h 659"/>
                <a:gd name="T38" fmla="*/ 581 w 656"/>
                <a:gd name="T39" fmla="*/ 120 h 659"/>
                <a:gd name="T40" fmla="*/ 631 w 656"/>
                <a:gd name="T41" fmla="*/ 202 h 659"/>
                <a:gd name="T42" fmla="*/ 650 w 656"/>
                <a:gd name="T43" fmla="*/ 264 h 659"/>
                <a:gd name="T44" fmla="*/ 656 w 656"/>
                <a:gd name="T45" fmla="*/ 312 h 659"/>
                <a:gd name="T46" fmla="*/ 656 w 656"/>
                <a:gd name="T47" fmla="*/ 347 h 659"/>
                <a:gd name="T48" fmla="*/ 650 w 656"/>
                <a:gd name="T49" fmla="*/ 395 h 659"/>
                <a:gd name="T50" fmla="*/ 631 w 656"/>
                <a:gd name="T51" fmla="*/ 457 h 659"/>
                <a:gd name="T52" fmla="*/ 581 w 656"/>
                <a:gd name="T53" fmla="*/ 539 h 659"/>
                <a:gd name="T54" fmla="*/ 511 w 656"/>
                <a:gd name="T55" fmla="*/ 602 h 659"/>
                <a:gd name="T56" fmla="*/ 425 w 656"/>
                <a:gd name="T57" fmla="*/ 644 h 659"/>
                <a:gd name="T58" fmla="*/ 378 w 656"/>
                <a:gd name="T59" fmla="*/ 655 h 659"/>
                <a:gd name="T60" fmla="*/ 329 w 656"/>
                <a:gd name="T61" fmla="*/ 659 h 659"/>
                <a:gd name="T62" fmla="*/ 329 w 656"/>
                <a:gd name="T63" fmla="*/ 38 h 659"/>
                <a:gd name="T64" fmla="*/ 241 w 656"/>
                <a:gd name="T65" fmla="*/ 51 h 659"/>
                <a:gd name="T66" fmla="*/ 165 w 656"/>
                <a:gd name="T67" fmla="*/ 88 h 659"/>
                <a:gd name="T68" fmla="*/ 103 w 656"/>
                <a:gd name="T69" fmla="*/ 144 h 659"/>
                <a:gd name="T70" fmla="*/ 60 w 656"/>
                <a:gd name="T71" fmla="*/ 217 h 659"/>
                <a:gd name="T72" fmla="*/ 39 w 656"/>
                <a:gd name="T73" fmla="*/ 300 h 659"/>
                <a:gd name="T74" fmla="*/ 39 w 656"/>
                <a:gd name="T75" fmla="*/ 359 h 659"/>
                <a:gd name="T76" fmla="*/ 60 w 656"/>
                <a:gd name="T77" fmla="*/ 442 h 659"/>
                <a:gd name="T78" fmla="*/ 103 w 656"/>
                <a:gd name="T79" fmla="*/ 515 h 659"/>
                <a:gd name="T80" fmla="*/ 165 w 656"/>
                <a:gd name="T81" fmla="*/ 571 h 659"/>
                <a:gd name="T82" fmla="*/ 241 w 656"/>
                <a:gd name="T83" fmla="*/ 608 h 659"/>
                <a:gd name="T84" fmla="*/ 329 w 656"/>
                <a:gd name="T85" fmla="*/ 621 h 659"/>
                <a:gd name="T86" fmla="*/ 386 w 656"/>
                <a:gd name="T87" fmla="*/ 614 h 659"/>
                <a:gd name="T88" fmla="*/ 467 w 656"/>
                <a:gd name="T89" fmla="*/ 586 h 659"/>
                <a:gd name="T90" fmla="*/ 534 w 656"/>
                <a:gd name="T91" fmla="*/ 535 h 659"/>
                <a:gd name="T92" fmla="*/ 584 w 656"/>
                <a:gd name="T93" fmla="*/ 468 h 659"/>
                <a:gd name="T94" fmla="*/ 613 w 656"/>
                <a:gd name="T95" fmla="*/ 389 h 659"/>
                <a:gd name="T96" fmla="*/ 619 w 656"/>
                <a:gd name="T97" fmla="*/ 329 h 659"/>
                <a:gd name="T98" fmla="*/ 607 w 656"/>
                <a:gd name="T99" fmla="*/ 244 h 659"/>
                <a:gd name="T100" fmla="*/ 569 w 656"/>
                <a:gd name="T101" fmla="*/ 167 h 659"/>
                <a:gd name="T102" fmla="*/ 513 w 656"/>
                <a:gd name="T103" fmla="*/ 105 h 659"/>
                <a:gd name="T104" fmla="*/ 442 w 656"/>
                <a:gd name="T105" fmla="*/ 61 h 659"/>
                <a:gd name="T106" fmla="*/ 358 w 656"/>
                <a:gd name="T107" fmla="*/ 39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6" h="659">
                  <a:moveTo>
                    <a:pt x="329" y="659"/>
                  </a:moveTo>
                  <a:lnTo>
                    <a:pt x="329" y="659"/>
                  </a:lnTo>
                  <a:lnTo>
                    <a:pt x="311" y="657"/>
                  </a:lnTo>
                  <a:lnTo>
                    <a:pt x="295" y="657"/>
                  </a:lnTo>
                  <a:lnTo>
                    <a:pt x="278" y="655"/>
                  </a:lnTo>
                  <a:lnTo>
                    <a:pt x="262" y="652"/>
                  </a:lnTo>
                  <a:lnTo>
                    <a:pt x="245" y="648"/>
                  </a:lnTo>
                  <a:lnTo>
                    <a:pt x="231" y="644"/>
                  </a:lnTo>
                  <a:lnTo>
                    <a:pt x="200" y="633"/>
                  </a:lnTo>
                  <a:lnTo>
                    <a:pt x="172" y="618"/>
                  </a:lnTo>
                  <a:lnTo>
                    <a:pt x="145" y="602"/>
                  </a:lnTo>
                  <a:lnTo>
                    <a:pt x="119" y="583"/>
                  </a:lnTo>
                  <a:lnTo>
                    <a:pt x="96" y="562"/>
                  </a:lnTo>
                  <a:lnTo>
                    <a:pt x="75" y="539"/>
                  </a:lnTo>
                  <a:lnTo>
                    <a:pt x="56" y="514"/>
                  </a:lnTo>
                  <a:lnTo>
                    <a:pt x="39" y="487"/>
                  </a:lnTo>
                  <a:lnTo>
                    <a:pt x="25" y="457"/>
                  </a:lnTo>
                  <a:lnTo>
                    <a:pt x="14" y="428"/>
                  </a:lnTo>
                  <a:lnTo>
                    <a:pt x="9" y="411"/>
                  </a:lnTo>
                  <a:lnTo>
                    <a:pt x="6" y="395"/>
                  </a:lnTo>
                  <a:lnTo>
                    <a:pt x="4" y="379"/>
                  </a:lnTo>
                  <a:lnTo>
                    <a:pt x="1" y="363"/>
                  </a:lnTo>
                  <a:lnTo>
                    <a:pt x="0" y="347"/>
                  </a:lnTo>
                  <a:lnTo>
                    <a:pt x="0" y="329"/>
                  </a:lnTo>
                  <a:lnTo>
                    <a:pt x="0" y="329"/>
                  </a:lnTo>
                  <a:lnTo>
                    <a:pt x="0" y="312"/>
                  </a:lnTo>
                  <a:lnTo>
                    <a:pt x="1" y="296"/>
                  </a:lnTo>
                  <a:lnTo>
                    <a:pt x="4" y="280"/>
                  </a:lnTo>
                  <a:lnTo>
                    <a:pt x="6" y="264"/>
                  </a:lnTo>
                  <a:lnTo>
                    <a:pt x="9" y="248"/>
                  </a:lnTo>
                  <a:lnTo>
                    <a:pt x="14" y="231"/>
                  </a:lnTo>
                  <a:lnTo>
                    <a:pt x="25" y="202"/>
                  </a:lnTo>
                  <a:lnTo>
                    <a:pt x="39" y="172"/>
                  </a:lnTo>
                  <a:lnTo>
                    <a:pt x="56" y="145"/>
                  </a:lnTo>
                  <a:lnTo>
                    <a:pt x="75" y="120"/>
                  </a:lnTo>
                  <a:lnTo>
                    <a:pt x="96" y="97"/>
                  </a:lnTo>
                  <a:lnTo>
                    <a:pt x="119" y="76"/>
                  </a:lnTo>
                  <a:lnTo>
                    <a:pt x="145" y="57"/>
                  </a:lnTo>
                  <a:lnTo>
                    <a:pt x="172" y="41"/>
                  </a:lnTo>
                  <a:lnTo>
                    <a:pt x="200" y="27"/>
                  </a:lnTo>
                  <a:lnTo>
                    <a:pt x="231" y="15"/>
                  </a:lnTo>
                  <a:lnTo>
                    <a:pt x="245" y="11"/>
                  </a:lnTo>
                  <a:lnTo>
                    <a:pt x="262" y="7"/>
                  </a:lnTo>
                  <a:lnTo>
                    <a:pt x="278" y="4"/>
                  </a:lnTo>
                  <a:lnTo>
                    <a:pt x="295" y="3"/>
                  </a:lnTo>
                  <a:lnTo>
                    <a:pt x="311" y="2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5" y="2"/>
                  </a:lnTo>
                  <a:lnTo>
                    <a:pt x="362" y="3"/>
                  </a:lnTo>
                  <a:lnTo>
                    <a:pt x="378" y="4"/>
                  </a:lnTo>
                  <a:lnTo>
                    <a:pt x="395" y="7"/>
                  </a:lnTo>
                  <a:lnTo>
                    <a:pt x="411" y="11"/>
                  </a:lnTo>
                  <a:lnTo>
                    <a:pt x="425" y="15"/>
                  </a:lnTo>
                  <a:lnTo>
                    <a:pt x="456" y="27"/>
                  </a:lnTo>
                  <a:lnTo>
                    <a:pt x="485" y="41"/>
                  </a:lnTo>
                  <a:lnTo>
                    <a:pt x="511" y="57"/>
                  </a:lnTo>
                  <a:lnTo>
                    <a:pt x="537" y="76"/>
                  </a:lnTo>
                  <a:lnTo>
                    <a:pt x="561" y="97"/>
                  </a:lnTo>
                  <a:lnTo>
                    <a:pt x="581" y="120"/>
                  </a:lnTo>
                  <a:lnTo>
                    <a:pt x="600" y="145"/>
                  </a:lnTo>
                  <a:lnTo>
                    <a:pt x="618" y="172"/>
                  </a:lnTo>
                  <a:lnTo>
                    <a:pt x="631" y="202"/>
                  </a:lnTo>
                  <a:lnTo>
                    <a:pt x="642" y="231"/>
                  </a:lnTo>
                  <a:lnTo>
                    <a:pt x="647" y="248"/>
                  </a:lnTo>
                  <a:lnTo>
                    <a:pt x="650" y="264"/>
                  </a:lnTo>
                  <a:lnTo>
                    <a:pt x="652" y="280"/>
                  </a:lnTo>
                  <a:lnTo>
                    <a:pt x="655" y="296"/>
                  </a:lnTo>
                  <a:lnTo>
                    <a:pt x="656" y="312"/>
                  </a:lnTo>
                  <a:lnTo>
                    <a:pt x="656" y="329"/>
                  </a:lnTo>
                  <a:lnTo>
                    <a:pt x="656" y="329"/>
                  </a:lnTo>
                  <a:lnTo>
                    <a:pt x="656" y="347"/>
                  </a:lnTo>
                  <a:lnTo>
                    <a:pt x="655" y="363"/>
                  </a:lnTo>
                  <a:lnTo>
                    <a:pt x="652" y="379"/>
                  </a:lnTo>
                  <a:lnTo>
                    <a:pt x="650" y="395"/>
                  </a:lnTo>
                  <a:lnTo>
                    <a:pt x="647" y="411"/>
                  </a:lnTo>
                  <a:lnTo>
                    <a:pt x="642" y="428"/>
                  </a:lnTo>
                  <a:lnTo>
                    <a:pt x="631" y="457"/>
                  </a:lnTo>
                  <a:lnTo>
                    <a:pt x="618" y="487"/>
                  </a:lnTo>
                  <a:lnTo>
                    <a:pt x="600" y="514"/>
                  </a:lnTo>
                  <a:lnTo>
                    <a:pt x="581" y="539"/>
                  </a:lnTo>
                  <a:lnTo>
                    <a:pt x="561" y="562"/>
                  </a:lnTo>
                  <a:lnTo>
                    <a:pt x="537" y="583"/>
                  </a:lnTo>
                  <a:lnTo>
                    <a:pt x="511" y="602"/>
                  </a:lnTo>
                  <a:lnTo>
                    <a:pt x="485" y="618"/>
                  </a:lnTo>
                  <a:lnTo>
                    <a:pt x="456" y="633"/>
                  </a:lnTo>
                  <a:lnTo>
                    <a:pt x="425" y="644"/>
                  </a:lnTo>
                  <a:lnTo>
                    <a:pt x="411" y="648"/>
                  </a:lnTo>
                  <a:lnTo>
                    <a:pt x="395" y="652"/>
                  </a:lnTo>
                  <a:lnTo>
                    <a:pt x="378" y="655"/>
                  </a:lnTo>
                  <a:lnTo>
                    <a:pt x="362" y="657"/>
                  </a:lnTo>
                  <a:lnTo>
                    <a:pt x="345" y="657"/>
                  </a:lnTo>
                  <a:lnTo>
                    <a:pt x="329" y="659"/>
                  </a:lnTo>
                  <a:lnTo>
                    <a:pt x="329" y="659"/>
                  </a:lnTo>
                  <a:close/>
                  <a:moveTo>
                    <a:pt x="329" y="38"/>
                  </a:moveTo>
                  <a:lnTo>
                    <a:pt x="329" y="38"/>
                  </a:lnTo>
                  <a:lnTo>
                    <a:pt x="298" y="39"/>
                  </a:lnTo>
                  <a:lnTo>
                    <a:pt x="270" y="45"/>
                  </a:lnTo>
                  <a:lnTo>
                    <a:pt x="241" y="51"/>
                  </a:lnTo>
                  <a:lnTo>
                    <a:pt x="215" y="61"/>
                  </a:lnTo>
                  <a:lnTo>
                    <a:pt x="189" y="73"/>
                  </a:lnTo>
                  <a:lnTo>
                    <a:pt x="165" y="88"/>
                  </a:lnTo>
                  <a:lnTo>
                    <a:pt x="143" y="105"/>
                  </a:lnTo>
                  <a:lnTo>
                    <a:pt x="122" y="124"/>
                  </a:lnTo>
                  <a:lnTo>
                    <a:pt x="103" y="144"/>
                  </a:lnTo>
                  <a:lnTo>
                    <a:pt x="87" y="167"/>
                  </a:lnTo>
                  <a:lnTo>
                    <a:pt x="72" y="191"/>
                  </a:lnTo>
                  <a:lnTo>
                    <a:pt x="60" y="217"/>
                  </a:lnTo>
                  <a:lnTo>
                    <a:pt x="51" y="244"/>
                  </a:lnTo>
                  <a:lnTo>
                    <a:pt x="43" y="270"/>
                  </a:lnTo>
                  <a:lnTo>
                    <a:pt x="39" y="300"/>
                  </a:lnTo>
                  <a:lnTo>
                    <a:pt x="37" y="329"/>
                  </a:lnTo>
                  <a:lnTo>
                    <a:pt x="37" y="329"/>
                  </a:lnTo>
                  <a:lnTo>
                    <a:pt x="39" y="359"/>
                  </a:lnTo>
                  <a:lnTo>
                    <a:pt x="43" y="389"/>
                  </a:lnTo>
                  <a:lnTo>
                    <a:pt x="51" y="415"/>
                  </a:lnTo>
                  <a:lnTo>
                    <a:pt x="60" y="442"/>
                  </a:lnTo>
                  <a:lnTo>
                    <a:pt x="72" y="468"/>
                  </a:lnTo>
                  <a:lnTo>
                    <a:pt x="87" y="492"/>
                  </a:lnTo>
                  <a:lnTo>
                    <a:pt x="103" y="515"/>
                  </a:lnTo>
                  <a:lnTo>
                    <a:pt x="122" y="535"/>
                  </a:lnTo>
                  <a:lnTo>
                    <a:pt x="143" y="554"/>
                  </a:lnTo>
                  <a:lnTo>
                    <a:pt x="165" y="571"/>
                  </a:lnTo>
                  <a:lnTo>
                    <a:pt x="189" y="586"/>
                  </a:lnTo>
                  <a:lnTo>
                    <a:pt x="215" y="598"/>
                  </a:lnTo>
                  <a:lnTo>
                    <a:pt x="241" y="608"/>
                  </a:lnTo>
                  <a:lnTo>
                    <a:pt x="270" y="614"/>
                  </a:lnTo>
                  <a:lnTo>
                    <a:pt x="298" y="620"/>
                  </a:lnTo>
                  <a:lnTo>
                    <a:pt x="329" y="621"/>
                  </a:lnTo>
                  <a:lnTo>
                    <a:pt x="329" y="621"/>
                  </a:lnTo>
                  <a:lnTo>
                    <a:pt x="358" y="620"/>
                  </a:lnTo>
                  <a:lnTo>
                    <a:pt x="386" y="614"/>
                  </a:lnTo>
                  <a:lnTo>
                    <a:pt x="415" y="608"/>
                  </a:lnTo>
                  <a:lnTo>
                    <a:pt x="442" y="598"/>
                  </a:lnTo>
                  <a:lnTo>
                    <a:pt x="467" y="586"/>
                  </a:lnTo>
                  <a:lnTo>
                    <a:pt x="491" y="571"/>
                  </a:lnTo>
                  <a:lnTo>
                    <a:pt x="513" y="554"/>
                  </a:lnTo>
                  <a:lnTo>
                    <a:pt x="534" y="535"/>
                  </a:lnTo>
                  <a:lnTo>
                    <a:pt x="553" y="515"/>
                  </a:lnTo>
                  <a:lnTo>
                    <a:pt x="569" y="492"/>
                  </a:lnTo>
                  <a:lnTo>
                    <a:pt x="584" y="468"/>
                  </a:lnTo>
                  <a:lnTo>
                    <a:pt x="596" y="442"/>
                  </a:lnTo>
                  <a:lnTo>
                    <a:pt x="607" y="415"/>
                  </a:lnTo>
                  <a:lnTo>
                    <a:pt x="613" y="389"/>
                  </a:lnTo>
                  <a:lnTo>
                    <a:pt x="618" y="359"/>
                  </a:lnTo>
                  <a:lnTo>
                    <a:pt x="619" y="329"/>
                  </a:lnTo>
                  <a:lnTo>
                    <a:pt x="619" y="329"/>
                  </a:lnTo>
                  <a:lnTo>
                    <a:pt x="618" y="300"/>
                  </a:lnTo>
                  <a:lnTo>
                    <a:pt x="613" y="270"/>
                  </a:lnTo>
                  <a:lnTo>
                    <a:pt x="607" y="244"/>
                  </a:lnTo>
                  <a:lnTo>
                    <a:pt x="596" y="217"/>
                  </a:lnTo>
                  <a:lnTo>
                    <a:pt x="584" y="191"/>
                  </a:lnTo>
                  <a:lnTo>
                    <a:pt x="569" y="167"/>
                  </a:lnTo>
                  <a:lnTo>
                    <a:pt x="553" y="144"/>
                  </a:lnTo>
                  <a:lnTo>
                    <a:pt x="534" y="124"/>
                  </a:lnTo>
                  <a:lnTo>
                    <a:pt x="513" y="105"/>
                  </a:lnTo>
                  <a:lnTo>
                    <a:pt x="491" y="88"/>
                  </a:lnTo>
                  <a:lnTo>
                    <a:pt x="467" y="73"/>
                  </a:lnTo>
                  <a:lnTo>
                    <a:pt x="442" y="61"/>
                  </a:lnTo>
                  <a:lnTo>
                    <a:pt x="415" y="51"/>
                  </a:lnTo>
                  <a:lnTo>
                    <a:pt x="386" y="45"/>
                  </a:lnTo>
                  <a:lnTo>
                    <a:pt x="358" y="39"/>
                  </a:lnTo>
                  <a:lnTo>
                    <a:pt x="329" y="38"/>
                  </a:lnTo>
                  <a:lnTo>
                    <a:pt x="329" y="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181" name="Freeform 178">
              <a:extLst>
                <a:ext uri="{FF2B5EF4-FFF2-40B4-BE49-F238E27FC236}">
                  <a16:creationId xmlns:a16="http://schemas.microsoft.com/office/drawing/2014/main" id="{B36089F8-815A-41BA-8281-EB584E44F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3251" y="1127125"/>
              <a:ext cx="250825" cy="66675"/>
            </a:xfrm>
            <a:custGeom>
              <a:avLst/>
              <a:gdLst>
                <a:gd name="T0" fmla="*/ 314 w 315"/>
                <a:gd name="T1" fmla="*/ 62 h 84"/>
                <a:gd name="T2" fmla="*/ 288 w 315"/>
                <a:gd name="T3" fmla="*/ 3 h 84"/>
                <a:gd name="T4" fmla="*/ 288 w 315"/>
                <a:gd name="T5" fmla="*/ 3 h 84"/>
                <a:gd name="T6" fmla="*/ 286 w 315"/>
                <a:gd name="T7" fmla="*/ 0 h 84"/>
                <a:gd name="T8" fmla="*/ 283 w 315"/>
                <a:gd name="T9" fmla="*/ 0 h 84"/>
                <a:gd name="T10" fmla="*/ 32 w 315"/>
                <a:gd name="T11" fmla="*/ 0 h 84"/>
                <a:gd name="T12" fmla="*/ 32 w 315"/>
                <a:gd name="T13" fmla="*/ 0 h 84"/>
                <a:gd name="T14" fmla="*/ 29 w 315"/>
                <a:gd name="T15" fmla="*/ 0 h 84"/>
                <a:gd name="T16" fmla="*/ 26 w 315"/>
                <a:gd name="T17" fmla="*/ 3 h 84"/>
                <a:gd name="T18" fmla="*/ 1 w 315"/>
                <a:gd name="T19" fmla="*/ 62 h 84"/>
                <a:gd name="T20" fmla="*/ 1 w 315"/>
                <a:gd name="T21" fmla="*/ 62 h 84"/>
                <a:gd name="T22" fmla="*/ 0 w 315"/>
                <a:gd name="T23" fmla="*/ 66 h 84"/>
                <a:gd name="T24" fmla="*/ 0 w 315"/>
                <a:gd name="T25" fmla="*/ 70 h 84"/>
                <a:gd name="T26" fmla="*/ 1 w 315"/>
                <a:gd name="T27" fmla="*/ 74 h 84"/>
                <a:gd name="T28" fmla="*/ 2 w 315"/>
                <a:gd name="T29" fmla="*/ 77 h 84"/>
                <a:gd name="T30" fmla="*/ 2 w 315"/>
                <a:gd name="T31" fmla="*/ 77 h 84"/>
                <a:gd name="T32" fmla="*/ 5 w 315"/>
                <a:gd name="T33" fmla="*/ 79 h 84"/>
                <a:gd name="T34" fmla="*/ 8 w 315"/>
                <a:gd name="T35" fmla="*/ 82 h 84"/>
                <a:gd name="T36" fmla="*/ 12 w 315"/>
                <a:gd name="T37" fmla="*/ 84 h 84"/>
                <a:gd name="T38" fmla="*/ 16 w 315"/>
                <a:gd name="T39" fmla="*/ 84 h 84"/>
                <a:gd name="T40" fmla="*/ 299 w 315"/>
                <a:gd name="T41" fmla="*/ 84 h 84"/>
                <a:gd name="T42" fmla="*/ 299 w 315"/>
                <a:gd name="T43" fmla="*/ 84 h 84"/>
                <a:gd name="T44" fmla="*/ 303 w 315"/>
                <a:gd name="T45" fmla="*/ 84 h 84"/>
                <a:gd name="T46" fmla="*/ 307 w 315"/>
                <a:gd name="T47" fmla="*/ 82 h 84"/>
                <a:gd name="T48" fmla="*/ 310 w 315"/>
                <a:gd name="T49" fmla="*/ 79 h 84"/>
                <a:gd name="T50" fmla="*/ 313 w 315"/>
                <a:gd name="T51" fmla="*/ 77 h 84"/>
                <a:gd name="T52" fmla="*/ 313 w 315"/>
                <a:gd name="T53" fmla="*/ 77 h 84"/>
                <a:gd name="T54" fmla="*/ 314 w 315"/>
                <a:gd name="T55" fmla="*/ 74 h 84"/>
                <a:gd name="T56" fmla="*/ 315 w 315"/>
                <a:gd name="T57" fmla="*/ 70 h 84"/>
                <a:gd name="T58" fmla="*/ 315 w 315"/>
                <a:gd name="T59" fmla="*/ 66 h 84"/>
                <a:gd name="T60" fmla="*/ 314 w 315"/>
                <a:gd name="T61" fmla="*/ 62 h 84"/>
                <a:gd name="T62" fmla="*/ 314 w 315"/>
                <a:gd name="T63" fmla="*/ 6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15" h="84">
                  <a:moveTo>
                    <a:pt x="314" y="62"/>
                  </a:moveTo>
                  <a:lnTo>
                    <a:pt x="288" y="3"/>
                  </a:lnTo>
                  <a:lnTo>
                    <a:pt x="288" y="3"/>
                  </a:lnTo>
                  <a:lnTo>
                    <a:pt x="286" y="0"/>
                  </a:lnTo>
                  <a:lnTo>
                    <a:pt x="283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29" y="0"/>
                  </a:lnTo>
                  <a:lnTo>
                    <a:pt x="26" y="3"/>
                  </a:lnTo>
                  <a:lnTo>
                    <a:pt x="1" y="62"/>
                  </a:lnTo>
                  <a:lnTo>
                    <a:pt x="1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1" y="74"/>
                  </a:lnTo>
                  <a:lnTo>
                    <a:pt x="2" y="77"/>
                  </a:lnTo>
                  <a:lnTo>
                    <a:pt x="2" y="77"/>
                  </a:lnTo>
                  <a:lnTo>
                    <a:pt x="5" y="79"/>
                  </a:lnTo>
                  <a:lnTo>
                    <a:pt x="8" y="82"/>
                  </a:lnTo>
                  <a:lnTo>
                    <a:pt x="12" y="84"/>
                  </a:lnTo>
                  <a:lnTo>
                    <a:pt x="16" y="84"/>
                  </a:lnTo>
                  <a:lnTo>
                    <a:pt x="299" y="84"/>
                  </a:lnTo>
                  <a:lnTo>
                    <a:pt x="299" y="84"/>
                  </a:lnTo>
                  <a:lnTo>
                    <a:pt x="303" y="84"/>
                  </a:lnTo>
                  <a:lnTo>
                    <a:pt x="307" y="82"/>
                  </a:lnTo>
                  <a:lnTo>
                    <a:pt x="310" y="79"/>
                  </a:lnTo>
                  <a:lnTo>
                    <a:pt x="313" y="77"/>
                  </a:lnTo>
                  <a:lnTo>
                    <a:pt x="313" y="77"/>
                  </a:lnTo>
                  <a:lnTo>
                    <a:pt x="314" y="74"/>
                  </a:lnTo>
                  <a:lnTo>
                    <a:pt x="315" y="70"/>
                  </a:lnTo>
                  <a:lnTo>
                    <a:pt x="315" y="66"/>
                  </a:lnTo>
                  <a:lnTo>
                    <a:pt x="314" y="62"/>
                  </a:lnTo>
                  <a:lnTo>
                    <a:pt x="314" y="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187" name="Freeform 179">
              <a:extLst>
                <a:ext uri="{FF2B5EF4-FFF2-40B4-BE49-F238E27FC236}">
                  <a16:creationId xmlns:a16="http://schemas.microsoft.com/office/drawing/2014/main" id="{2D21063B-ACE7-4A86-AC84-228C4DB997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15476" y="969963"/>
              <a:ext cx="207963" cy="149225"/>
            </a:xfrm>
            <a:custGeom>
              <a:avLst/>
              <a:gdLst>
                <a:gd name="T0" fmla="*/ 6 w 262"/>
                <a:gd name="T1" fmla="*/ 188 h 188"/>
                <a:gd name="T2" fmla="*/ 257 w 262"/>
                <a:gd name="T3" fmla="*/ 188 h 188"/>
                <a:gd name="T4" fmla="*/ 257 w 262"/>
                <a:gd name="T5" fmla="*/ 188 h 188"/>
                <a:gd name="T6" fmla="*/ 260 w 262"/>
                <a:gd name="T7" fmla="*/ 188 h 188"/>
                <a:gd name="T8" fmla="*/ 261 w 262"/>
                <a:gd name="T9" fmla="*/ 187 h 188"/>
                <a:gd name="T10" fmla="*/ 262 w 262"/>
                <a:gd name="T11" fmla="*/ 186 h 188"/>
                <a:gd name="T12" fmla="*/ 262 w 262"/>
                <a:gd name="T13" fmla="*/ 183 h 188"/>
                <a:gd name="T14" fmla="*/ 262 w 262"/>
                <a:gd name="T15" fmla="*/ 26 h 188"/>
                <a:gd name="T16" fmla="*/ 262 w 262"/>
                <a:gd name="T17" fmla="*/ 26 h 188"/>
                <a:gd name="T18" fmla="*/ 262 w 262"/>
                <a:gd name="T19" fmla="*/ 21 h 188"/>
                <a:gd name="T20" fmla="*/ 261 w 262"/>
                <a:gd name="T21" fmla="*/ 15 h 188"/>
                <a:gd name="T22" fmla="*/ 258 w 262"/>
                <a:gd name="T23" fmla="*/ 11 h 188"/>
                <a:gd name="T24" fmla="*/ 254 w 262"/>
                <a:gd name="T25" fmla="*/ 7 h 188"/>
                <a:gd name="T26" fmla="*/ 250 w 262"/>
                <a:gd name="T27" fmla="*/ 4 h 188"/>
                <a:gd name="T28" fmla="*/ 246 w 262"/>
                <a:gd name="T29" fmla="*/ 2 h 188"/>
                <a:gd name="T30" fmla="*/ 241 w 262"/>
                <a:gd name="T31" fmla="*/ 0 h 188"/>
                <a:gd name="T32" fmla="*/ 237 w 262"/>
                <a:gd name="T33" fmla="*/ 0 h 188"/>
                <a:gd name="T34" fmla="*/ 26 w 262"/>
                <a:gd name="T35" fmla="*/ 0 h 188"/>
                <a:gd name="T36" fmla="*/ 26 w 262"/>
                <a:gd name="T37" fmla="*/ 0 h 188"/>
                <a:gd name="T38" fmla="*/ 22 w 262"/>
                <a:gd name="T39" fmla="*/ 0 h 188"/>
                <a:gd name="T40" fmla="*/ 17 w 262"/>
                <a:gd name="T41" fmla="*/ 2 h 188"/>
                <a:gd name="T42" fmla="*/ 13 w 262"/>
                <a:gd name="T43" fmla="*/ 4 h 188"/>
                <a:gd name="T44" fmla="*/ 8 w 262"/>
                <a:gd name="T45" fmla="*/ 7 h 188"/>
                <a:gd name="T46" fmla="*/ 4 w 262"/>
                <a:gd name="T47" fmla="*/ 11 h 188"/>
                <a:gd name="T48" fmla="*/ 3 w 262"/>
                <a:gd name="T49" fmla="*/ 15 h 188"/>
                <a:gd name="T50" fmla="*/ 0 w 262"/>
                <a:gd name="T51" fmla="*/ 21 h 188"/>
                <a:gd name="T52" fmla="*/ 0 w 262"/>
                <a:gd name="T53" fmla="*/ 26 h 188"/>
                <a:gd name="T54" fmla="*/ 0 w 262"/>
                <a:gd name="T55" fmla="*/ 183 h 188"/>
                <a:gd name="T56" fmla="*/ 0 w 262"/>
                <a:gd name="T57" fmla="*/ 183 h 188"/>
                <a:gd name="T58" fmla="*/ 0 w 262"/>
                <a:gd name="T59" fmla="*/ 186 h 188"/>
                <a:gd name="T60" fmla="*/ 2 w 262"/>
                <a:gd name="T61" fmla="*/ 187 h 188"/>
                <a:gd name="T62" fmla="*/ 3 w 262"/>
                <a:gd name="T63" fmla="*/ 188 h 188"/>
                <a:gd name="T64" fmla="*/ 6 w 262"/>
                <a:gd name="T65" fmla="*/ 188 h 188"/>
                <a:gd name="T66" fmla="*/ 6 w 262"/>
                <a:gd name="T67" fmla="*/ 188 h 188"/>
                <a:gd name="T68" fmla="*/ 18 w 262"/>
                <a:gd name="T69" fmla="*/ 25 h 188"/>
                <a:gd name="T70" fmla="*/ 18 w 262"/>
                <a:gd name="T71" fmla="*/ 25 h 188"/>
                <a:gd name="T72" fmla="*/ 18 w 262"/>
                <a:gd name="T73" fmla="*/ 22 h 188"/>
                <a:gd name="T74" fmla="*/ 19 w 262"/>
                <a:gd name="T75" fmla="*/ 21 h 188"/>
                <a:gd name="T76" fmla="*/ 21 w 262"/>
                <a:gd name="T77" fmla="*/ 19 h 188"/>
                <a:gd name="T78" fmla="*/ 23 w 262"/>
                <a:gd name="T79" fmla="*/ 19 h 188"/>
                <a:gd name="T80" fmla="*/ 240 w 262"/>
                <a:gd name="T81" fmla="*/ 19 h 188"/>
                <a:gd name="T82" fmla="*/ 240 w 262"/>
                <a:gd name="T83" fmla="*/ 19 h 188"/>
                <a:gd name="T84" fmla="*/ 241 w 262"/>
                <a:gd name="T85" fmla="*/ 19 h 188"/>
                <a:gd name="T86" fmla="*/ 244 w 262"/>
                <a:gd name="T87" fmla="*/ 21 h 188"/>
                <a:gd name="T88" fmla="*/ 244 w 262"/>
                <a:gd name="T89" fmla="*/ 22 h 188"/>
                <a:gd name="T90" fmla="*/ 245 w 262"/>
                <a:gd name="T91" fmla="*/ 25 h 188"/>
                <a:gd name="T92" fmla="*/ 245 w 262"/>
                <a:gd name="T93" fmla="*/ 166 h 188"/>
                <a:gd name="T94" fmla="*/ 245 w 262"/>
                <a:gd name="T95" fmla="*/ 166 h 188"/>
                <a:gd name="T96" fmla="*/ 244 w 262"/>
                <a:gd name="T97" fmla="*/ 167 h 188"/>
                <a:gd name="T98" fmla="*/ 244 w 262"/>
                <a:gd name="T99" fmla="*/ 170 h 188"/>
                <a:gd name="T100" fmla="*/ 241 w 262"/>
                <a:gd name="T101" fmla="*/ 170 h 188"/>
                <a:gd name="T102" fmla="*/ 240 w 262"/>
                <a:gd name="T103" fmla="*/ 171 h 188"/>
                <a:gd name="T104" fmla="*/ 23 w 262"/>
                <a:gd name="T105" fmla="*/ 171 h 188"/>
                <a:gd name="T106" fmla="*/ 23 w 262"/>
                <a:gd name="T107" fmla="*/ 171 h 188"/>
                <a:gd name="T108" fmla="*/ 21 w 262"/>
                <a:gd name="T109" fmla="*/ 170 h 188"/>
                <a:gd name="T110" fmla="*/ 19 w 262"/>
                <a:gd name="T111" fmla="*/ 170 h 188"/>
                <a:gd name="T112" fmla="*/ 18 w 262"/>
                <a:gd name="T113" fmla="*/ 167 h 188"/>
                <a:gd name="T114" fmla="*/ 18 w 262"/>
                <a:gd name="T115" fmla="*/ 166 h 188"/>
                <a:gd name="T116" fmla="*/ 18 w 262"/>
                <a:gd name="T117" fmla="*/ 2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62" h="188">
                  <a:moveTo>
                    <a:pt x="6" y="188"/>
                  </a:moveTo>
                  <a:lnTo>
                    <a:pt x="257" y="188"/>
                  </a:lnTo>
                  <a:lnTo>
                    <a:pt x="257" y="188"/>
                  </a:lnTo>
                  <a:lnTo>
                    <a:pt x="260" y="188"/>
                  </a:lnTo>
                  <a:lnTo>
                    <a:pt x="261" y="187"/>
                  </a:lnTo>
                  <a:lnTo>
                    <a:pt x="262" y="186"/>
                  </a:lnTo>
                  <a:lnTo>
                    <a:pt x="262" y="183"/>
                  </a:lnTo>
                  <a:lnTo>
                    <a:pt x="262" y="26"/>
                  </a:lnTo>
                  <a:lnTo>
                    <a:pt x="262" y="26"/>
                  </a:lnTo>
                  <a:lnTo>
                    <a:pt x="262" y="21"/>
                  </a:lnTo>
                  <a:lnTo>
                    <a:pt x="261" y="15"/>
                  </a:lnTo>
                  <a:lnTo>
                    <a:pt x="258" y="11"/>
                  </a:lnTo>
                  <a:lnTo>
                    <a:pt x="254" y="7"/>
                  </a:lnTo>
                  <a:lnTo>
                    <a:pt x="250" y="4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37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7" y="2"/>
                  </a:lnTo>
                  <a:lnTo>
                    <a:pt x="13" y="4"/>
                  </a:lnTo>
                  <a:lnTo>
                    <a:pt x="8" y="7"/>
                  </a:lnTo>
                  <a:lnTo>
                    <a:pt x="4" y="11"/>
                  </a:lnTo>
                  <a:lnTo>
                    <a:pt x="3" y="15"/>
                  </a:lnTo>
                  <a:lnTo>
                    <a:pt x="0" y="21"/>
                  </a:lnTo>
                  <a:lnTo>
                    <a:pt x="0" y="26"/>
                  </a:lnTo>
                  <a:lnTo>
                    <a:pt x="0" y="183"/>
                  </a:lnTo>
                  <a:lnTo>
                    <a:pt x="0" y="183"/>
                  </a:lnTo>
                  <a:lnTo>
                    <a:pt x="0" y="186"/>
                  </a:lnTo>
                  <a:lnTo>
                    <a:pt x="2" y="187"/>
                  </a:lnTo>
                  <a:lnTo>
                    <a:pt x="3" y="188"/>
                  </a:lnTo>
                  <a:lnTo>
                    <a:pt x="6" y="188"/>
                  </a:lnTo>
                  <a:lnTo>
                    <a:pt x="6" y="188"/>
                  </a:lnTo>
                  <a:close/>
                  <a:moveTo>
                    <a:pt x="18" y="25"/>
                  </a:moveTo>
                  <a:lnTo>
                    <a:pt x="18" y="25"/>
                  </a:lnTo>
                  <a:lnTo>
                    <a:pt x="18" y="22"/>
                  </a:lnTo>
                  <a:lnTo>
                    <a:pt x="19" y="21"/>
                  </a:lnTo>
                  <a:lnTo>
                    <a:pt x="21" y="19"/>
                  </a:lnTo>
                  <a:lnTo>
                    <a:pt x="23" y="19"/>
                  </a:lnTo>
                  <a:lnTo>
                    <a:pt x="240" y="19"/>
                  </a:lnTo>
                  <a:lnTo>
                    <a:pt x="240" y="19"/>
                  </a:lnTo>
                  <a:lnTo>
                    <a:pt x="241" y="19"/>
                  </a:lnTo>
                  <a:lnTo>
                    <a:pt x="244" y="21"/>
                  </a:lnTo>
                  <a:lnTo>
                    <a:pt x="244" y="22"/>
                  </a:lnTo>
                  <a:lnTo>
                    <a:pt x="245" y="25"/>
                  </a:lnTo>
                  <a:lnTo>
                    <a:pt x="245" y="166"/>
                  </a:lnTo>
                  <a:lnTo>
                    <a:pt x="245" y="166"/>
                  </a:lnTo>
                  <a:lnTo>
                    <a:pt x="244" y="167"/>
                  </a:lnTo>
                  <a:lnTo>
                    <a:pt x="244" y="170"/>
                  </a:lnTo>
                  <a:lnTo>
                    <a:pt x="241" y="170"/>
                  </a:lnTo>
                  <a:lnTo>
                    <a:pt x="240" y="171"/>
                  </a:lnTo>
                  <a:lnTo>
                    <a:pt x="23" y="171"/>
                  </a:lnTo>
                  <a:lnTo>
                    <a:pt x="23" y="171"/>
                  </a:lnTo>
                  <a:lnTo>
                    <a:pt x="21" y="170"/>
                  </a:lnTo>
                  <a:lnTo>
                    <a:pt x="19" y="170"/>
                  </a:lnTo>
                  <a:lnTo>
                    <a:pt x="18" y="167"/>
                  </a:lnTo>
                  <a:lnTo>
                    <a:pt x="18" y="166"/>
                  </a:lnTo>
                  <a:lnTo>
                    <a:pt x="18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</a:endParaRPr>
            </a:p>
          </p:txBody>
        </p:sp>
      </p:grpSp>
      <p:grpSp>
        <p:nvGrpSpPr>
          <p:cNvPr id="191" name="Group 166">
            <a:extLst>
              <a:ext uri="{FF2B5EF4-FFF2-40B4-BE49-F238E27FC236}">
                <a16:creationId xmlns:a16="http://schemas.microsoft.com/office/drawing/2014/main" id="{679FA7C2-1E6D-4361-B2D8-88915780BCCE}"/>
              </a:ext>
            </a:extLst>
          </p:cNvPr>
          <p:cNvGrpSpPr>
            <a:grpSpLocks noChangeAspect="1"/>
          </p:cNvGrpSpPr>
          <p:nvPr/>
        </p:nvGrpSpPr>
        <p:grpSpPr>
          <a:xfrm>
            <a:off x="9923157" y="3290130"/>
            <a:ext cx="252000" cy="252000"/>
            <a:chOff x="9353551" y="823913"/>
            <a:chExt cx="522288" cy="522288"/>
          </a:xfrm>
        </p:grpSpPr>
        <p:sp>
          <p:nvSpPr>
            <p:cNvPr id="213" name="Freeform 40">
              <a:extLst>
                <a:ext uri="{FF2B5EF4-FFF2-40B4-BE49-F238E27FC236}">
                  <a16:creationId xmlns:a16="http://schemas.microsoft.com/office/drawing/2014/main" id="{F7D4F172-7CF9-4BC0-BBFF-DDD29BE114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53551" y="823913"/>
              <a:ext cx="522288" cy="522288"/>
            </a:xfrm>
            <a:custGeom>
              <a:avLst/>
              <a:gdLst>
                <a:gd name="T0" fmla="*/ 311 w 656"/>
                <a:gd name="T1" fmla="*/ 657 h 659"/>
                <a:gd name="T2" fmla="*/ 262 w 656"/>
                <a:gd name="T3" fmla="*/ 652 h 659"/>
                <a:gd name="T4" fmla="*/ 200 w 656"/>
                <a:gd name="T5" fmla="*/ 633 h 659"/>
                <a:gd name="T6" fmla="*/ 119 w 656"/>
                <a:gd name="T7" fmla="*/ 583 h 659"/>
                <a:gd name="T8" fmla="*/ 56 w 656"/>
                <a:gd name="T9" fmla="*/ 514 h 659"/>
                <a:gd name="T10" fmla="*/ 14 w 656"/>
                <a:gd name="T11" fmla="*/ 428 h 659"/>
                <a:gd name="T12" fmla="*/ 4 w 656"/>
                <a:gd name="T13" fmla="*/ 379 h 659"/>
                <a:gd name="T14" fmla="*/ 0 w 656"/>
                <a:gd name="T15" fmla="*/ 329 h 659"/>
                <a:gd name="T16" fmla="*/ 1 w 656"/>
                <a:gd name="T17" fmla="*/ 296 h 659"/>
                <a:gd name="T18" fmla="*/ 9 w 656"/>
                <a:gd name="T19" fmla="*/ 248 h 659"/>
                <a:gd name="T20" fmla="*/ 39 w 656"/>
                <a:gd name="T21" fmla="*/ 172 h 659"/>
                <a:gd name="T22" fmla="*/ 96 w 656"/>
                <a:gd name="T23" fmla="*/ 97 h 659"/>
                <a:gd name="T24" fmla="*/ 172 w 656"/>
                <a:gd name="T25" fmla="*/ 41 h 659"/>
                <a:gd name="T26" fmla="*/ 245 w 656"/>
                <a:gd name="T27" fmla="*/ 11 h 659"/>
                <a:gd name="T28" fmla="*/ 295 w 656"/>
                <a:gd name="T29" fmla="*/ 3 h 659"/>
                <a:gd name="T30" fmla="*/ 329 w 656"/>
                <a:gd name="T31" fmla="*/ 0 h 659"/>
                <a:gd name="T32" fmla="*/ 378 w 656"/>
                <a:gd name="T33" fmla="*/ 4 h 659"/>
                <a:gd name="T34" fmla="*/ 425 w 656"/>
                <a:gd name="T35" fmla="*/ 15 h 659"/>
                <a:gd name="T36" fmla="*/ 511 w 656"/>
                <a:gd name="T37" fmla="*/ 57 h 659"/>
                <a:gd name="T38" fmla="*/ 581 w 656"/>
                <a:gd name="T39" fmla="*/ 120 h 659"/>
                <a:gd name="T40" fmla="*/ 631 w 656"/>
                <a:gd name="T41" fmla="*/ 202 h 659"/>
                <a:gd name="T42" fmla="*/ 650 w 656"/>
                <a:gd name="T43" fmla="*/ 264 h 659"/>
                <a:gd name="T44" fmla="*/ 656 w 656"/>
                <a:gd name="T45" fmla="*/ 312 h 659"/>
                <a:gd name="T46" fmla="*/ 656 w 656"/>
                <a:gd name="T47" fmla="*/ 347 h 659"/>
                <a:gd name="T48" fmla="*/ 650 w 656"/>
                <a:gd name="T49" fmla="*/ 395 h 659"/>
                <a:gd name="T50" fmla="*/ 631 w 656"/>
                <a:gd name="T51" fmla="*/ 457 h 659"/>
                <a:gd name="T52" fmla="*/ 581 w 656"/>
                <a:gd name="T53" fmla="*/ 539 h 659"/>
                <a:gd name="T54" fmla="*/ 511 w 656"/>
                <a:gd name="T55" fmla="*/ 602 h 659"/>
                <a:gd name="T56" fmla="*/ 425 w 656"/>
                <a:gd name="T57" fmla="*/ 644 h 659"/>
                <a:gd name="T58" fmla="*/ 378 w 656"/>
                <a:gd name="T59" fmla="*/ 655 h 659"/>
                <a:gd name="T60" fmla="*/ 329 w 656"/>
                <a:gd name="T61" fmla="*/ 659 h 659"/>
                <a:gd name="T62" fmla="*/ 329 w 656"/>
                <a:gd name="T63" fmla="*/ 38 h 659"/>
                <a:gd name="T64" fmla="*/ 241 w 656"/>
                <a:gd name="T65" fmla="*/ 51 h 659"/>
                <a:gd name="T66" fmla="*/ 165 w 656"/>
                <a:gd name="T67" fmla="*/ 88 h 659"/>
                <a:gd name="T68" fmla="*/ 103 w 656"/>
                <a:gd name="T69" fmla="*/ 144 h 659"/>
                <a:gd name="T70" fmla="*/ 60 w 656"/>
                <a:gd name="T71" fmla="*/ 217 h 659"/>
                <a:gd name="T72" fmla="*/ 39 w 656"/>
                <a:gd name="T73" fmla="*/ 300 h 659"/>
                <a:gd name="T74" fmla="*/ 39 w 656"/>
                <a:gd name="T75" fmla="*/ 359 h 659"/>
                <a:gd name="T76" fmla="*/ 60 w 656"/>
                <a:gd name="T77" fmla="*/ 442 h 659"/>
                <a:gd name="T78" fmla="*/ 103 w 656"/>
                <a:gd name="T79" fmla="*/ 515 h 659"/>
                <a:gd name="T80" fmla="*/ 165 w 656"/>
                <a:gd name="T81" fmla="*/ 571 h 659"/>
                <a:gd name="T82" fmla="*/ 241 w 656"/>
                <a:gd name="T83" fmla="*/ 608 h 659"/>
                <a:gd name="T84" fmla="*/ 329 w 656"/>
                <a:gd name="T85" fmla="*/ 621 h 659"/>
                <a:gd name="T86" fmla="*/ 386 w 656"/>
                <a:gd name="T87" fmla="*/ 614 h 659"/>
                <a:gd name="T88" fmla="*/ 467 w 656"/>
                <a:gd name="T89" fmla="*/ 586 h 659"/>
                <a:gd name="T90" fmla="*/ 534 w 656"/>
                <a:gd name="T91" fmla="*/ 535 h 659"/>
                <a:gd name="T92" fmla="*/ 584 w 656"/>
                <a:gd name="T93" fmla="*/ 468 h 659"/>
                <a:gd name="T94" fmla="*/ 613 w 656"/>
                <a:gd name="T95" fmla="*/ 389 h 659"/>
                <a:gd name="T96" fmla="*/ 619 w 656"/>
                <a:gd name="T97" fmla="*/ 329 h 659"/>
                <a:gd name="T98" fmla="*/ 607 w 656"/>
                <a:gd name="T99" fmla="*/ 244 h 659"/>
                <a:gd name="T100" fmla="*/ 569 w 656"/>
                <a:gd name="T101" fmla="*/ 167 h 659"/>
                <a:gd name="T102" fmla="*/ 513 w 656"/>
                <a:gd name="T103" fmla="*/ 105 h 659"/>
                <a:gd name="T104" fmla="*/ 442 w 656"/>
                <a:gd name="T105" fmla="*/ 61 h 659"/>
                <a:gd name="T106" fmla="*/ 358 w 656"/>
                <a:gd name="T107" fmla="*/ 39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56" h="659">
                  <a:moveTo>
                    <a:pt x="329" y="659"/>
                  </a:moveTo>
                  <a:lnTo>
                    <a:pt x="329" y="659"/>
                  </a:lnTo>
                  <a:lnTo>
                    <a:pt x="311" y="657"/>
                  </a:lnTo>
                  <a:lnTo>
                    <a:pt x="295" y="657"/>
                  </a:lnTo>
                  <a:lnTo>
                    <a:pt x="278" y="655"/>
                  </a:lnTo>
                  <a:lnTo>
                    <a:pt x="262" y="652"/>
                  </a:lnTo>
                  <a:lnTo>
                    <a:pt x="245" y="648"/>
                  </a:lnTo>
                  <a:lnTo>
                    <a:pt x="231" y="644"/>
                  </a:lnTo>
                  <a:lnTo>
                    <a:pt x="200" y="633"/>
                  </a:lnTo>
                  <a:lnTo>
                    <a:pt x="172" y="618"/>
                  </a:lnTo>
                  <a:lnTo>
                    <a:pt x="145" y="602"/>
                  </a:lnTo>
                  <a:lnTo>
                    <a:pt x="119" y="583"/>
                  </a:lnTo>
                  <a:lnTo>
                    <a:pt x="96" y="562"/>
                  </a:lnTo>
                  <a:lnTo>
                    <a:pt x="75" y="539"/>
                  </a:lnTo>
                  <a:lnTo>
                    <a:pt x="56" y="514"/>
                  </a:lnTo>
                  <a:lnTo>
                    <a:pt x="39" y="487"/>
                  </a:lnTo>
                  <a:lnTo>
                    <a:pt x="25" y="457"/>
                  </a:lnTo>
                  <a:lnTo>
                    <a:pt x="14" y="428"/>
                  </a:lnTo>
                  <a:lnTo>
                    <a:pt x="9" y="411"/>
                  </a:lnTo>
                  <a:lnTo>
                    <a:pt x="6" y="395"/>
                  </a:lnTo>
                  <a:lnTo>
                    <a:pt x="4" y="379"/>
                  </a:lnTo>
                  <a:lnTo>
                    <a:pt x="1" y="363"/>
                  </a:lnTo>
                  <a:lnTo>
                    <a:pt x="0" y="347"/>
                  </a:lnTo>
                  <a:lnTo>
                    <a:pt x="0" y="329"/>
                  </a:lnTo>
                  <a:lnTo>
                    <a:pt x="0" y="329"/>
                  </a:lnTo>
                  <a:lnTo>
                    <a:pt x="0" y="312"/>
                  </a:lnTo>
                  <a:lnTo>
                    <a:pt x="1" y="296"/>
                  </a:lnTo>
                  <a:lnTo>
                    <a:pt x="4" y="280"/>
                  </a:lnTo>
                  <a:lnTo>
                    <a:pt x="6" y="264"/>
                  </a:lnTo>
                  <a:lnTo>
                    <a:pt x="9" y="248"/>
                  </a:lnTo>
                  <a:lnTo>
                    <a:pt x="14" y="231"/>
                  </a:lnTo>
                  <a:lnTo>
                    <a:pt x="25" y="202"/>
                  </a:lnTo>
                  <a:lnTo>
                    <a:pt x="39" y="172"/>
                  </a:lnTo>
                  <a:lnTo>
                    <a:pt x="56" y="145"/>
                  </a:lnTo>
                  <a:lnTo>
                    <a:pt x="75" y="120"/>
                  </a:lnTo>
                  <a:lnTo>
                    <a:pt x="96" y="97"/>
                  </a:lnTo>
                  <a:lnTo>
                    <a:pt x="119" y="76"/>
                  </a:lnTo>
                  <a:lnTo>
                    <a:pt x="145" y="57"/>
                  </a:lnTo>
                  <a:lnTo>
                    <a:pt x="172" y="41"/>
                  </a:lnTo>
                  <a:lnTo>
                    <a:pt x="200" y="27"/>
                  </a:lnTo>
                  <a:lnTo>
                    <a:pt x="231" y="15"/>
                  </a:lnTo>
                  <a:lnTo>
                    <a:pt x="245" y="11"/>
                  </a:lnTo>
                  <a:lnTo>
                    <a:pt x="262" y="7"/>
                  </a:lnTo>
                  <a:lnTo>
                    <a:pt x="278" y="4"/>
                  </a:lnTo>
                  <a:lnTo>
                    <a:pt x="295" y="3"/>
                  </a:lnTo>
                  <a:lnTo>
                    <a:pt x="311" y="2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5" y="2"/>
                  </a:lnTo>
                  <a:lnTo>
                    <a:pt x="362" y="3"/>
                  </a:lnTo>
                  <a:lnTo>
                    <a:pt x="378" y="4"/>
                  </a:lnTo>
                  <a:lnTo>
                    <a:pt x="395" y="7"/>
                  </a:lnTo>
                  <a:lnTo>
                    <a:pt x="411" y="11"/>
                  </a:lnTo>
                  <a:lnTo>
                    <a:pt x="425" y="15"/>
                  </a:lnTo>
                  <a:lnTo>
                    <a:pt x="456" y="27"/>
                  </a:lnTo>
                  <a:lnTo>
                    <a:pt x="485" y="41"/>
                  </a:lnTo>
                  <a:lnTo>
                    <a:pt x="511" y="57"/>
                  </a:lnTo>
                  <a:lnTo>
                    <a:pt x="537" y="76"/>
                  </a:lnTo>
                  <a:lnTo>
                    <a:pt x="561" y="97"/>
                  </a:lnTo>
                  <a:lnTo>
                    <a:pt x="581" y="120"/>
                  </a:lnTo>
                  <a:lnTo>
                    <a:pt x="600" y="145"/>
                  </a:lnTo>
                  <a:lnTo>
                    <a:pt x="618" y="172"/>
                  </a:lnTo>
                  <a:lnTo>
                    <a:pt x="631" y="202"/>
                  </a:lnTo>
                  <a:lnTo>
                    <a:pt x="642" y="231"/>
                  </a:lnTo>
                  <a:lnTo>
                    <a:pt x="647" y="248"/>
                  </a:lnTo>
                  <a:lnTo>
                    <a:pt x="650" y="264"/>
                  </a:lnTo>
                  <a:lnTo>
                    <a:pt x="652" y="280"/>
                  </a:lnTo>
                  <a:lnTo>
                    <a:pt x="655" y="296"/>
                  </a:lnTo>
                  <a:lnTo>
                    <a:pt x="656" y="312"/>
                  </a:lnTo>
                  <a:lnTo>
                    <a:pt x="656" y="329"/>
                  </a:lnTo>
                  <a:lnTo>
                    <a:pt x="656" y="329"/>
                  </a:lnTo>
                  <a:lnTo>
                    <a:pt x="656" y="347"/>
                  </a:lnTo>
                  <a:lnTo>
                    <a:pt x="655" y="363"/>
                  </a:lnTo>
                  <a:lnTo>
                    <a:pt x="652" y="379"/>
                  </a:lnTo>
                  <a:lnTo>
                    <a:pt x="650" y="395"/>
                  </a:lnTo>
                  <a:lnTo>
                    <a:pt x="647" y="411"/>
                  </a:lnTo>
                  <a:lnTo>
                    <a:pt x="642" y="428"/>
                  </a:lnTo>
                  <a:lnTo>
                    <a:pt x="631" y="457"/>
                  </a:lnTo>
                  <a:lnTo>
                    <a:pt x="618" y="487"/>
                  </a:lnTo>
                  <a:lnTo>
                    <a:pt x="600" y="514"/>
                  </a:lnTo>
                  <a:lnTo>
                    <a:pt x="581" y="539"/>
                  </a:lnTo>
                  <a:lnTo>
                    <a:pt x="561" y="562"/>
                  </a:lnTo>
                  <a:lnTo>
                    <a:pt x="537" y="583"/>
                  </a:lnTo>
                  <a:lnTo>
                    <a:pt x="511" y="602"/>
                  </a:lnTo>
                  <a:lnTo>
                    <a:pt x="485" y="618"/>
                  </a:lnTo>
                  <a:lnTo>
                    <a:pt x="456" y="633"/>
                  </a:lnTo>
                  <a:lnTo>
                    <a:pt x="425" y="644"/>
                  </a:lnTo>
                  <a:lnTo>
                    <a:pt x="411" y="648"/>
                  </a:lnTo>
                  <a:lnTo>
                    <a:pt x="395" y="652"/>
                  </a:lnTo>
                  <a:lnTo>
                    <a:pt x="378" y="655"/>
                  </a:lnTo>
                  <a:lnTo>
                    <a:pt x="362" y="657"/>
                  </a:lnTo>
                  <a:lnTo>
                    <a:pt x="345" y="657"/>
                  </a:lnTo>
                  <a:lnTo>
                    <a:pt x="329" y="659"/>
                  </a:lnTo>
                  <a:lnTo>
                    <a:pt x="329" y="659"/>
                  </a:lnTo>
                  <a:close/>
                  <a:moveTo>
                    <a:pt x="329" y="38"/>
                  </a:moveTo>
                  <a:lnTo>
                    <a:pt x="329" y="38"/>
                  </a:lnTo>
                  <a:lnTo>
                    <a:pt x="298" y="39"/>
                  </a:lnTo>
                  <a:lnTo>
                    <a:pt x="270" y="45"/>
                  </a:lnTo>
                  <a:lnTo>
                    <a:pt x="241" y="51"/>
                  </a:lnTo>
                  <a:lnTo>
                    <a:pt x="215" y="61"/>
                  </a:lnTo>
                  <a:lnTo>
                    <a:pt x="189" y="73"/>
                  </a:lnTo>
                  <a:lnTo>
                    <a:pt x="165" y="88"/>
                  </a:lnTo>
                  <a:lnTo>
                    <a:pt x="143" y="105"/>
                  </a:lnTo>
                  <a:lnTo>
                    <a:pt x="122" y="124"/>
                  </a:lnTo>
                  <a:lnTo>
                    <a:pt x="103" y="144"/>
                  </a:lnTo>
                  <a:lnTo>
                    <a:pt x="87" y="167"/>
                  </a:lnTo>
                  <a:lnTo>
                    <a:pt x="72" y="191"/>
                  </a:lnTo>
                  <a:lnTo>
                    <a:pt x="60" y="217"/>
                  </a:lnTo>
                  <a:lnTo>
                    <a:pt x="51" y="244"/>
                  </a:lnTo>
                  <a:lnTo>
                    <a:pt x="43" y="270"/>
                  </a:lnTo>
                  <a:lnTo>
                    <a:pt x="39" y="300"/>
                  </a:lnTo>
                  <a:lnTo>
                    <a:pt x="37" y="329"/>
                  </a:lnTo>
                  <a:lnTo>
                    <a:pt x="37" y="329"/>
                  </a:lnTo>
                  <a:lnTo>
                    <a:pt x="39" y="359"/>
                  </a:lnTo>
                  <a:lnTo>
                    <a:pt x="43" y="389"/>
                  </a:lnTo>
                  <a:lnTo>
                    <a:pt x="51" y="415"/>
                  </a:lnTo>
                  <a:lnTo>
                    <a:pt x="60" y="442"/>
                  </a:lnTo>
                  <a:lnTo>
                    <a:pt x="72" y="468"/>
                  </a:lnTo>
                  <a:lnTo>
                    <a:pt x="87" y="492"/>
                  </a:lnTo>
                  <a:lnTo>
                    <a:pt x="103" y="515"/>
                  </a:lnTo>
                  <a:lnTo>
                    <a:pt x="122" y="535"/>
                  </a:lnTo>
                  <a:lnTo>
                    <a:pt x="143" y="554"/>
                  </a:lnTo>
                  <a:lnTo>
                    <a:pt x="165" y="571"/>
                  </a:lnTo>
                  <a:lnTo>
                    <a:pt x="189" y="586"/>
                  </a:lnTo>
                  <a:lnTo>
                    <a:pt x="215" y="598"/>
                  </a:lnTo>
                  <a:lnTo>
                    <a:pt x="241" y="608"/>
                  </a:lnTo>
                  <a:lnTo>
                    <a:pt x="270" y="614"/>
                  </a:lnTo>
                  <a:lnTo>
                    <a:pt x="298" y="620"/>
                  </a:lnTo>
                  <a:lnTo>
                    <a:pt x="329" y="621"/>
                  </a:lnTo>
                  <a:lnTo>
                    <a:pt x="329" y="621"/>
                  </a:lnTo>
                  <a:lnTo>
                    <a:pt x="358" y="620"/>
                  </a:lnTo>
                  <a:lnTo>
                    <a:pt x="386" y="614"/>
                  </a:lnTo>
                  <a:lnTo>
                    <a:pt x="415" y="608"/>
                  </a:lnTo>
                  <a:lnTo>
                    <a:pt x="442" y="598"/>
                  </a:lnTo>
                  <a:lnTo>
                    <a:pt x="467" y="586"/>
                  </a:lnTo>
                  <a:lnTo>
                    <a:pt x="491" y="571"/>
                  </a:lnTo>
                  <a:lnTo>
                    <a:pt x="513" y="554"/>
                  </a:lnTo>
                  <a:lnTo>
                    <a:pt x="534" y="535"/>
                  </a:lnTo>
                  <a:lnTo>
                    <a:pt x="553" y="515"/>
                  </a:lnTo>
                  <a:lnTo>
                    <a:pt x="569" y="492"/>
                  </a:lnTo>
                  <a:lnTo>
                    <a:pt x="584" y="468"/>
                  </a:lnTo>
                  <a:lnTo>
                    <a:pt x="596" y="442"/>
                  </a:lnTo>
                  <a:lnTo>
                    <a:pt x="607" y="415"/>
                  </a:lnTo>
                  <a:lnTo>
                    <a:pt x="613" y="389"/>
                  </a:lnTo>
                  <a:lnTo>
                    <a:pt x="618" y="359"/>
                  </a:lnTo>
                  <a:lnTo>
                    <a:pt x="619" y="329"/>
                  </a:lnTo>
                  <a:lnTo>
                    <a:pt x="619" y="329"/>
                  </a:lnTo>
                  <a:lnTo>
                    <a:pt x="618" y="300"/>
                  </a:lnTo>
                  <a:lnTo>
                    <a:pt x="613" y="270"/>
                  </a:lnTo>
                  <a:lnTo>
                    <a:pt x="607" y="244"/>
                  </a:lnTo>
                  <a:lnTo>
                    <a:pt x="596" y="217"/>
                  </a:lnTo>
                  <a:lnTo>
                    <a:pt x="584" y="191"/>
                  </a:lnTo>
                  <a:lnTo>
                    <a:pt x="569" y="167"/>
                  </a:lnTo>
                  <a:lnTo>
                    <a:pt x="553" y="144"/>
                  </a:lnTo>
                  <a:lnTo>
                    <a:pt x="534" y="124"/>
                  </a:lnTo>
                  <a:lnTo>
                    <a:pt x="513" y="105"/>
                  </a:lnTo>
                  <a:lnTo>
                    <a:pt x="491" y="88"/>
                  </a:lnTo>
                  <a:lnTo>
                    <a:pt x="467" y="73"/>
                  </a:lnTo>
                  <a:lnTo>
                    <a:pt x="442" y="61"/>
                  </a:lnTo>
                  <a:lnTo>
                    <a:pt x="415" y="51"/>
                  </a:lnTo>
                  <a:lnTo>
                    <a:pt x="386" y="45"/>
                  </a:lnTo>
                  <a:lnTo>
                    <a:pt x="358" y="39"/>
                  </a:lnTo>
                  <a:lnTo>
                    <a:pt x="329" y="38"/>
                  </a:lnTo>
                  <a:lnTo>
                    <a:pt x="329" y="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214" name="Freeform 178">
              <a:extLst>
                <a:ext uri="{FF2B5EF4-FFF2-40B4-BE49-F238E27FC236}">
                  <a16:creationId xmlns:a16="http://schemas.microsoft.com/office/drawing/2014/main" id="{0DD4BD15-4293-495A-8480-9EB611173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3251" y="1127125"/>
              <a:ext cx="250825" cy="66675"/>
            </a:xfrm>
            <a:custGeom>
              <a:avLst/>
              <a:gdLst>
                <a:gd name="T0" fmla="*/ 314 w 315"/>
                <a:gd name="T1" fmla="*/ 62 h 84"/>
                <a:gd name="T2" fmla="*/ 288 w 315"/>
                <a:gd name="T3" fmla="*/ 3 h 84"/>
                <a:gd name="T4" fmla="*/ 288 w 315"/>
                <a:gd name="T5" fmla="*/ 3 h 84"/>
                <a:gd name="T6" fmla="*/ 286 w 315"/>
                <a:gd name="T7" fmla="*/ 0 h 84"/>
                <a:gd name="T8" fmla="*/ 283 w 315"/>
                <a:gd name="T9" fmla="*/ 0 h 84"/>
                <a:gd name="T10" fmla="*/ 32 w 315"/>
                <a:gd name="T11" fmla="*/ 0 h 84"/>
                <a:gd name="T12" fmla="*/ 32 w 315"/>
                <a:gd name="T13" fmla="*/ 0 h 84"/>
                <a:gd name="T14" fmla="*/ 29 w 315"/>
                <a:gd name="T15" fmla="*/ 0 h 84"/>
                <a:gd name="T16" fmla="*/ 26 w 315"/>
                <a:gd name="T17" fmla="*/ 3 h 84"/>
                <a:gd name="T18" fmla="*/ 1 w 315"/>
                <a:gd name="T19" fmla="*/ 62 h 84"/>
                <a:gd name="T20" fmla="*/ 1 w 315"/>
                <a:gd name="T21" fmla="*/ 62 h 84"/>
                <a:gd name="T22" fmla="*/ 0 w 315"/>
                <a:gd name="T23" fmla="*/ 66 h 84"/>
                <a:gd name="T24" fmla="*/ 0 w 315"/>
                <a:gd name="T25" fmla="*/ 70 h 84"/>
                <a:gd name="T26" fmla="*/ 1 w 315"/>
                <a:gd name="T27" fmla="*/ 74 h 84"/>
                <a:gd name="T28" fmla="*/ 2 w 315"/>
                <a:gd name="T29" fmla="*/ 77 h 84"/>
                <a:gd name="T30" fmla="*/ 2 w 315"/>
                <a:gd name="T31" fmla="*/ 77 h 84"/>
                <a:gd name="T32" fmla="*/ 5 w 315"/>
                <a:gd name="T33" fmla="*/ 79 h 84"/>
                <a:gd name="T34" fmla="*/ 8 w 315"/>
                <a:gd name="T35" fmla="*/ 82 h 84"/>
                <a:gd name="T36" fmla="*/ 12 w 315"/>
                <a:gd name="T37" fmla="*/ 84 h 84"/>
                <a:gd name="T38" fmla="*/ 16 w 315"/>
                <a:gd name="T39" fmla="*/ 84 h 84"/>
                <a:gd name="T40" fmla="*/ 299 w 315"/>
                <a:gd name="T41" fmla="*/ 84 h 84"/>
                <a:gd name="T42" fmla="*/ 299 w 315"/>
                <a:gd name="T43" fmla="*/ 84 h 84"/>
                <a:gd name="T44" fmla="*/ 303 w 315"/>
                <a:gd name="T45" fmla="*/ 84 h 84"/>
                <a:gd name="T46" fmla="*/ 307 w 315"/>
                <a:gd name="T47" fmla="*/ 82 h 84"/>
                <a:gd name="T48" fmla="*/ 310 w 315"/>
                <a:gd name="T49" fmla="*/ 79 h 84"/>
                <a:gd name="T50" fmla="*/ 313 w 315"/>
                <a:gd name="T51" fmla="*/ 77 h 84"/>
                <a:gd name="T52" fmla="*/ 313 w 315"/>
                <a:gd name="T53" fmla="*/ 77 h 84"/>
                <a:gd name="T54" fmla="*/ 314 w 315"/>
                <a:gd name="T55" fmla="*/ 74 h 84"/>
                <a:gd name="T56" fmla="*/ 315 w 315"/>
                <a:gd name="T57" fmla="*/ 70 h 84"/>
                <a:gd name="T58" fmla="*/ 315 w 315"/>
                <a:gd name="T59" fmla="*/ 66 h 84"/>
                <a:gd name="T60" fmla="*/ 314 w 315"/>
                <a:gd name="T61" fmla="*/ 62 h 84"/>
                <a:gd name="T62" fmla="*/ 314 w 315"/>
                <a:gd name="T63" fmla="*/ 6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15" h="84">
                  <a:moveTo>
                    <a:pt x="314" y="62"/>
                  </a:moveTo>
                  <a:lnTo>
                    <a:pt x="288" y="3"/>
                  </a:lnTo>
                  <a:lnTo>
                    <a:pt x="288" y="3"/>
                  </a:lnTo>
                  <a:lnTo>
                    <a:pt x="286" y="0"/>
                  </a:lnTo>
                  <a:lnTo>
                    <a:pt x="283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29" y="0"/>
                  </a:lnTo>
                  <a:lnTo>
                    <a:pt x="26" y="3"/>
                  </a:lnTo>
                  <a:lnTo>
                    <a:pt x="1" y="62"/>
                  </a:lnTo>
                  <a:lnTo>
                    <a:pt x="1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1" y="74"/>
                  </a:lnTo>
                  <a:lnTo>
                    <a:pt x="2" y="77"/>
                  </a:lnTo>
                  <a:lnTo>
                    <a:pt x="2" y="77"/>
                  </a:lnTo>
                  <a:lnTo>
                    <a:pt x="5" y="79"/>
                  </a:lnTo>
                  <a:lnTo>
                    <a:pt x="8" y="82"/>
                  </a:lnTo>
                  <a:lnTo>
                    <a:pt x="12" y="84"/>
                  </a:lnTo>
                  <a:lnTo>
                    <a:pt x="16" y="84"/>
                  </a:lnTo>
                  <a:lnTo>
                    <a:pt x="299" y="84"/>
                  </a:lnTo>
                  <a:lnTo>
                    <a:pt x="299" y="84"/>
                  </a:lnTo>
                  <a:lnTo>
                    <a:pt x="303" y="84"/>
                  </a:lnTo>
                  <a:lnTo>
                    <a:pt x="307" y="82"/>
                  </a:lnTo>
                  <a:lnTo>
                    <a:pt x="310" y="79"/>
                  </a:lnTo>
                  <a:lnTo>
                    <a:pt x="313" y="77"/>
                  </a:lnTo>
                  <a:lnTo>
                    <a:pt x="313" y="77"/>
                  </a:lnTo>
                  <a:lnTo>
                    <a:pt x="314" y="74"/>
                  </a:lnTo>
                  <a:lnTo>
                    <a:pt x="315" y="70"/>
                  </a:lnTo>
                  <a:lnTo>
                    <a:pt x="315" y="66"/>
                  </a:lnTo>
                  <a:lnTo>
                    <a:pt x="314" y="62"/>
                  </a:lnTo>
                  <a:lnTo>
                    <a:pt x="314" y="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215" name="Freeform 179">
              <a:extLst>
                <a:ext uri="{FF2B5EF4-FFF2-40B4-BE49-F238E27FC236}">
                  <a16:creationId xmlns:a16="http://schemas.microsoft.com/office/drawing/2014/main" id="{D297370A-C443-433B-9BA9-F10C72CA67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15476" y="969963"/>
              <a:ext cx="207963" cy="149225"/>
            </a:xfrm>
            <a:custGeom>
              <a:avLst/>
              <a:gdLst>
                <a:gd name="T0" fmla="*/ 6 w 262"/>
                <a:gd name="T1" fmla="*/ 188 h 188"/>
                <a:gd name="T2" fmla="*/ 257 w 262"/>
                <a:gd name="T3" fmla="*/ 188 h 188"/>
                <a:gd name="T4" fmla="*/ 257 w 262"/>
                <a:gd name="T5" fmla="*/ 188 h 188"/>
                <a:gd name="T6" fmla="*/ 260 w 262"/>
                <a:gd name="T7" fmla="*/ 188 h 188"/>
                <a:gd name="T8" fmla="*/ 261 w 262"/>
                <a:gd name="T9" fmla="*/ 187 h 188"/>
                <a:gd name="T10" fmla="*/ 262 w 262"/>
                <a:gd name="T11" fmla="*/ 186 h 188"/>
                <a:gd name="T12" fmla="*/ 262 w 262"/>
                <a:gd name="T13" fmla="*/ 183 h 188"/>
                <a:gd name="T14" fmla="*/ 262 w 262"/>
                <a:gd name="T15" fmla="*/ 26 h 188"/>
                <a:gd name="T16" fmla="*/ 262 w 262"/>
                <a:gd name="T17" fmla="*/ 26 h 188"/>
                <a:gd name="T18" fmla="*/ 262 w 262"/>
                <a:gd name="T19" fmla="*/ 21 h 188"/>
                <a:gd name="T20" fmla="*/ 261 w 262"/>
                <a:gd name="T21" fmla="*/ 15 h 188"/>
                <a:gd name="T22" fmla="*/ 258 w 262"/>
                <a:gd name="T23" fmla="*/ 11 h 188"/>
                <a:gd name="T24" fmla="*/ 254 w 262"/>
                <a:gd name="T25" fmla="*/ 7 h 188"/>
                <a:gd name="T26" fmla="*/ 250 w 262"/>
                <a:gd name="T27" fmla="*/ 4 h 188"/>
                <a:gd name="T28" fmla="*/ 246 w 262"/>
                <a:gd name="T29" fmla="*/ 2 h 188"/>
                <a:gd name="T30" fmla="*/ 241 w 262"/>
                <a:gd name="T31" fmla="*/ 0 h 188"/>
                <a:gd name="T32" fmla="*/ 237 w 262"/>
                <a:gd name="T33" fmla="*/ 0 h 188"/>
                <a:gd name="T34" fmla="*/ 26 w 262"/>
                <a:gd name="T35" fmla="*/ 0 h 188"/>
                <a:gd name="T36" fmla="*/ 26 w 262"/>
                <a:gd name="T37" fmla="*/ 0 h 188"/>
                <a:gd name="T38" fmla="*/ 22 w 262"/>
                <a:gd name="T39" fmla="*/ 0 h 188"/>
                <a:gd name="T40" fmla="*/ 17 w 262"/>
                <a:gd name="T41" fmla="*/ 2 h 188"/>
                <a:gd name="T42" fmla="*/ 13 w 262"/>
                <a:gd name="T43" fmla="*/ 4 h 188"/>
                <a:gd name="T44" fmla="*/ 8 w 262"/>
                <a:gd name="T45" fmla="*/ 7 h 188"/>
                <a:gd name="T46" fmla="*/ 4 w 262"/>
                <a:gd name="T47" fmla="*/ 11 h 188"/>
                <a:gd name="T48" fmla="*/ 3 w 262"/>
                <a:gd name="T49" fmla="*/ 15 h 188"/>
                <a:gd name="T50" fmla="*/ 0 w 262"/>
                <a:gd name="T51" fmla="*/ 21 h 188"/>
                <a:gd name="T52" fmla="*/ 0 w 262"/>
                <a:gd name="T53" fmla="*/ 26 h 188"/>
                <a:gd name="T54" fmla="*/ 0 w 262"/>
                <a:gd name="T55" fmla="*/ 183 h 188"/>
                <a:gd name="T56" fmla="*/ 0 w 262"/>
                <a:gd name="T57" fmla="*/ 183 h 188"/>
                <a:gd name="T58" fmla="*/ 0 w 262"/>
                <a:gd name="T59" fmla="*/ 186 h 188"/>
                <a:gd name="T60" fmla="*/ 2 w 262"/>
                <a:gd name="T61" fmla="*/ 187 h 188"/>
                <a:gd name="T62" fmla="*/ 3 w 262"/>
                <a:gd name="T63" fmla="*/ 188 h 188"/>
                <a:gd name="T64" fmla="*/ 6 w 262"/>
                <a:gd name="T65" fmla="*/ 188 h 188"/>
                <a:gd name="T66" fmla="*/ 6 w 262"/>
                <a:gd name="T67" fmla="*/ 188 h 188"/>
                <a:gd name="T68" fmla="*/ 18 w 262"/>
                <a:gd name="T69" fmla="*/ 25 h 188"/>
                <a:gd name="T70" fmla="*/ 18 w 262"/>
                <a:gd name="T71" fmla="*/ 25 h 188"/>
                <a:gd name="T72" fmla="*/ 18 w 262"/>
                <a:gd name="T73" fmla="*/ 22 h 188"/>
                <a:gd name="T74" fmla="*/ 19 w 262"/>
                <a:gd name="T75" fmla="*/ 21 h 188"/>
                <a:gd name="T76" fmla="*/ 21 w 262"/>
                <a:gd name="T77" fmla="*/ 19 h 188"/>
                <a:gd name="T78" fmla="*/ 23 w 262"/>
                <a:gd name="T79" fmla="*/ 19 h 188"/>
                <a:gd name="T80" fmla="*/ 240 w 262"/>
                <a:gd name="T81" fmla="*/ 19 h 188"/>
                <a:gd name="T82" fmla="*/ 240 w 262"/>
                <a:gd name="T83" fmla="*/ 19 h 188"/>
                <a:gd name="T84" fmla="*/ 241 w 262"/>
                <a:gd name="T85" fmla="*/ 19 h 188"/>
                <a:gd name="T86" fmla="*/ 244 w 262"/>
                <a:gd name="T87" fmla="*/ 21 h 188"/>
                <a:gd name="T88" fmla="*/ 244 w 262"/>
                <a:gd name="T89" fmla="*/ 22 h 188"/>
                <a:gd name="T90" fmla="*/ 245 w 262"/>
                <a:gd name="T91" fmla="*/ 25 h 188"/>
                <a:gd name="T92" fmla="*/ 245 w 262"/>
                <a:gd name="T93" fmla="*/ 166 h 188"/>
                <a:gd name="T94" fmla="*/ 245 w 262"/>
                <a:gd name="T95" fmla="*/ 166 h 188"/>
                <a:gd name="T96" fmla="*/ 244 w 262"/>
                <a:gd name="T97" fmla="*/ 167 h 188"/>
                <a:gd name="T98" fmla="*/ 244 w 262"/>
                <a:gd name="T99" fmla="*/ 170 h 188"/>
                <a:gd name="T100" fmla="*/ 241 w 262"/>
                <a:gd name="T101" fmla="*/ 170 h 188"/>
                <a:gd name="T102" fmla="*/ 240 w 262"/>
                <a:gd name="T103" fmla="*/ 171 h 188"/>
                <a:gd name="T104" fmla="*/ 23 w 262"/>
                <a:gd name="T105" fmla="*/ 171 h 188"/>
                <a:gd name="T106" fmla="*/ 23 w 262"/>
                <a:gd name="T107" fmla="*/ 171 h 188"/>
                <a:gd name="T108" fmla="*/ 21 w 262"/>
                <a:gd name="T109" fmla="*/ 170 h 188"/>
                <a:gd name="T110" fmla="*/ 19 w 262"/>
                <a:gd name="T111" fmla="*/ 170 h 188"/>
                <a:gd name="T112" fmla="*/ 18 w 262"/>
                <a:gd name="T113" fmla="*/ 167 h 188"/>
                <a:gd name="T114" fmla="*/ 18 w 262"/>
                <a:gd name="T115" fmla="*/ 166 h 188"/>
                <a:gd name="T116" fmla="*/ 18 w 262"/>
                <a:gd name="T117" fmla="*/ 2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62" h="188">
                  <a:moveTo>
                    <a:pt x="6" y="188"/>
                  </a:moveTo>
                  <a:lnTo>
                    <a:pt x="257" y="188"/>
                  </a:lnTo>
                  <a:lnTo>
                    <a:pt x="257" y="188"/>
                  </a:lnTo>
                  <a:lnTo>
                    <a:pt x="260" y="188"/>
                  </a:lnTo>
                  <a:lnTo>
                    <a:pt x="261" y="187"/>
                  </a:lnTo>
                  <a:lnTo>
                    <a:pt x="262" y="186"/>
                  </a:lnTo>
                  <a:lnTo>
                    <a:pt x="262" y="183"/>
                  </a:lnTo>
                  <a:lnTo>
                    <a:pt x="262" y="26"/>
                  </a:lnTo>
                  <a:lnTo>
                    <a:pt x="262" y="26"/>
                  </a:lnTo>
                  <a:lnTo>
                    <a:pt x="262" y="21"/>
                  </a:lnTo>
                  <a:lnTo>
                    <a:pt x="261" y="15"/>
                  </a:lnTo>
                  <a:lnTo>
                    <a:pt x="258" y="11"/>
                  </a:lnTo>
                  <a:lnTo>
                    <a:pt x="254" y="7"/>
                  </a:lnTo>
                  <a:lnTo>
                    <a:pt x="250" y="4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37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7" y="2"/>
                  </a:lnTo>
                  <a:lnTo>
                    <a:pt x="13" y="4"/>
                  </a:lnTo>
                  <a:lnTo>
                    <a:pt x="8" y="7"/>
                  </a:lnTo>
                  <a:lnTo>
                    <a:pt x="4" y="11"/>
                  </a:lnTo>
                  <a:lnTo>
                    <a:pt x="3" y="15"/>
                  </a:lnTo>
                  <a:lnTo>
                    <a:pt x="0" y="21"/>
                  </a:lnTo>
                  <a:lnTo>
                    <a:pt x="0" y="26"/>
                  </a:lnTo>
                  <a:lnTo>
                    <a:pt x="0" y="183"/>
                  </a:lnTo>
                  <a:lnTo>
                    <a:pt x="0" y="183"/>
                  </a:lnTo>
                  <a:lnTo>
                    <a:pt x="0" y="186"/>
                  </a:lnTo>
                  <a:lnTo>
                    <a:pt x="2" y="187"/>
                  </a:lnTo>
                  <a:lnTo>
                    <a:pt x="3" y="188"/>
                  </a:lnTo>
                  <a:lnTo>
                    <a:pt x="6" y="188"/>
                  </a:lnTo>
                  <a:lnTo>
                    <a:pt x="6" y="188"/>
                  </a:lnTo>
                  <a:close/>
                  <a:moveTo>
                    <a:pt x="18" y="25"/>
                  </a:moveTo>
                  <a:lnTo>
                    <a:pt x="18" y="25"/>
                  </a:lnTo>
                  <a:lnTo>
                    <a:pt x="18" y="22"/>
                  </a:lnTo>
                  <a:lnTo>
                    <a:pt x="19" y="21"/>
                  </a:lnTo>
                  <a:lnTo>
                    <a:pt x="21" y="19"/>
                  </a:lnTo>
                  <a:lnTo>
                    <a:pt x="23" y="19"/>
                  </a:lnTo>
                  <a:lnTo>
                    <a:pt x="240" y="19"/>
                  </a:lnTo>
                  <a:lnTo>
                    <a:pt x="240" y="19"/>
                  </a:lnTo>
                  <a:lnTo>
                    <a:pt x="241" y="19"/>
                  </a:lnTo>
                  <a:lnTo>
                    <a:pt x="244" y="21"/>
                  </a:lnTo>
                  <a:lnTo>
                    <a:pt x="244" y="22"/>
                  </a:lnTo>
                  <a:lnTo>
                    <a:pt x="245" y="25"/>
                  </a:lnTo>
                  <a:lnTo>
                    <a:pt x="245" y="166"/>
                  </a:lnTo>
                  <a:lnTo>
                    <a:pt x="245" y="166"/>
                  </a:lnTo>
                  <a:lnTo>
                    <a:pt x="244" y="167"/>
                  </a:lnTo>
                  <a:lnTo>
                    <a:pt x="244" y="170"/>
                  </a:lnTo>
                  <a:lnTo>
                    <a:pt x="241" y="170"/>
                  </a:lnTo>
                  <a:lnTo>
                    <a:pt x="240" y="171"/>
                  </a:lnTo>
                  <a:lnTo>
                    <a:pt x="23" y="171"/>
                  </a:lnTo>
                  <a:lnTo>
                    <a:pt x="23" y="171"/>
                  </a:lnTo>
                  <a:lnTo>
                    <a:pt x="21" y="170"/>
                  </a:lnTo>
                  <a:lnTo>
                    <a:pt x="19" y="170"/>
                  </a:lnTo>
                  <a:lnTo>
                    <a:pt x="18" y="167"/>
                  </a:lnTo>
                  <a:lnTo>
                    <a:pt x="18" y="166"/>
                  </a:lnTo>
                  <a:lnTo>
                    <a:pt x="18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</a:endParaRPr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744945-2017-4763-9266-F26595171D15}"/>
              </a:ext>
            </a:extLst>
          </p:cNvPr>
          <p:cNvCxnSpPr>
            <a:stCxn id="128" idx="0"/>
            <a:endCxn id="141" idx="4"/>
          </p:cNvCxnSpPr>
          <p:nvPr/>
        </p:nvCxnSpPr>
        <p:spPr>
          <a:xfrm flipV="1">
            <a:off x="1815764" y="5214392"/>
            <a:ext cx="4843" cy="9070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7">
            <a:extLst>
              <a:ext uri="{FF2B5EF4-FFF2-40B4-BE49-F238E27FC236}">
                <a16:creationId xmlns:a16="http://schemas.microsoft.com/office/drawing/2014/main" id="{EE86487D-58C7-4216-8B08-2E5C3E08F7A3}"/>
              </a:ext>
            </a:extLst>
          </p:cNvPr>
          <p:cNvCxnSpPr>
            <a:cxnSpLocks/>
            <a:stCxn id="130" idx="0"/>
            <a:endCxn id="142" idx="6"/>
          </p:cNvCxnSpPr>
          <p:nvPr/>
        </p:nvCxnSpPr>
        <p:spPr>
          <a:xfrm rot="16200000" flipV="1">
            <a:off x="3105862" y="4849365"/>
            <a:ext cx="167907" cy="252990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7">
            <a:extLst>
              <a:ext uri="{FF2B5EF4-FFF2-40B4-BE49-F238E27FC236}">
                <a16:creationId xmlns:a16="http://schemas.microsoft.com/office/drawing/2014/main" id="{0A0BE3AD-5C17-4DC8-A50D-5E65249C77D9}"/>
              </a:ext>
            </a:extLst>
          </p:cNvPr>
          <p:cNvCxnSpPr>
            <a:cxnSpLocks/>
            <a:stCxn id="136" idx="4"/>
            <a:endCxn id="137" idx="1"/>
          </p:cNvCxnSpPr>
          <p:nvPr/>
        </p:nvCxnSpPr>
        <p:spPr>
          <a:xfrm rot="16200000" flipH="1">
            <a:off x="4678225" y="5544448"/>
            <a:ext cx="68375" cy="172003"/>
          </a:xfrm>
          <a:prstGeom prst="bentConnector2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7">
            <a:extLst>
              <a:ext uri="{FF2B5EF4-FFF2-40B4-BE49-F238E27FC236}">
                <a16:creationId xmlns:a16="http://schemas.microsoft.com/office/drawing/2014/main" id="{7C21DFB1-EC75-4D25-B933-9757B8E34198}"/>
              </a:ext>
            </a:extLst>
          </p:cNvPr>
          <p:cNvCxnSpPr>
            <a:cxnSpLocks/>
            <a:stCxn id="139" idx="0"/>
            <a:endCxn id="140" idx="2"/>
          </p:cNvCxnSpPr>
          <p:nvPr/>
        </p:nvCxnSpPr>
        <p:spPr>
          <a:xfrm rot="5400000" flipH="1" flipV="1">
            <a:off x="5393988" y="4309877"/>
            <a:ext cx="205164" cy="24719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98543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Thème Office</vt:lpstr>
      <vt:lpstr>PowerPoint Presentation</vt:lpstr>
      <vt:lpstr>Jules Dupont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</cp:revision>
  <dcterms:created xsi:type="dcterms:W3CDTF">2012-07-30T22:21:58Z</dcterms:created>
  <dcterms:modified xsi:type="dcterms:W3CDTF">2026-03-31T15:17:47Z</dcterms:modified>
</cp:coreProperties>
</file>